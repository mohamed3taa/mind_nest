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Completed</c:v>
                </c:pt>
              </c:strCache>
            </c:strRef>
          </c:tx>
          <c:spPr>
            <a:solidFill>
              <a:srgbClr val="6366F1"/>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3</c:v>
                </c:pt>
                <c:pt idx="1">
                  <c:v>5</c:v>
                </c:pt>
                <c:pt idx="2">
                  <c:v>2</c:v>
                </c:pt>
                <c:pt idx="3">
                  <c:v>6</c:v>
                </c:pt>
                <c:pt idx="4">
                  <c:v>4</c:v>
                </c:pt>
                <c:pt idx="5">
                  <c:v>7</c:v>
                </c:pt>
                <c:pt idx="6">
                  <c:v>5</c:v>
                </c:pt>
              </c:numCache>
            </c:numRef>
          </c:val>
          <c:extLst>
            <c:ext xmlns:c16="http://schemas.microsoft.com/office/drawing/2014/chart" uri="{C3380CC4-5D6E-409C-BE32-E72D297353CC}">
              <c16:uniqueId val="{00000000-78EE-495A-AA51-0F7A5F4C6F5B}"/>
            </c:ext>
          </c:extLst>
        </c:ser>
        <c:ser>
          <c:idx val="1"/>
          <c:order val="1"/>
          <c:tx>
            <c:strRef>
              <c:f>Sheet1!$C$1</c:f>
              <c:strCache>
                <c:ptCount val="1"/>
                <c:pt idx="0">
                  <c:v>Pending</c:v>
                </c:pt>
              </c:strCache>
            </c:strRef>
          </c:tx>
          <c:spPr>
            <a:solidFill>
              <a:srgbClr val="A855F7"/>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Sheet1!$C$2:$C$8</c:f>
              <c:numCache>
                <c:formatCode>General</c:formatCode>
                <c:ptCount val="7"/>
                <c:pt idx="0">
                  <c:v>2</c:v>
                </c:pt>
                <c:pt idx="1">
                  <c:v>1</c:v>
                </c:pt>
                <c:pt idx="2">
                  <c:v>3</c:v>
                </c:pt>
                <c:pt idx="3">
                  <c:v>1</c:v>
                </c:pt>
                <c:pt idx="4">
                  <c:v>2</c:v>
                </c:pt>
                <c:pt idx="5">
                  <c:v>1</c:v>
                </c:pt>
                <c:pt idx="6">
                  <c:v>2</c:v>
                </c:pt>
              </c:numCache>
            </c:numRef>
          </c:val>
          <c:extLst>
            <c:ext xmlns:c16="http://schemas.microsoft.com/office/drawing/2014/chart" uri="{C3380CC4-5D6E-409C-BE32-E72D297353CC}">
              <c16:uniqueId val="{00000001-78EE-495A-AA51-0F7A5F4C6F5B}"/>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3A3560"/>
            </a:solidFill>
            <a:prstDash val="solid"/>
            <a:round/>
          </a:ln>
        </c:spPr>
        <c:txPr>
          <a:bodyPr/>
          <a:lstStyle/>
          <a:p>
            <a:pPr>
              <a:defRPr sz="1200" b="0" i="0" u="none" strike="noStrike">
                <a:solidFill>
                  <a:srgbClr val="8F89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2A2650"/>
              </a:solidFill>
              <a:prstDash val="solid"/>
              <a:round/>
            </a:ln>
          </c:spPr>
        </c:majorGridlines>
        <c:numFmt formatCode="General" sourceLinked="0"/>
        <c:majorTickMark val="out"/>
        <c:minorTickMark val="none"/>
        <c:tickLblPos val="nextTo"/>
        <c:spPr>
          <a:ln w="12700" cap="flat">
            <a:solidFill>
              <a:srgbClr val="3A3560"/>
            </a:solidFill>
            <a:prstDash val="solid"/>
            <a:round/>
          </a:ln>
        </c:spPr>
        <c:txPr>
          <a:bodyPr/>
          <a:lstStyle/>
          <a:p>
            <a:pPr>
              <a:defRPr sz="1200" b="0" i="0" u="none" strike="noStrike">
                <a:solidFill>
                  <a:srgbClr val="8F89B8"/>
                </a:solidFill>
                <a:latin typeface="Arial"/>
              </a:defRPr>
            </a:pPr>
            <a:endParaRPr lang="en-US"/>
          </a:p>
        </c:txPr>
        <c:crossAx val="2094734554"/>
        <c:crosses val="autoZero"/>
        <c:crossBetween val="between"/>
      </c:valAx>
      <c:spPr>
        <a:solidFill>
          <a:srgbClr val="1E1A3A">
            <a:alpha val="0"/>
          </a:srgbClr>
        </a:solidFill>
        <a:ln>
          <a:noFill/>
        </a:ln>
        <a:effectLst/>
      </c:spPr>
    </c:plotArea>
    <c:legend>
      <c:legendPos val="b"/>
      <c:overlay val="0"/>
      <c:txPr>
        <a:bodyPr/>
        <a:lstStyle/>
        <a:p>
          <a:pPr>
            <a:defRPr>
              <a:solidFill>
                <a:srgbClr val="B7B2D6"/>
              </a:solidFill>
            </a:defRPr>
          </a:pPr>
          <a:endParaRPr lang="en-US"/>
        </a:p>
      </c:txPr>
    </c:legend>
    <c:plotVisOnly val="1"/>
    <c:dispBlanksAs val="span"/>
    <c:showDLblsOverMax val="1"/>
  </c:chart>
  <c:spPr>
    <a:solidFill>
      <a:srgbClr val="1E1A3A">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7523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إحنا هنعرض مشروعنا Mind Nest، وهو منصة ويب متكاملة بمساعد ذكاء اصطناعي لمساعدة الطلاب على تنظيم مذاكرتهم. المشروع اتعمل بلغة Python وفريمورك Django كمشروع تخرج لكورس Web Development using Python &amp; Generative AI في ITI، والفريق اللي عمل المشروع محمد عطا وسارة ياسر.</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Mind Nest معناها "عش الأفكار"، يعني مكان الطالب يحط فيه كل حاجة خاصة بمذاكرته: مهامه، ملاحظاته، ومصادره في مكان واحد، وكمان فيه مساعد ذكاء اصطناعي بيرد على أسئلته. الفكرة إن الطالب مش محتاج يفتح كذا أداة منفصلة، كل حاجة موجودة جوه المنصة. ركّز هنا إنك بتحل مشكلة حقيقية: تشتت أدوات المذاكرة بين تطبيقات مختلفة.</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استخدمنا Python كلغة أساسية، وDjango كفريمورك بيطبق نمط MVT وبيوفر أمان جاهز، وPostgreSQL كقاعدة بيانات علائقية قوية في التعامل مع العلاقات المعقدة زي اللي عندنا. استخدمنا Gemini AI من جوجل كمحرك الذكاء الاصطناعي لأنه بياخد استعلامات نصية ويرجع ردود ذكية بسرعة، وBootstrap عشان نطلع UI متجاوب بسرعة، وChart.js لعرض الإحصائيات بشكل بصري في الداشبورد. لو سُئلت "ليه Django مش Flask؟" قول: Django بيوفر ORM وAuthentication وAdmin panel جاهزين، وده وفّر وقت تطوير كبير في مشروع بالحجم ده.</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جانجو بيشتغل بنمط Model-View-Template. المستخدم بيبعت Request، الـ urls.py بيوجهه للـ View المناسب، الـ View بيتكلم مع الـ Model اللي بيتعامل مع قاعدة البيانات عن طريق ORM، وبعدين البيانات بترجع للـ Template اللي بيحولها لصفحة HTML وترجع للمستخدم. الفايدة الأساسية إن الكود منظم ومفصول (separation of concerns) وده بيسهّل الصيانة والتطوير وبيسمح لأكتر من حد يشتغل على نفس المشروع من غير تعارض.</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صممنا قاعدة البيانات في PostgreSQL بعشر جداول مترابطة. كل User له Profile واحد بس (علاقة One-to-One)، وكل User ممكن يكون عنده أكتر من Task أو Note أو Resource (One-to-Many). الملاحظات مربوطة بالـ Tags بعلاقة Many-to-Many عن طريق جدول وسيط اسمه NoteTag عشان نقدر نحط أكتر من tag للملاحظة الواحدة. لو سُئلت ليه استخدمنا PostgreSQL مش MySQL، قول لأنه بيدعم أنواع بيانات متقدمة وأداء أفضل في الاستعلامات المعقدة.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عملنا تطبيق Django منفصل اسمه accounts مسؤول عن كل حاجة خاصة بتسجيل الدخول: التسجيل، تسجيل الدخول، صفحة البروفايل، واستعادة كلمة السر عن طريق الإيميل. استخدمنا نظام الـ Authentication المدمج في جانجو اللي بيعمل hashing لكلمة السر تلقائيًا وبيحمي من هجمات الـ CSRF، وده بيوفر أمان قوي من غير ما نبني نظام حماية من الصفر.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الداشبورد هي أول حاجة الطالب بيشوفها بعد تسجيل الدخول، بتوريله إحصائيات سريعة زي عدد المهام النشطة ونسبة الإنجاز وعدد الملاحظات والمصادر المحفوظة، وفيه چارت بياني بيوضح إنجازه أسبوعيًا باستخدام Chart.js، وكمان قايمة بالمهام القادمة عشان يبقى عارف إيه اللي مستنيه. الهدف إن الطالب ياخد نظرة شاملة عن مستواه في ثواني من غير ما يدخل كل صفحة لوحده.</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الـ Study Planner هو تطبيق إدارة المهام، بيدعم عمليات CRUD كاملة يعني إضافة وتعديل وحذف وعرض المهام، وبيقدر يحدد أولوية للمهمة (منخفضة، متوسطة، عالية)، وبتاريخ استحقاق محدد، وبزرار واحد يقدر يعلّم المهمة كمكتملة وده بيحدث الإحصائيات في الداشبورد أوتوماتيك. ده أساس أي تطبيق إدارة مهام، وممكن يتسأل هنا عن الـ Model design بتاع الـ Task.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تطبيق الـ Notes بيسمح للطالب يكتب ملاحظاته ويقسمها لفئات (Categories) ويضيفلها Tags متعددة عشان يقدر يدور عليها بسهولة، وأهم حاجة فيه إنه يقدر يصدّر أي ملاحظة كملف PDF عشان يذاكر منه أوفلاين. لو سُئلت إزاي عملنا الـ PDF export، قول استخدمنا مكتبة بايثون لتوليد PDF من محتوى الملاحظة مباشرة من السيرفر.</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تطبيق Resources زي مكتبة شخصية للطالب، يقدر يحفظ فيها أي رابط مفيد زي مقال أو فيديو أو كورس أو أداة، ويصنفه حسب نوعه، وكمان يقدر يعمله Star يعني يفضّله عشان يوصله بسرعة من غير ما يدور عليه. ده بيوفر وقت الطالب في تجميع مصادر المذاكرة بدل ما تتوزع بين المتصفح والملاحظات.</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ده أهم جزء في المشروع. المساعد الذكي بيستخدم Google Gemini API، الطالب يقدر يسأله أي سؤال دراسي ويرد عليه بشكل طبيعي، وكل محادثة بتتحفظ في قاعدة البيانات (جدول ChatMessage) عشان الطالب يرجعلها تاني في أي وقت، وده بيديله تجربة زي ChatGPT بس جوه منصته الخاصة ومربوطة بمذاكرته. لو سُئلت إزاي بنتعامل مع الـ API، قول إحنا بنبعت الرسالة كـ request للـ Gemini API من الـ View وبنستقبل الرد ونخزنه ونعرضه.</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ضفنا كذا ميزة تحسّن تجربة الاستخدام: Dark Mode لراحة العين، Pagination عشان الصفحات تفتح بسرعة لو فيه بيانات كتير، charts تفاعلية بتوضح الأداء بصريًا، تصميم Responsive يشتغل كويس على الموبايل والتابلت والديسكتوب، وإمكانية تصدير أي محتوى كـ PDF. الهدف من الميزات دي إننا نطلع بمنتج قريب من مستوى التطبيقات الاحترافية مش مجرد مشروع تخرج تعليمي.</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قسمنا المشروع لستة تطبيقات Django منفصلة كل واحد له مسؤولية محددة: accounts, dashboard, planner, notes, resources, ai_assistant. التقسيم ده بيخلي الكود منظم وسهل الصيانة، وكل تطبيق فيه الـ models والـ views والـ templates بتاعته، وده بيسمح لأكتر من حد في الفريق يشتغل على جزء مختلف من غير ما يأثر على باقي الأجزاء — ده مبدأ الـ modularity في هندسة البرمجيات.</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وده كان عرض سريع لمشروع Mind Nest، شكرًا لوقتكم، إحنا جاهزين لأي سؤال أو استفسار عن أي جزء في المشروع سواء تقني أو خاص بالتصميم.</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22.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5.png"/><Relationship Id="rId9"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0E22"/>
        </a:solidFill>
        <a:effectLst/>
      </p:bgPr>
    </p:bg>
    <p:spTree>
      <p:nvGrpSpPr>
        <p:cNvPr id="1" name=""/>
        <p:cNvGrpSpPr/>
        <p:nvPr/>
      </p:nvGrpSpPr>
      <p:grpSpPr>
        <a:xfrm>
          <a:off x="0" y="0"/>
          <a:ext cx="0" cy="0"/>
          <a:chOff x="0" y="0"/>
          <a:chExt cx="0" cy="0"/>
        </a:xfrm>
      </p:grpSpPr>
      <p:pic>
        <p:nvPicPr>
          <p:cNvPr id="2" name="Image 0" descr="bg_main.png"/>
          <p:cNvPicPr>
            <a:picLocks noChangeAspect="1"/>
          </p:cNvPicPr>
          <p:nvPr/>
        </p:nvPicPr>
        <p:blipFill>
          <a:blip r:embed="rId3"/>
          <a:stretch>
            <a:fillRect/>
          </a:stretch>
        </p:blipFill>
        <p:spPr>
          <a:xfrm>
            <a:off x="0" y="0"/>
            <a:ext cx="12188952" cy="6858000"/>
          </a:xfrm>
          <a:prstGeom prst="rect">
            <a:avLst/>
          </a:prstGeom>
        </p:spPr>
      </p:pic>
      <p:sp>
        <p:nvSpPr>
          <p:cNvPr id="3" name="Shape 0"/>
          <p:cNvSpPr/>
          <p:nvPr/>
        </p:nvSpPr>
        <p:spPr>
          <a:xfrm>
            <a:off x="5362956" y="777240"/>
            <a:ext cx="1463040" cy="1463040"/>
          </a:xfrm>
          <a:prstGeom prst="ellipse">
            <a:avLst/>
          </a:prstGeom>
          <a:solidFill>
            <a:srgbClr val="6366F1"/>
          </a:solidFill>
          <a:ln/>
          <a:effectLst>
            <a:outerShdw blurRad="101600" dist="38100" dir="5400000" algn="bl" rotWithShape="0">
              <a:srgbClr val="000000">
                <a:alpha val="40000"/>
              </a:srgbClr>
            </a:outerShdw>
          </a:effectLst>
        </p:spPr>
      </p:sp>
      <p:pic>
        <p:nvPicPr>
          <p:cNvPr id="4" name="Image 1" descr="ic_brain.png"/>
          <p:cNvPicPr>
            <a:picLocks noChangeAspect="1"/>
          </p:cNvPicPr>
          <p:nvPr/>
        </p:nvPicPr>
        <p:blipFill>
          <a:blip r:embed="rId4"/>
          <a:stretch>
            <a:fillRect/>
          </a:stretch>
        </p:blipFill>
        <p:spPr>
          <a:xfrm>
            <a:off x="5743346" y="1157630"/>
            <a:ext cx="702259" cy="702259"/>
          </a:xfrm>
          <a:prstGeom prst="rect">
            <a:avLst/>
          </a:prstGeom>
        </p:spPr>
      </p:pic>
      <p:sp>
        <p:nvSpPr>
          <p:cNvPr id="5" name="Text 1"/>
          <p:cNvSpPr/>
          <p:nvPr/>
        </p:nvSpPr>
        <p:spPr>
          <a:xfrm>
            <a:off x="457200" y="2514600"/>
            <a:ext cx="11274552" cy="1005840"/>
          </a:xfrm>
          <a:prstGeom prst="rect">
            <a:avLst/>
          </a:prstGeom>
          <a:noFill/>
          <a:ln/>
        </p:spPr>
        <p:txBody>
          <a:bodyPr wrap="square" rtlCol="0" anchor="ctr"/>
          <a:lstStyle/>
          <a:p>
            <a:pPr marL="0" indent="0" algn="ctr">
              <a:buNone/>
            </a:pPr>
            <a:r>
              <a:rPr lang="en-US" sz="6000" b="1" kern="0" spc="200" dirty="0">
                <a:solidFill>
                  <a:srgbClr val="FFFFFF"/>
                </a:solidFill>
                <a:latin typeface="Cambria" pitchFamily="34" charset="0"/>
                <a:ea typeface="Cambria" pitchFamily="34" charset="-122"/>
                <a:cs typeface="Cambria" pitchFamily="34" charset="-120"/>
              </a:rPr>
              <a:t>MIND NEST</a:t>
            </a:r>
            <a:endParaRPr lang="en-US" sz="6000" dirty="0"/>
          </a:p>
        </p:txBody>
      </p:sp>
      <p:sp>
        <p:nvSpPr>
          <p:cNvPr id="6" name="Text 2"/>
          <p:cNvSpPr/>
          <p:nvPr/>
        </p:nvSpPr>
        <p:spPr>
          <a:xfrm>
            <a:off x="457200" y="3429000"/>
            <a:ext cx="11274552" cy="502920"/>
          </a:xfrm>
          <a:prstGeom prst="rect">
            <a:avLst/>
          </a:prstGeom>
          <a:noFill/>
          <a:ln/>
        </p:spPr>
        <p:txBody>
          <a:bodyPr wrap="square" rtlCol="0" anchor="ctr"/>
          <a:lstStyle/>
          <a:p>
            <a:pPr marL="0" indent="0" algn="ctr">
              <a:buNone/>
            </a:pPr>
            <a:r>
              <a:rPr lang="en-US" sz="2200" i="1" dirty="0">
                <a:solidFill>
                  <a:srgbClr val="A855F7"/>
                </a:solidFill>
                <a:latin typeface="Calibri" pitchFamily="34" charset="0"/>
                <a:ea typeface="Calibri" pitchFamily="34" charset="-122"/>
                <a:cs typeface="Calibri" pitchFamily="34" charset="-120"/>
              </a:rPr>
              <a:t>AI-Powered Study Hub</a:t>
            </a:r>
            <a:endParaRPr lang="en-US" sz="2200" dirty="0"/>
          </a:p>
        </p:txBody>
      </p:sp>
      <p:sp>
        <p:nvSpPr>
          <p:cNvPr id="7" name="Shape 3"/>
          <p:cNvSpPr/>
          <p:nvPr/>
        </p:nvSpPr>
        <p:spPr>
          <a:xfrm>
            <a:off x="5175504" y="4160520"/>
            <a:ext cx="1828800" cy="0"/>
          </a:xfrm>
          <a:prstGeom prst="line">
            <a:avLst/>
          </a:prstGeom>
          <a:noFill/>
          <a:ln w="12700">
            <a:solidFill>
              <a:srgbClr val="8F89B8"/>
            </a:solidFill>
            <a:prstDash val="solid"/>
          </a:ln>
        </p:spPr>
      </p:sp>
      <p:sp>
        <p:nvSpPr>
          <p:cNvPr id="8" name="Shape 4"/>
          <p:cNvSpPr/>
          <p:nvPr/>
        </p:nvSpPr>
        <p:spPr>
          <a:xfrm>
            <a:off x="3108960" y="4434840"/>
            <a:ext cx="5971032" cy="1554480"/>
          </a:xfrm>
          <a:prstGeom prst="roundRect">
            <a:avLst>
              <a:gd name="adj" fmla="val 8235"/>
            </a:avLst>
          </a:prstGeom>
          <a:solidFill>
            <a:srgbClr val="FFFFFF">
              <a:alpha val="10000"/>
            </a:srgbClr>
          </a:solidFill>
          <a:ln/>
          <a:effectLst>
            <a:outerShdw blurRad="127000" dist="38100" dir="5400000" algn="bl" rotWithShape="0">
              <a:srgbClr val="000000">
                <a:alpha val="35000"/>
              </a:srgbClr>
            </a:outerShdw>
          </a:effectLst>
        </p:spPr>
      </p:sp>
      <p:sp>
        <p:nvSpPr>
          <p:cNvPr id="9" name="Text 5"/>
          <p:cNvSpPr/>
          <p:nvPr/>
        </p:nvSpPr>
        <p:spPr>
          <a:xfrm>
            <a:off x="3108960" y="4590288"/>
            <a:ext cx="5971032" cy="411480"/>
          </a:xfrm>
          <a:prstGeom prst="rect">
            <a:avLst/>
          </a:prstGeom>
          <a:no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Mohamed Ataa   &amp;   Sarah Yasser</a:t>
            </a:r>
            <a:endParaRPr lang="en-US" sz="1900" dirty="0"/>
          </a:p>
        </p:txBody>
      </p:sp>
      <p:sp>
        <p:nvSpPr>
          <p:cNvPr id="10" name="Text 6"/>
          <p:cNvSpPr/>
          <p:nvPr/>
        </p:nvSpPr>
        <p:spPr>
          <a:xfrm>
            <a:off x="3108960" y="5029200"/>
            <a:ext cx="5971032" cy="365760"/>
          </a:xfrm>
          <a:prstGeom prst="rect">
            <a:avLst/>
          </a:prstGeom>
          <a:noFill/>
          <a:ln/>
        </p:spPr>
        <p:txBody>
          <a:bodyPr wrap="square" rtlCol="0" anchor="ctr"/>
          <a:lstStyle/>
          <a:p>
            <a:pPr marL="0" indent="0" algn="ctr">
              <a:buNone/>
            </a:pPr>
            <a:r>
              <a:rPr lang="en-US" sz="1250" dirty="0">
                <a:solidFill>
                  <a:srgbClr val="B7B2D6"/>
                </a:solidFill>
                <a:latin typeface="Calibri" pitchFamily="34" charset="0"/>
                <a:ea typeface="Calibri" pitchFamily="34" charset="-122"/>
                <a:cs typeface="Calibri" pitchFamily="34" charset="-120"/>
              </a:rPr>
              <a:t>ITI  •  Web Development using Python &amp; Generative AI  •  2026</a:t>
            </a:r>
            <a:endParaRPr lang="en-US" sz="1250" dirty="0"/>
          </a:p>
        </p:txBody>
      </p:sp>
      <p:sp>
        <p:nvSpPr>
          <p:cNvPr id="11" name="Text 7"/>
          <p:cNvSpPr/>
          <p:nvPr/>
        </p:nvSpPr>
        <p:spPr>
          <a:xfrm>
            <a:off x="3108960" y="5440680"/>
            <a:ext cx="5971032" cy="320040"/>
          </a:xfrm>
          <a:prstGeom prst="rect">
            <a:avLst/>
          </a:prstGeom>
          <a:noFill/>
          <a:ln/>
        </p:spPr>
        <p:txBody>
          <a:bodyPr wrap="square" rtlCol="0" anchor="ctr"/>
          <a:lstStyle/>
          <a:p>
            <a:pPr marL="0" indent="0" algn="ctr">
              <a:buNone/>
            </a:pPr>
            <a:r>
              <a:rPr lang="en-US" sz="1100" i="1" dirty="0">
                <a:solidFill>
                  <a:srgbClr val="8F89B8"/>
                </a:solidFill>
                <a:latin typeface="Calibri" pitchFamily="34" charset="0"/>
                <a:ea typeface="Calibri" pitchFamily="34" charset="-122"/>
                <a:cs typeface="Calibri" pitchFamily="34" charset="-120"/>
              </a:rPr>
              <a:t>Full Stack Web Development Graduation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9331"/>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OVERVIEW</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is Mind Nest?</a:t>
            </a:r>
            <a:endParaRPr lang="en-US" sz="3200" dirty="0"/>
          </a:p>
        </p:txBody>
      </p:sp>
      <p:sp>
        <p:nvSpPr>
          <p:cNvPr id="5" name="Text 2"/>
          <p:cNvSpPr/>
          <p:nvPr/>
        </p:nvSpPr>
        <p:spPr>
          <a:xfrm>
            <a:off x="548640" y="1371600"/>
            <a:ext cx="5212080" cy="1554480"/>
          </a:xfrm>
          <a:prstGeom prst="rect">
            <a:avLst/>
          </a:prstGeom>
          <a:noFill/>
          <a:ln/>
        </p:spPr>
        <p:txBody>
          <a:bodyPr wrap="square" rtlCol="0" anchor="ctr"/>
          <a:lstStyle/>
          <a:p>
            <a:pPr marL="0" indent="0">
              <a:lnSpc>
                <a:spcPct val="125000"/>
              </a:lnSpc>
              <a:buNone/>
            </a:pPr>
            <a:r>
              <a:rPr lang="en-US" sz="1450" dirty="0">
                <a:solidFill>
                  <a:srgbClr val="B7B2D6"/>
                </a:solidFill>
                <a:latin typeface="Calibri" pitchFamily="34" charset="0"/>
                <a:ea typeface="Calibri" pitchFamily="34" charset="-122"/>
                <a:cs typeface="Calibri" pitchFamily="34" charset="-120"/>
              </a:rPr>
              <a:t>Mind Nest is a full-stack Django web application that gives students one organized home for their academic life like tasks, notes, and resources. enhanced by a built-in AI study assistant powered by Google Gemini.</a:t>
            </a:r>
            <a:endParaRPr lang="en-US" sz="1450" dirty="0"/>
          </a:p>
        </p:txBody>
      </p:sp>
      <p:sp>
        <p:nvSpPr>
          <p:cNvPr id="6" name="Shape 3"/>
          <p:cNvSpPr/>
          <p:nvPr/>
        </p:nvSpPr>
        <p:spPr>
          <a:xfrm>
            <a:off x="548640" y="3108960"/>
            <a:ext cx="128016" cy="128016"/>
          </a:xfrm>
          <a:prstGeom prst="ellipse">
            <a:avLst/>
          </a:prstGeom>
          <a:solidFill>
            <a:srgbClr val="A855F7"/>
          </a:solidFill>
          <a:ln/>
        </p:spPr>
      </p:sp>
      <p:sp>
        <p:nvSpPr>
          <p:cNvPr id="7" name="Text 4"/>
          <p:cNvSpPr/>
          <p:nvPr/>
        </p:nvSpPr>
        <p:spPr>
          <a:xfrm>
            <a:off x="868680" y="2953512"/>
            <a:ext cx="4937760" cy="32004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Plan smarter</a:t>
            </a:r>
            <a:endParaRPr lang="en-US" sz="1450" dirty="0"/>
          </a:p>
        </p:txBody>
      </p:sp>
      <p:sp>
        <p:nvSpPr>
          <p:cNvPr id="8" name="Text 5"/>
          <p:cNvSpPr/>
          <p:nvPr/>
        </p:nvSpPr>
        <p:spPr>
          <a:xfrm>
            <a:off x="868680" y="3264408"/>
            <a:ext cx="4937760" cy="502920"/>
          </a:xfrm>
          <a:prstGeom prst="rect">
            <a:avLst/>
          </a:prstGeom>
          <a:noFill/>
          <a:ln/>
        </p:spPr>
        <p:txBody>
          <a:bodyPr wrap="square" rtlCol="0" anchor="ctr"/>
          <a:lstStyle/>
          <a:p>
            <a:pPr marL="0" indent="0">
              <a:lnSpc>
                <a:spcPct val="115000"/>
              </a:lnSpc>
              <a:buNone/>
            </a:pPr>
            <a:r>
              <a:rPr lang="en-US" sz="1200" dirty="0">
                <a:solidFill>
                  <a:srgbClr val="8F89B8"/>
                </a:solidFill>
                <a:latin typeface="Calibri" pitchFamily="34" charset="0"/>
                <a:ea typeface="Calibri" pitchFamily="34" charset="-122"/>
                <a:cs typeface="Calibri" pitchFamily="34" charset="-120"/>
              </a:rPr>
              <a:t>Track tasks with priorities and due dates so nothing slips through the cracks.</a:t>
            </a:r>
            <a:endParaRPr lang="en-US" sz="1200" dirty="0"/>
          </a:p>
        </p:txBody>
      </p:sp>
      <p:sp>
        <p:nvSpPr>
          <p:cNvPr id="9" name="Shape 6"/>
          <p:cNvSpPr/>
          <p:nvPr/>
        </p:nvSpPr>
        <p:spPr>
          <a:xfrm>
            <a:off x="548640" y="3977640"/>
            <a:ext cx="128016" cy="128016"/>
          </a:xfrm>
          <a:prstGeom prst="ellipse">
            <a:avLst/>
          </a:prstGeom>
          <a:solidFill>
            <a:srgbClr val="A855F7"/>
          </a:solidFill>
          <a:ln/>
        </p:spPr>
      </p:sp>
      <p:sp>
        <p:nvSpPr>
          <p:cNvPr id="10" name="Text 7"/>
          <p:cNvSpPr/>
          <p:nvPr/>
        </p:nvSpPr>
        <p:spPr>
          <a:xfrm>
            <a:off x="868680" y="3822192"/>
            <a:ext cx="4937760" cy="32004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Capture ideas</a:t>
            </a:r>
            <a:endParaRPr lang="en-US" sz="1450" dirty="0"/>
          </a:p>
        </p:txBody>
      </p:sp>
      <p:sp>
        <p:nvSpPr>
          <p:cNvPr id="11" name="Text 8"/>
          <p:cNvSpPr/>
          <p:nvPr/>
        </p:nvSpPr>
        <p:spPr>
          <a:xfrm>
            <a:off x="868680" y="4133088"/>
            <a:ext cx="4937760" cy="502920"/>
          </a:xfrm>
          <a:prstGeom prst="rect">
            <a:avLst/>
          </a:prstGeom>
          <a:noFill/>
          <a:ln/>
        </p:spPr>
        <p:txBody>
          <a:bodyPr wrap="square" rtlCol="0" anchor="ctr"/>
          <a:lstStyle/>
          <a:p>
            <a:pPr marL="0" indent="0">
              <a:lnSpc>
                <a:spcPct val="115000"/>
              </a:lnSpc>
              <a:buNone/>
            </a:pPr>
            <a:r>
              <a:rPr lang="en-US" sz="1200" dirty="0">
                <a:solidFill>
                  <a:srgbClr val="8F89B8"/>
                </a:solidFill>
                <a:latin typeface="Calibri" pitchFamily="34" charset="0"/>
                <a:ea typeface="Calibri" pitchFamily="34" charset="-122"/>
                <a:cs typeface="Calibri" pitchFamily="34" charset="-120"/>
              </a:rPr>
              <a:t>Rich notes with categories and tags, exportable to PDF for offline study.</a:t>
            </a:r>
            <a:endParaRPr lang="en-US" sz="1200" dirty="0"/>
          </a:p>
        </p:txBody>
      </p:sp>
      <p:sp>
        <p:nvSpPr>
          <p:cNvPr id="12" name="Shape 9"/>
          <p:cNvSpPr/>
          <p:nvPr/>
        </p:nvSpPr>
        <p:spPr>
          <a:xfrm>
            <a:off x="6263640" y="1417320"/>
            <a:ext cx="2583180" cy="1028700"/>
          </a:xfrm>
          <a:prstGeom prst="roundRect">
            <a:avLst>
              <a:gd name="adj" fmla="val 10667"/>
            </a:avLst>
          </a:prstGeom>
          <a:solidFill>
            <a:srgbClr val="1E1A3A"/>
          </a:solidFill>
          <a:ln/>
          <a:effectLst>
            <a:outerShdw blurRad="127000" dist="38100" dir="5400000" algn="bl" rotWithShape="0">
              <a:srgbClr val="000000">
                <a:alpha val="35000"/>
              </a:srgbClr>
            </a:outerShdw>
          </a:effectLst>
        </p:spPr>
      </p:sp>
      <p:sp>
        <p:nvSpPr>
          <p:cNvPr id="13" name="Shape 10"/>
          <p:cNvSpPr/>
          <p:nvPr/>
        </p:nvSpPr>
        <p:spPr>
          <a:xfrm>
            <a:off x="6464808" y="1618488"/>
            <a:ext cx="566928" cy="566928"/>
          </a:xfrm>
          <a:prstGeom prst="ellipse">
            <a:avLst/>
          </a:prstGeom>
          <a:solidFill>
            <a:srgbClr val="6366F1"/>
          </a:solidFill>
          <a:ln/>
          <a:effectLst>
            <a:outerShdw blurRad="101600" dist="38100" dir="5400000" algn="bl" rotWithShape="0">
              <a:srgbClr val="000000">
                <a:alpha val="40000"/>
              </a:srgbClr>
            </a:outerShdw>
          </a:effectLst>
        </p:spPr>
      </p:sp>
      <p:pic>
        <p:nvPicPr>
          <p:cNvPr id="14" name="Image 1" descr="ic_listcheck.png"/>
          <p:cNvPicPr>
            <a:picLocks noChangeAspect="1"/>
          </p:cNvPicPr>
          <p:nvPr/>
        </p:nvPicPr>
        <p:blipFill>
          <a:blip r:embed="rId4"/>
          <a:stretch>
            <a:fillRect/>
          </a:stretch>
        </p:blipFill>
        <p:spPr>
          <a:xfrm>
            <a:off x="6612209" y="1765889"/>
            <a:ext cx="272125" cy="272125"/>
          </a:xfrm>
          <a:prstGeom prst="rect">
            <a:avLst/>
          </a:prstGeom>
        </p:spPr>
      </p:pic>
      <p:sp>
        <p:nvSpPr>
          <p:cNvPr id="15" name="Text 11"/>
          <p:cNvSpPr/>
          <p:nvPr/>
        </p:nvSpPr>
        <p:spPr>
          <a:xfrm>
            <a:off x="6464808" y="2286000"/>
            <a:ext cx="221742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Study Organizer</a:t>
            </a:r>
            <a:endParaRPr lang="en-US" sz="1350" dirty="0"/>
          </a:p>
        </p:txBody>
      </p:sp>
      <p:sp>
        <p:nvSpPr>
          <p:cNvPr id="16" name="Text 12"/>
          <p:cNvSpPr/>
          <p:nvPr/>
        </p:nvSpPr>
        <p:spPr>
          <a:xfrm>
            <a:off x="6464808" y="2587752"/>
            <a:ext cx="2217420" cy="502920"/>
          </a:xfrm>
          <a:prstGeom prst="rect">
            <a:avLst/>
          </a:prstGeom>
          <a:noFill/>
          <a:ln/>
        </p:spPr>
        <p:txBody>
          <a:bodyPr wrap="square" rtlCol="0" anchor="ctr"/>
          <a:lstStyle/>
          <a:p>
            <a:pPr marL="0" indent="0">
              <a:lnSpc>
                <a:spcPct val="110000"/>
              </a:lnSpc>
              <a:buNone/>
            </a:pPr>
            <a:r>
              <a:rPr lang="en-US" sz="1050" dirty="0">
                <a:solidFill>
                  <a:srgbClr val="8F89B8"/>
                </a:solidFill>
                <a:latin typeface="Calibri" pitchFamily="34" charset="0"/>
                <a:ea typeface="Calibri" pitchFamily="34" charset="-122"/>
                <a:cs typeface="Calibri" pitchFamily="34" charset="-120"/>
              </a:rPr>
              <a:t>Tasks, notes &amp; resources in one place</a:t>
            </a:r>
            <a:endParaRPr lang="en-US" sz="1050" dirty="0"/>
          </a:p>
        </p:txBody>
      </p:sp>
      <p:sp>
        <p:nvSpPr>
          <p:cNvPr id="17" name="Shape 13"/>
          <p:cNvSpPr/>
          <p:nvPr/>
        </p:nvSpPr>
        <p:spPr>
          <a:xfrm>
            <a:off x="9075420" y="1417320"/>
            <a:ext cx="2583180" cy="1028700"/>
          </a:xfrm>
          <a:prstGeom prst="roundRect">
            <a:avLst>
              <a:gd name="adj" fmla="val 10667"/>
            </a:avLst>
          </a:prstGeom>
          <a:solidFill>
            <a:srgbClr val="1E1A3A"/>
          </a:solidFill>
          <a:ln/>
          <a:effectLst>
            <a:outerShdw blurRad="127000" dist="38100" dir="5400000" algn="bl" rotWithShape="0">
              <a:srgbClr val="000000">
                <a:alpha val="35000"/>
              </a:srgbClr>
            </a:outerShdw>
          </a:effectLst>
        </p:spPr>
      </p:sp>
      <p:sp>
        <p:nvSpPr>
          <p:cNvPr id="18" name="Shape 14"/>
          <p:cNvSpPr/>
          <p:nvPr/>
        </p:nvSpPr>
        <p:spPr>
          <a:xfrm>
            <a:off x="9276588" y="1618488"/>
            <a:ext cx="566928" cy="566928"/>
          </a:xfrm>
          <a:prstGeom prst="ellipse">
            <a:avLst/>
          </a:prstGeom>
          <a:solidFill>
            <a:srgbClr val="9333EA"/>
          </a:solidFill>
          <a:ln/>
          <a:effectLst>
            <a:outerShdw blurRad="101600" dist="38100" dir="5400000" algn="bl" rotWithShape="0">
              <a:srgbClr val="000000">
                <a:alpha val="40000"/>
              </a:srgbClr>
            </a:outerShdw>
          </a:effectLst>
        </p:spPr>
      </p:sp>
      <p:pic>
        <p:nvPicPr>
          <p:cNvPr id="19" name="Image 2" descr="ic_robot.png"/>
          <p:cNvPicPr>
            <a:picLocks noChangeAspect="1"/>
          </p:cNvPicPr>
          <p:nvPr/>
        </p:nvPicPr>
        <p:blipFill>
          <a:blip r:embed="rId5"/>
          <a:stretch>
            <a:fillRect/>
          </a:stretch>
        </p:blipFill>
        <p:spPr>
          <a:xfrm>
            <a:off x="9423989" y="1765889"/>
            <a:ext cx="272125" cy="272125"/>
          </a:xfrm>
          <a:prstGeom prst="rect">
            <a:avLst/>
          </a:prstGeom>
        </p:spPr>
      </p:pic>
      <p:sp>
        <p:nvSpPr>
          <p:cNvPr id="20" name="Text 15"/>
          <p:cNvSpPr/>
          <p:nvPr/>
        </p:nvSpPr>
        <p:spPr>
          <a:xfrm>
            <a:off x="9276588" y="2286000"/>
            <a:ext cx="221742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AI Assistant</a:t>
            </a:r>
            <a:endParaRPr lang="en-US" sz="1350" dirty="0"/>
          </a:p>
        </p:txBody>
      </p:sp>
      <p:sp>
        <p:nvSpPr>
          <p:cNvPr id="21" name="Text 16"/>
          <p:cNvSpPr/>
          <p:nvPr/>
        </p:nvSpPr>
        <p:spPr>
          <a:xfrm>
            <a:off x="9276588" y="2587752"/>
            <a:ext cx="2217420" cy="502920"/>
          </a:xfrm>
          <a:prstGeom prst="rect">
            <a:avLst/>
          </a:prstGeom>
          <a:noFill/>
          <a:ln/>
        </p:spPr>
        <p:txBody>
          <a:bodyPr wrap="square" rtlCol="0" anchor="ctr"/>
          <a:lstStyle/>
          <a:p>
            <a:pPr marL="0" indent="0">
              <a:lnSpc>
                <a:spcPct val="110000"/>
              </a:lnSpc>
              <a:buNone/>
            </a:pPr>
            <a:r>
              <a:rPr lang="en-US" sz="1050" dirty="0">
                <a:solidFill>
                  <a:srgbClr val="8F89B8"/>
                </a:solidFill>
                <a:latin typeface="Calibri" pitchFamily="34" charset="0"/>
                <a:ea typeface="Calibri" pitchFamily="34" charset="-122"/>
                <a:cs typeface="Calibri" pitchFamily="34" charset="-120"/>
              </a:rPr>
              <a:t>Gemini-powered study companion</a:t>
            </a:r>
            <a:endParaRPr lang="en-US" sz="1050" dirty="0"/>
          </a:p>
        </p:txBody>
      </p:sp>
      <p:sp>
        <p:nvSpPr>
          <p:cNvPr id="22" name="Shape 17"/>
          <p:cNvSpPr/>
          <p:nvPr/>
        </p:nvSpPr>
        <p:spPr>
          <a:xfrm>
            <a:off x="6263640" y="2674620"/>
            <a:ext cx="2583180" cy="1028700"/>
          </a:xfrm>
          <a:prstGeom prst="roundRect">
            <a:avLst>
              <a:gd name="adj" fmla="val 10667"/>
            </a:avLst>
          </a:prstGeom>
          <a:solidFill>
            <a:srgbClr val="1E1A3A"/>
          </a:solidFill>
          <a:ln/>
          <a:effectLst>
            <a:outerShdw blurRad="127000" dist="38100" dir="5400000" algn="bl" rotWithShape="0">
              <a:srgbClr val="000000">
                <a:alpha val="35000"/>
              </a:srgbClr>
            </a:outerShdw>
          </a:effectLst>
        </p:spPr>
      </p:sp>
      <p:sp>
        <p:nvSpPr>
          <p:cNvPr id="23" name="Shape 18"/>
          <p:cNvSpPr/>
          <p:nvPr/>
        </p:nvSpPr>
        <p:spPr>
          <a:xfrm>
            <a:off x="6464808" y="2875788"/>
            <a:ext cx="566928" cy="566928"/>
          </a:xfrm>
          <a:prstGeom prst="ellipse">
            <a:avLst/>
          </a:prstGeom>
          <a:solidFill>
            <a:srgbClr val="6366F1"/>
          </a:solidFill>
          <a:ln/>
          <a:effectLst>
            <a:outerShdw blurRad="101600" dist="38100" dir="5400000" algn="bl" rotWithShape="0">
              <a:srgbClr val="000000">
                <a:alpha val="40000"/>
              </a:srgbClr>
            </a:outerShdw>
          </a:effectLst>
        </p:spPr>
      </p:sp>
      <p:pic>
        <p:nvPicPr>
          <p:cNvPr id="24" name="Image 3" descr="ic_gauge.png"/>
          <p:cNvPicPr>
            <a:picLocks noChangeAspect="1"/>
          </p:cNvPicPr>
          <p:nvPr/>
        </p:nvPicPr>
        <p:blipFill>
          <a:blip r:embed="rId6"/>
          <a:stretch>
            <a:fillRect/>
          </a:stretch>
        </p:blipFill>
        <p:spPr>
          <a:xfrm>
            <a:off x="6612209" y="3023189"/>
            <a:ext cx="272125" cy="272125"/>
          </a:xfrm>
          <a:prstGeom prst="rect">
            <a:avLst/>
          </a:prstGeom>
        </p:spPr>
      </p:pic>
      <p:sp>
        <p:nvSpPr>
          <p:cNvPr id="25" name="Text 19"/>
          <p:cNvSpPr/>
          <p:nvPr/>
        </p:nvSpPr>
        <p:spPr>
          <a:xfrm>
            <a:off x="6464808" y="3543300"/>
            <a:ext cx="221742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Smart Dashboard</a:t>
            </a:r>
            <a:endParaRPr lang="en-US" sz="1350" dirty="0"/>
          </a:p>
        </p:txBody>
      </p:sp>
      <p:sp>
        <p:nvSpPr>
          <p:cNvPr id="26" name="Text 20"/>
          <p:cNvSpPr/>
          <p:nvPr/>
        </p:nvSpPr>
        <p:spPr>
          <a:xfrm>
            <a:off x="6464808" y="3845052"/>
            <a:ext cx="2217420" cy="502920"/>
          </a:xfrm>
          <a:prstGeom prst="rect">
            <a:avLst/>
          </a:prstGeom>
          <a:noFill/>
          <a:ln/>
        </p:spPr>
        <p:txBody>
          <a:bodyPr wrap="square" rtlCol="0" anchor="ctr"/>
          <a:lstStyle/>
          <a:p>
            <a:pPr marL="0" indent="0">
              <a:lnSpc>
                <a:spcPct val="110000"/>
              </a:lnSpc>
              <a:buNone/>
            </a:pPr>
            <a:r>
              <a:rPr lang="en-US" sz="1050" dirty="0">
                <a:solidFill>
                  <a:srgbClr val="8F89B8"/>
                </a:solidFill>
                <a:latin typeface="Calibri" pitchFamily="34" charset="0"/>
                <a:ea typeface="Calibri" pitchFamily="34" charset="-122"/>
                <a:cs typeface="Calibri" pitchFamily="34" charset="-120"/>
              </a:rPr>
              <a:t>Visual stats &amp; progress charts</a:t>
            </a:r>
            <a:endParaRPr lang="en-US" sz="1050" dirty="0"/>
          </a:p>
        </p:txBody>
      </p:sp>
      <p:sp>
        <p:nvSpPr>
          <p:cNvPr id="27" name="Shape 21"/>
          <p:cNvSpPr/>
          <p:nvPr/>
        </p:nvSpPr>
        <p:spPr>
          <a:xfrm>
            <a:off x="9075420" y="2674620"/>
            <a:ext cx="2583180" cy="1028700"/>
          </a:xfrm>
          <a:prstGeom prst="roundRect">
            <a:avLst>
              <a:gd name="adj" fmla="val 10667"/>
            </a:avLst>
          </a:prstGeom>
          <a:solidFill>
            <a:srgbClr val="1E1A3A"/>
          </a:solidFill>
          <a:ln/>
          <a:effectLst>
            <a:outerShdw blurRad="127000" dist="38100" dir="5400000" algn="bl" rotWithShape="0">
              <a:srgbClr val="000000">
                <a:alpha val="35000"/>
              </a:srgbClr>
            </a:outerShdw>
          </a:effectLst>
        </p:spPr>
      </p:sp>
      <p:sp>
        <p:nvSpPr>
          <p:cNvPr id="28" name="Shape 22"/>
          <p:cNvSpPr/>
          <p:nvPr/>
        </p:nvSpPr>
        <p:spPr>
          <a:xfrm>
            <a:off x="9276588" y="2875788"/>
            <a:ext cx="566928" cy="566928"/>
          </a:xfrm>
          <a:prstGeom prst="ellipse">
            <a:avLst/>
          </a:prstGeom>
          <a:solidFill>
            <a:srgbClr val="9333EA"/>
          </a:solidFill>
          <a:ln/>
          <a:effectLst>
            <a:outerShdw blurRad="101600" dist="38100" dir="5400000" algn="bl" rotWithShape="0">
              <a:srgbClr val="000000">
                <a:alpha val="40000"/>
              </a:srgbClr>
            </a:outerShdw>
          </a:effectLst>
        </p:spPr>
      </p:sp>
      <p:pic>
        <p:nvPicPr>
          <p:cNvPr id="29" name="Image 4" descr="ic_mobile.png"/>
          <p:cNvPicPr>
            <a:picLocks noChangeAspect="1"/>
          </p:cNvPicPr>
          <p:nvPr/>
        </p:nvPicPr>
        <p:blipFill>
          <a:blip r:embed="rId7"/>
          <a:stretch>
            <a:fillRect/>
          </a:stretch>
        </p:blipFill>
        <p:spPr>
          <a:xfrm>
            <a:off x="9423989" y="3023189"/>
            <a:ext cx="272125" cy="272125"/>
          </a:xfrm>
          <a:prstGeom prst="rect">
            <a:avLst/>
          </a:prstGeom>
        </p:spPr>
      </p:pic>
      <p:sp>
        <p:nvSpPr>
          <p:cNvPr id="30" name="Text 23"/>
          <p:cNvSpPr/>
          <p:nvPr/>
        </p:nvSpPr>
        <p:spPr>
          <a:xfrm>
            <a:off x="9276588" y="3543300"/>
            <a:ext cx="221742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Anywhere Access</a:t>
            </a:r>
            <a:endParaRPr lang="en-US" sz="1350" dirty="0"/>
          </a:p>
        </p:txBody>
      </p:sp>
      <p:sp>
        <p:nvSpPr>
          <p:cNvPr id="31" name="Text 24"/>
          <p:cNvSpPr/>
          <p:nvPr/>
        </p:nvSpPr>
        <p:spPr>
          <a:xfrm>
            <a:off x="9276588" y="3845052"/>
            <a:ext cx="2217420" cy="502920"/>
          </a:xfrm>
          <a:prstGeom prst="rect">
            <a:avLst/>
          </a:prstGeom>
          <a:noFill/>
          <a:ln/>
        </p:spPr>
        <p:txBody>
          <a:bodyPr wrap="square" rtlCol="0" anchor="ctr"/>
          <a:lstStyle/>
          <a:p>
            <a:pPr marL="0" indent="0">
              <a:lnSpc>
                <a:spcPct val="110000"/>
              </a:lnSpc>
              <a:buNone/>
            </a:pPr>
            <a:r>
              <a:rPr lang="en-US" sz="1050" dirty="0">
                <a:solidFill>
                  <a:srgbClr val="8F89B8"/>
                </a:solidFill>
                <a:latin typeface="Calibri" pitchFamily="34" charset="0"/>
                <a:ea typeface="Calibri" pitchFamily="34" charset="-122"/>
                <a:cs typeface="Calibri" pitchFamily="34" charset="-120"/>
              </a:rPr>
              <a:t>Responsive on every device</a:t>
            </a:r>
            <a:endParaRPr lang="en-US" sz="1050" dirty="0"/>
          </a:p>
        </p:txBody>
      </p:sp>
      <p:sp>
        <p:nvSpPr>
          <p:cNvPr id="32" name="Shape 25"/>
          <p:cNvSpPr/>
          <p:nvPr/>
        </p:nvSpPr>
        <p:spPr>
          <a:xfrm>
            <a:off x="6263640" y="4023360"/>
            <a:ext cx="5394960" cy="1463040"/>
          </a:xfrm>
          <a:prstGeom prst="roundRect">
            <a:avLst>
              <a:gd name="adj" fmla="val 7500"/>
            </a:avLst>
          </a:prstGeom>
          <a:solidFill>
            <a:srgbClr val="242050"/>
          </a:solidFill>
          <a:ln/>
          <a:effectLst>
            <a:outerShdw blurRad="127000" dist="38100" dir="5400000" algn="bl" rotWithShape="0">
              <a:srgbClr val="000000">
                <a:alpha val="35000"/>
              </a:srgbClr>
            </a:outerShdw>
          </a:effectLst>
        </p:spPr>
      </p:sp>
      <p:sp>
        <p:nvSpPr>
          <p:cNvPr id="33" name="Text 26"/>
          <p:cNvSpPr/>
          <p:nvPr/>
        </p:nvSpPr>
        <p:spPr>
          <a:xfrm>
            <a:off x="6537960" y="4251960"/>
            <a:ext cx="4846320" cy="1005840"/>
          </a:xfrm>
          <a:prstGeom prst="rect">
            <a:avLst/>
          </a:prstGeom>
          <a:noFill/>
          <a:ln/>
        </p:spPr>
        <p:txBody>
          <a:bodyPr wrap="square" rtlCol="0" anchor="ctr"/>
          <a:lstStyle/>
          <a:p>
            <a:pPr marL="0" indent="0" algn="ctr">
              <a:lnSpc>
                <a:spcPct val="130000"/>
              </a:lnSpc>
              <a:buNone/>
            </a:pPr>
            <a:r>
              <a:rPr lang="en-US" sz="1400" i="1" dirty="0">
                <a:solidFill>
                  <a:srgbClr val="A855F7"/>
                </a:solidFill>
                <a:latin typeface="Calibri" pitchFamily="34" charset="0"/>
                <a:ea typeface="Calibri" pitchFamily="34" charset="-122"/>
                <a:cs typeface="Calibri" pitchFamily="34" charset="-120"/>
              </a:rPr>
              <a:t>“A calm, focused nest for every student to plan, learn, and grow.”</a:t>
            </a:r>
            <a:endParaRPr lang="en-US" sz="1400" dirty="0"/>
          </a:p>
        </p:txBody>
      </p:sp>
      <p:sp>
        <p:nvSpPr>
          <p:cNvPr id="35" name="Text 27"/>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36" name="Text 28"/>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TECH STACK</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Technologies Used</a:t>
            </a:r>
            <a:endParaRPr lang="en-US" sz="3200" dirty="0"/>
          </a:p>
        </p:txBody>
      </p:sp>
      <p:sp>
        <p:nvSpPr>
          <p:cNvPr id="5" name="Shape 2"/>
          <p:cNvSpPr/>
          <p:nvPr/>
        </p:nvSpPr>
        <p:spPr>
          <a:xfrm>
            <a:off x="548640" y="1463040"/>
            <a:ext cx="3483864" cy="2057400"/>
          </a:xfrm>
          <a:prstGeom prst="roundRect">
            <a:avLst>
              <a:gd name="adj" fmla="val 5333"/>
            </a:avLst>
          </a:prstGeom>
          <a:solidFill>
            <a:srgbClr val="1E1A3A"/>
          </a:solidFill>
          <a:ln/>
          <a:effectLst>
            <a:outerShdw blurRad="127000" dist="38100" dir="5400000" algn="bl" rotWithShape="0">
              <a:srgbClr val="000000">
                <a:alpha val="35000"/>
              </a:srgbClr>
            </a:outerShdw>
          </a:effectLst>
        </p:spPr>
      </p:sp>
      <p:sp>
        <p:nvSpPr>
          <p:cNvPr id="6" name="Shape 3"/>
          <p:cNvSpPr/>
          <p:nvPr/>
        </p:nvSpPr>
        <p:spPr>
          <a:xfrm>
            <a:off x="1901952" y="1755648"/>
            <a:ext cx="777240" cy="777240"/>
          </a:xfrm>
          <a:prstGeom prst="ellipse">
            <a:avLst/>
          </a:prstGeom>
          <a:solidFill>
            <a:srgbClr val="6366F1"/>
          </a:solidFill>
          <a:ln/>
          <a:effectLst>
            <a:outerShdw blurRad="101600" dist="38100" dir="5400000" algn="bl" rotWithShape="0">
              <a:srgbClr val="000000">
                <a:alpha val="40000"/>
              </a:srgbClr>
            </a:outerShdw>
          </a:effectLst>
        </p:spPr>
      </p:sp>
      <p:pic>
        <p:nvPicPr>
          <p:cNvPr id="7" name="Image 1" descr="ic_python.png"/>
          <p:cNvPicPr>
            <a:picLocks noChangeAspect="1"/>
          </p:cNvPicPr>
          <p:nvPr/>
        </p:nvPicPr>
        <p:blipFill>
          <a:blip r:embed="rId4"/>
          <a:stretch>
            <a:fillRect/>
          </a:stretch>
        </p:blipFill>
        <p:spPr>
          <a:xfrm>
            <a:off x="2104034" y="1957730"/>
            <a:ext cx="373075" cy="373075"/>
          </a:xfrm>
          <a:prstGeom prst="rect">
            <a:avLst/>
          </a:prstGeom>
        </p:spPr>
      </p:pic>
      <p:sp>
        <p:nvSpPr>
          <p:cNvPr id="8" name="Text 4"/>
          <p:cNvSpPr/>
          <p:nvPr/>
        </p:nvSpPr>
        <p:spPr>
          <a:xfrm>
            <a:off x="685800" y="2697480"/>
            <a:ext cx="3209544" cy="3200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Python</a:t>
            </a:r>
            <a:endParaRPr lang="en-US" sz="1500" dirty="0"/>
          </a:p>
        </p:txBody>
      </p:sp>
      <p:sp>
        <p:nvSpPr>
          <p:cNvPr id="9" name="Text 5"/>
          <p:cNvSpPr/>
          <p:nvPr/>
        </p:nvSpPr>
        <p:spPr>
          <a:xfrm>
            <a:off x="685800" y="3017520"/>
            <a:ext cx="3209544" cy="411480"/>
          </a:xfrm>
          <a:prstGeom prst="rect">
            <a:avLst/>
          </a:prstGeom>
          <a:noFill/>
          <a:ln/>
        </p:spPr>
        <p:txBody>
          <a:bodyPr wrap="square" rtlCol="0" anchor="ctr"/>
          <a:lstStyle/>
          <a:p>
            <a:pPr marL="0" indent="0" algn="ctr">
              <a:lnSpc>
                <a:spcPct val="110000"/>
              </a:lnSpc>
              <a:buNone/>
            </a:pPr>
            <a:r>
              <a:rPr lang="en-US" sz="1050" dirty="0">
                <a:solidFill>
                  <a:srgbClr val="8F89B8"/>
                </a:solidFill>
                <a:latin typeface="Calibri" pitchFamily="34" charset="0"/>
                <a:ea typeface="Calibri" pitchFamily="34" charset="-122"/>
                <a:cs typeface="Calibri" pitchFamily="34" charset="-120"/>
              </a:rPr>
              <a:t>Core programming language</a:t>
            </a:r>
            <a:endParaRPr lang="en-US" sz="1050" dirty="0"/>
          </a:p>
        </p:txBody>
      </p:sp>
      <p:sp>
        <p:nvSpPr>
          <p:cNvPr id="10" name="Shape 6"/>
          <p:cNvSpPr/>
          <p:nvPr/>
        </p:nvSpPr>
        <p:spPr>
          <a:xfrm>
            <a:off x="4352544" y="1463040"/>
            <a:ext cx="3483864" cy="2057400"/>
          </a:xfrm>
          <a:prstGeom prst="roundRect">
            <a:avLst>
              <a:gd name="adj" fmla="val 5333"/>
            </a:avLst>
          </a:prstGeom>
          <a:solidFill>
            <a:srgbClr val="1E1A3A"/>
          </a:solidFill>
          <a:ln/>
          <a:effectLst>
            <a:outerShdw blurRad="127000" dist="38100" dir="5400000" algn="bl" rotWithShape="0">
              <a:srgbClr val="000000">
                <a:alpha val="35000"/>
              </a:srgbClr>
            </a:outerShdw>
          </a:effectLst>
        </p:spPr>
      </p:sp>
      <p:sp>
        <p:nvSpPr>
          <p:cNvPr id="11" name="Shape 7"/>
          <p:cNvSpPr/>
          <p:nvPr/>
        </p:nvSpPr>
        <p:spPr>
          <a:xfrm>
            <a:off x="5705856" y="1755648"/>
            <a:ext cx="777240" cy="777240"/>
          </a:xfrm>
          <a:prstGeom prst="ellipse">
            <a:avLst/>
          </a:prstGeom>
          <a:solidFill>
            <a:srgbClr val="9333EA"/>
          </a:solidFill>
          <a:ln/>
          <a:effectLst>
            <a:outerShdw blurRad="101600" dist="38100" dir="5400000" algn="bl" rotWithShape="0">
              <a:srgbClr val="000000">
                <a:alpha val="40000"/>
              </a:srgbClr>
            </a:outerShdw>
          </a:effectLst>
        </p:spPr>
      </p:sp>
      <p:pic>
        <p:nvPicPr>
          <p:cNvPr id="12" name="Image 2" descr="ic_django.png"/>
          <p:cNvPicPr>
            <a:picLocks noChangeAspect="1"/>
          </p:cNvPicPr>
          <p:nvPr/>
        </p:nvPicPr>
        <p:blipFill>
          <a:blip r:embed="rId5"/>
          <a:stretch>
            <a:fillRect/>
          </a:stretch>
        </p:blipFill>
        <p:spPr>
          <a:xfrm>
            <a:off x="5907938" y="1957730"/>
            <a:ext cx="373075" cy="373075"/>
          </a:xfrm>
          <a:prstGeom prst="rect">
            <a:avLst/>
          </a:prstGeom>
        </p:spPr>
      </p:pic>
      <p:sp>
        <p:nvSpPr>
          <p:cNvPr id="13" name="Text 8"/>
          <p:cNvSpPr/>
          <p:nvPr/>
        </p:nvSpPr>
        <p:spPr>
          <a:xfrm>
            <a:off x="4489704" y="2697480"/>
            <a:ext cx="3209544" cy="3200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Django </a:t>
            </a:r>
            <a:endParaRPr lang="en-US" sz="1500" dirty="0"/>
          </a:p>
        </p:txBody>
      </p:sp>
      <p:sp>
        <p:nvSpPr>
          <p:cNvPr id="14" name="Text 9"/>
          <p:cNvSpPr/>
          <p:nvPr/>
        </p:nvSpPr>
        <p:spPr>
          <a:xfrm>
            <a:off x="4489704" y="3017520"/>
            <a:ext cx="3209544" cy="411480"/>
          </a:xfrm>
          <a:prstGeom prst="rect">
            <a:avLst/>
          </a:prstGeom>
          <a:noFill/>
          <a:ln/>
        </p:spPr>
        <p:txBody>
          <a:bodyPr wrap="square" rtlCol="0" anchor="ctr"/>
          <a:lstStyle/>
          <a:p>
            <a:pPr marL="0" indent="0" algn="ctr">
              <a:lnSpc>
                <a:spcPct val="110000"/>
              </a:lnSpc>
              <a:buNone/>
            </a:pPr>
            <a:r>
              <a:rPr lang="en-US" sz="1050" dirty="0">
                <a:solidFill>
                  <a:srgbClr val="8F89B8"/>
                </a:solidFill>
                <a:latin typeface="Calibri" pitchFamily="34" charset="0"/>
                <a:ea typeface="Calibri" pitchFamily="34" charset="-122"/>
                <a:cs typeface="Calibri" pitchFamily="34" charset="-120"/>
              </a:rPr>
              <a:t>Backend web framework</a:t>
            </a:r>
            <a:endParaRPr lang="en-US" sz="1050" dirty="0"/>
          </a:p>
        </p:txBody>
      </p:sp>
      <p:sp>
        <p:nvSpPr>
          <p:cNvPr id="15" name="Shape 10"/>
          <p:cNvSpPr/>
          <p:nvPr/>
        </p:nvSpPr>
        <p:spPr>
          <a:xfrm>
            <a:off x="8156448" y="1463040"/>
            <a:ext cx="3483864" cy="2057400"/>
          </a:xfrm>
          <a:prstGeom prst="roundRect">
            <a:avLst>
              <a:gd name="adj" fmla="val 5333"/>
            </a:avLst>
          </a:prstGeom>
          <a:solidFill>
            <a:srgbClr val="1E1A3A"/>
          </a:solidFill>
          <a:ln/>
          <a:effectLst>
            <a:outerShdw blurRad="127000" dist="38100" dir="5400000" algn="bl" rotWithShape="0">
              <a:srgbClr val="000000">
                <a:alpha val="35000"/>
              </a:srgbClr>
            </a:outerShdw>
          </a:effectLst>
        </p:spPr>
      </p:sp>
      <p:sp>
        <p:nvSpPr>
          <p:cNvPr id="16" name="Shape 11"/>
          <p:cNvSpPr/>
          <p:nvPr/>
        </p:nvSpPr>
        <p:spPr>
          <a:xfrm>
            <a:off x="9509760" y="1755648"/>
            <a:ext cx="777240" cy="777240"/>
          </a:xfrm>
          <a:prstGeom prst="ellipse">
            <a:avLst/>
          </a:prstGeom>
          <a:solidFill>
            <a:srgbClr val="4338CA"/>
          </a:solidFill>
          <a:ln/>
          <a:effectLst>
            <a:outerShdw blurRad="101600" dist="38100" dir="5400000" algn="bl" rotWithShape="0">
              <a:srgbClr val="000000">
                <a:alpha val="40000"/>
              </a:srgbClr>
            </a:outerShdw>
          </a:effectLst>
        </p:spPr>
      </p:sp>
      <p:pic>
        <p:nvPicPr>
          <p:cNvPr id="17" name="Image 3" descr="ic_postgres.png"/>
          <p:cNvPicPr>
            <a:picLocks noChangeAspect="1"/>
          </p:cNvPicPr>
          <p:nvPr/>
        </p:nvPicPr>
        <p:blipFill>
          <a:blip r:embed="rId6"/>
          <a:stretch>
            <a:fillRect/>
          </a:stretch>
        </p:blipFill>
        <p:spPr>
          <a:xfrm>
            <a:off x="9711842" y="1957730"/>
            <a:ext cx="373075" cy="373075"/>
          </a:xfrm>
          <a:prstGeom prst="rect">
            <a:avLst/>
          </a:prstGeom>
        </p:spPr>
      </p:pic>
      <p:sp>
        <p:nvSpPr>
          <p:cNvPr id="18" name="Text 12"/>
          <p:cNvSpPr/>
          <p:nvPr/>
        </p:nvSpPr>
        <p:spPr>
          <a:xfrm>
            <a:off x="8293608" y="2697480"/>
            <a:ext cx="3209544" cy="3200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PostgreSQL</a:t>
            </a:r>
            <a:endParaRPr lang="en-US" sz="1500" dirty="0"/>
          </a:p>
        </p:txBody>
      </p:sp>
      <p:sp>
        <p:nvSpPr>
          <p:cNvPr id="19" name="Text 13"/>
          <p:cNvSpPr/>
          <p:nvPr/>
        </p:nvSpPr>
        <p:spPr>
          <a:xfrm>
            <a:off x="8293608" y="3017520"/>
            <a:ext cx="3209544" cy="411480"/>
          </a:xfrm>
          <a:prstGeom prst="rect">
            <a:avLst/>
          </a:prstGeom>
          <a:noFill/>
          <a:ln/>
        </p:spPr>
        <p:txBody>
          <a:bodyPr wrap="square" rtlCol="0" anchor="ctr"/>
          <a:lstStyle/>
          <a:p>
            <a:pPr marL="0" indent="0" algn="ctr">
              <a:lnSpc>
                <a:spcPct val="110000"/>
              </a:lnSpc>
              <a:buNone/>
            </a:pPr>
            <a:r>
              <a:rPr lang="en-US" sz="1050" dirty="0">
                <a:solidFill>
                  <a:srgbClr val="8F89B8"/>
                </a:solidFill>
                <a:latin typeface="Calibri" pitchFamily="34" charset="0"/>
                <a:ea typeface="Calibri" pitchFamily="34" charset="-122"/>
                <a:cs typeface="Calibri" pitchFamily="34" charset="-120"/>
              </a:rPr>
              <a:t>Relational database</a:t>
            </a:r>
            <a:endParaRPr lang="en-US" sz="1050" dirty="0"/>
          </a:p>
        </p:txBody>
      </p:sp>
      <p:sp>
        <p:nvSpPr>
          <p:cNvPr id="20" name="Shape 14"/>
          <p:cNvSpPr/>
          <p:nvPr/>
        </p:nvSpPr>
        <p:spPr>
          <a:xfrm>
            <a:off x="548640" y="3840480"/>
            <a:ext cx="3483864" cy="2057400"/>
          </a:xfrm>
          <a:prstGeom prst="roundRect">
            <a:avLst>
              <a:gd name="adj" fmla="val 5333"/>
            </a:avLst>
          </a:prstGeom>
          <a:solidFill>
            <a:srgbClr val="1E1A3A"/>
          </a:solidFill>
          <a:ln/>
          <a:effectLst>
            <a:outerShdw blurRad="127000" dist="38100" dir="5400000" algn="bl" rotWithShape="0">
              <a:srgbClr val="000000">
                <a:alpha val="35000"/>
              </a:srgbClr>
            </a:outerShdw>
          </a:effectLst>
        </p:spPr>
      </p:sp>
      <p:sp>
        <p:nvSpPr>
          <p:cNvPr id="21" name="Shape 15"/>
          <p:cNvSpPr/>
          <p:nvPr/>
        </p:nvSpPr>
        <p:spPr>
          <a:xfrm>
            <a:off x="1901952" y="4133088"/>
            <a:ext cx="777240" cy="777240"/>
          </a:xfrm>
          <a:prstGeom prst="ellipse">
            <a:avLst/>
          </a:prstGeom>
          <a:solidFill>
            <a:srgbClr val="EC4899"/>
          </a:solidFill>
          <a:ln/>
          <a:effectLst>
            <a:outerShdw blurRad="101600" dist="38100" dir="5400000" algn="bl" rotWithShape="0">
              <a:srgbClr val="000000">
                <a:alpha val="40000"/>
              </a:srgbClr>
            </a:outerShdw>
          </a:effectLst>
        </p:spPr>
      </p:sp>
      <p:pic>
        <p:nvPicPr>
          <p:cNvPr id="22" name="Image 4" descr="ic_gemini.png"/>
          <p:cNvPicPr>
            <a:picLocks noChangeAspect="1"/>
          </p:cNvPicPr>
          <p:nvPr/>
        </p:nvPicPr>
        <p:blipFill>
          <a:blip r:embed="rId7"/>
          <a:stretch>
            <a:fillRect/>
          </a:stretch>
        </p:blipFill>
        <p:spPr>
          <a:xfrm>
            <a:off x="2104034" y="4335170"/>
            <a:ext cx="373075" cy="373075"/>
          </a:xfrm>
          <a:prstGeom prst="rect">
            <a:avLst/>
          </a:prstGeom>
        </p:spPr>
      </p:pic>
      <p:sp>
        <p:nvSpPr>
          <p:cNvPr id="23" name="Text 16"/>
          <p:cNvSpPr/>
          <p:nvPr/>
        </p:nvSpPr>
        <p:spPr>
          <a:xfrm>
            <a:off x="685800" y="5074920"/>
            <a:ext cx="3209544" cy="3200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Gemini AI</a:t>
            </a:r>
            <a:endParaRPr lang="en-US" sz="1500" dirty="0"/>
          </a:p>
        </p:txBody>
      </p:sp>
      <p:sp>
        <p:nvSpPr>
          <p:cNvPr id="24" name="Text 17"/>
          <p:cNvSpPr/>
          <p:nvPr/>
        </p:nvSpPr>
        <p:spPr>
          <a:xfrm>
            <a:off x="685800" y="5394960"/>
            <a:ext cx="3209544" cy="411480"/>
          </a:xfrm>
          <a:prstGeom prst="rect">
            <a:avLst/>
          </a:prstGeom>
          <a:noFill/>
          <a:ln/>
        </p:spPr>
        <p:txBody>
          <a:bodyPr wrap="square" rtlCol="0" anchor="ctr"/>
          <a:lstStyle/>
          <a:p>
            <a:pPr marL="0" indent="0" algn="ctr">
              <a:lnSpc>
                <a:spcPct val="110000"/>
              </a:lnSpc>
              <a:buNone/>
            </a:pPr>
            <a:r>
              <a:rPr lang="en-US" sz="1050" dirty="0">
                <a:solidFill>
                  <a:srgbClr val="8F89B8"/>
                </a:solidFill>
                <a:latin typeface="Calibri" pitchFamily="34" charset="0"/>
                <a:ea typeface="Calibri" pitchFamily="34" charset="-122"/>
                <a:cs typeface="Calibri" pitchFamily="34" charset="-120"/>
              </a:rPr>
              <a:t>Google's generative AI</a:t>
            </a:r>
            <a:endParaRPr lang="en-US" sz="1050" dirty="0"/>
          </a:p>
        </p:txBody>
      </p:sp>
      <p:sp>
        <p:nvSpPr>
          <p:cNvPr id="25" name="Shape 18"/>
          <p:cNvSpPr/>
          <p:nvPr/>
        </p:nvSpPr>
        <p:spPr>
          <a:xfrm>
            <a:off x="4352544" y="3840480"/>
            <a:ext cx="3483864" cy="2057400"/>
          </a:xfrm>
          <a:prstGeom prst="roundRect">
            <a:avLst>
              <a:gd name="adj" fmla="val 5333"/>
            </a:avLst>
          </a:prstGeom>
          <a:solidFill>
            <a:srgbClr val="1E1A3A"/>
          </a:solidFill>
          <a:ln/>
          <a:effectLst>
            <a:outerShdw blurRad="127000" dist="38100" dir="5400000" algn="bl" rotWithShape="0">
              <a:srgbClr val="000000">
                <a:alpha val="35000"/>
              </a:srgbClr>
            </a:outerShdw>
          </a:effectLst>
        </p:spPr>
      </p:sp>
      <p:sp>
        <p:nvSpPr>
          <p:cNvPr id="26" name="Shape 19"/>
          <p:cNvSpPr/>
          <p:nvPr/>
        </p:nvSpPr>
        <p:spPr>
          <a:xfrm>
            <a:off x="5705856" y="4133088"/>
            <a:ext cx="777240" cy="777240"/>
          </a:xfrm>
          <a:prstGeom prst="ellipse">
            <a:avLst/>
          </a:prstGeom>
          <a:solidFill>
            <a:srgbClr val="A855F7"/>
          </a:solidFill>
          <a:ln/>
          <a:effectLst>
            <a:outerShdw blurRad="101600" dist="38100" dir="5400000" algn="bl" rotWithShape="0">
              <a:srgbClr val="000000">
                <a:alpha val="40000"/>
              </a:srgbClr>
            </a:outerShdw>
          </a:effectLst>
        </p:spPr>
      </p:sp>
      <p:pic>
        <p:nvPicPr>
          <p:cNvPr id="27" name="Image 5" descr="ic_bootstrap.png"/>
          <p:cNvPicPr>
            <a:picLocks noChangeAspect="1"/>
          </p:cNvPicPr>
          <p:nvPr/>
        </p:nvPicPr>
        <p:blipFill>
          <a:blip r:embed="rId8"/>
          <a:stretch>
            <a:fillRect/>
          </a:stretch>
        </p:blipFill>
        <p:spPr>
          <a:xfrm>
            <a:off x="5907938" y="4335170"/>
            <a:ext cx="373075" cy="373075"/>
          </a:xfrm>
          <a:prstGeom prst="rect">
            <a:avLst/>
          </a:prstGeom>
        </p:spPr>
      </p:pic>
      <p:sp>
        <p:nvSpPr>
          <p:cNvPr id="28" name="Text 20"/>
          <p:cNvSpPr/>
          <p:nvPr/>
        </p:nvSpPr>
        <p:spPr>
          <a:xfrm>
            <a:off x="4489704" y="5074920"/>
            <a:ext cx="3209544" cy="3200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Bootstrap</a:t>
            </a:r>
            <a:endParaRPr lang="en-US" sz="1500" dirty="0"/>
          </a:p>
        </p:txBody>
      </p:sp>
      <p:sp>
        <p:nvSpPr>
          <p:cNvPr id="29" name="Text 21"/>
          <p:cNvSpPr/>
          <p:nvPr/>
        </p:nvSpPr>
        <p:spPr>
          <a:xfrm>
            <a:off x="4489704" y="5394960"/>
            <a:ext cx="3209544" cy="411480"/>
          </a:xfrm>
          <a:prstGeom prst="rect">
            <a:avLst/>
          </a:prstGeom>
          <a:noFill/>
          <a:ln/>
        </p:spPr>
        <p:txBody>
          <a:bodyPr wrap="square" rtlCol="0" anchor="ctr"/>
          <a:lstStyle/>
          <a:p>
            <a:pPr marL="0" indent="0" algn="ctr">
              <a:lnSpc>
                <a:spcPct val="110000"/>
              </a:lnSpc>
              <a:buNone/>
            </a:pPr>
            <a:r>
              <a:rPr lang="en-US" sz="1050" dirty="0">
                <a:solidFill>
                  <a:srgbClr val="8F89B8"/>
                </a:solidFill>
                <a:latin typeface="Calibri" pitchFamily="34" charset="0"/>
                <a:ea typeface="Calibri" pitchFamily="34" charset="-122"/>
                <a:cs typeface="Calibri" pitchFamily="34" charset="-120"/>
              </a:rPr>
              <a:t>Responsive UI styling</a:t>
            </a:r>
            <a:endParaRPr lang="en-US" sz="1050" dirty="0"/>
          </a:p>
        </p:txBody>
      </p:sp>
      <p:sp>
        <p:nvSpPr>
          <p:cNvPr id="30" name="Shape 22"/>
          <p:cNvSpPr/>
          <p:nvPr/>
        </p:nvSpPr>
        <p:spPr>
          <a:xfrm>
            <a:off x="8156448" y="3840480"/>
            <a:ext cx="3483864" cy="2057400"/>
          </a:xfrm>
          <a:prstGeom prst="roundRect">
            <a:avLst>
              <a:gd name="adj" fmla="val 5333"/>
            </a:avLst>
          </a:prstGeom>
          <a:solidFill>
            <a:srgbClr val="1E1A3A"/>
          </a:solidFill>
          <a:ln/>
          <a:effectLst>
            <a:outerShdw blurRad="127000" dist="38100" dir="5400000" algn="bl" rotWithShape="0">
              <a:srgbClr val="000000">
                <a:alpha val="35000"/>
              </a:srgbClr>
            </a:outerShdw>
          </a:effectLst>
        </p:spPr>
      </p:sp>
      <p:sp>
        <p:nvSpPr>
          <p:cNvPr id="31" name="Shape 23"/>
          <p:cNvSpPr/>
          <p:nvPr/>
        </p:nvSpPr>
        <p:spPr>
          <a:xfrm>
            <a:off x="9509760" y="4133088"/>
            <a:ext cx="777240" cy="777240"/>
          </a:xfrm>
          <a:prstGeom prst="ellipse">
            <a:avLst/>
          </a:prstGeom>
          <a:solidFill>
            <a:srgbClr val="6366F1"/>
          </a:solidFill>
          <a:ln/>
          <a:effectLst>
            <a:outerShdw blurRad="101600" dist="38100" dir="5400000" algn="bl" rotWithShape="0">
              <a:srgbClr val="000000">
                <a:alpha val="40000"/>
              </a:srgbClr>
            </a:outerShdw>
          </a:effectLst>
        </p:spPr>
      </p:sp>
      <p:pic>
        <p:nvPicPr>
          <p:cNvPr id="32" name="Image 6" descr="ic_chartjs.png"/>
          <p:cNvPicPr>
            <a:picLocks noChangeAspect="1"/>
          </p:cNvPicPr>
          <p:nvPr/>
        </p:nvPicPr>
        <p:blipFill>
          <a:blip r:embed="rId9"/>
          <a:stretch>
            <a:fillRect/>
          </a:stretch>
        </p:blipFill>
        <p:spPr>
          <a:xfrm>
            <a:off x="9711842" y="4335170"/>
            <a:ext cx="373075" cy="373075"/>
          </a:xfrm>
          <a:prstGeom prst="rect">
            <a:avLst/>
          </a:prstGeom>
        </p:spPr>
      </p:pic>
      <p:sp>
        <p:nvSpPr>
          <p:cNvPr id="33" name="Text 24"/>
          <p:cNvSpPr/>
          <p:nvPr/>
        </p:nvSpPr>
        <p:spPr>
          <a:xfrm>
            <a:off x="8293608" y="5074920"/>
            <a:ext cx="3209544" cy="3200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Chart.js</a:t>
            </a:r>
            <a:endParaRPr lang="en-US" sz="1500" dirty="0"/>
          </a:p>
        </p:txBody>
      </p:sp>
      <p:sp>
        <p:nvSpPr>
          <p:cNvPr id="34" name="Text 25"/>
          <p:cNvSpPr/>
          <p:nvPr/>
        </p:nvSpPr>
        <p:spPr>
          <a:xfrm>
            <a:off x="8293608" y="5394960"/>
            <a:ext cx="3209544" cy="411480"/>
          </a:xfrm>
          <a:prstGeom prst="rect">
            <a:avLst/>
          </a:prstGeom>
          <a:noFill/>
          <a:ln/>
        </p:spPr>
        <p:txBody>
          <a:bodyPr wrap="square" rtlCol="0" anchor="ctr"/>
          <a:lstStyle/>
          <a:p>
            <a:pPr marL="0" indent="0" algn="ctr">
              <a:lnSpc>
                <a:spcPct val="110000"/>
              </a:lnSpc>
              <a:buNone/>
            </a:pPr>
            <a:r>
              <a:rPr lang="en-US" sz="1050" dirty="0">
                <a:solidFill>
                  <a:srgbClr val="8F89B8"/>
                </a:solidFill>
                <a:latin typeface="Calibri" pitchFamily="34" charset="0"/>
                <a:ea typeface="Calibri" pitchFamily="34" charset="-122"/>
                <a:cs typeface="Calibri" pitchFamily="34" charset="-120"/>
              </a:rPr>
              <a:t>Interactive dashboard charts</a:t>
            </a:r>
            <a:endParaRPr lang="en-US" sz="1050" dirty="0"/>
          </a:p>
        </p:txBody>
      </p:sp>
      <p:sp>
        <p:nvSpPr>
          <p:cNvPr id="36" name="Text 26"/>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37" name="Text 27"/>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ARCHITECTURE</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Django MVT Architecture</a:t>
            </a:r>
            <a:endParaRPr lang="en-US" sz="3200" dirty="0"/>
          </a:p>
        </p:txBody>
      </p:sp>
      <p:sp>
        <p:nvSpPr>
          <p:cNvPr id="5" name="Text 2"/>
          <p:cNvSpPr/>
          <p:nvPr/>
        </p:nvSpPr>
        <p:spPr>
          <a:xfrm>
            <a:off x="548640" y="1298448"/>
            <a:ext cx="11064240" cy="594360"/>
          </a:xfrm>
          <a:prstGeom prst="rect">
            <a:avLst/>
          </a:prstGeom>
          <a:noFill/>
          <a:ln/>
        </p:spPr>
        <p:txBody>
          <a:bodyPr wrap="square" rtlCol="0" anchor="ctr"/>
          <a:lstStyle/>
          <a:p>
            <a:pPr marL="0" indent="0">
              <a:lnSpc>
                <a:spcPct val="120000"/>
              </a:lnSpc>
              <a:buNone/>
            </a:pPr>
            <a:r>
              <a:rPr lang="en-US" sz="1300" dirty="0">
                <a:solidFill>
                  <a:srgbClr val="B7B2D6"/>
                </a:solidFill>
                <a:latin typeface="Calibri" pitchFamily="34" charset="0"/>
                <a:ea typeface="Calibri" pitchFamily="34" charset="-122"/>
                <a:cs typeface="Calibri" pitchFamily="34" charset="-120"/>
              </a:rPr>
              <a:t>Mind Nest follows Django's Model-View-Template pattern: the Model manages data, the View holds business logic, and the Template renders the interface — keeping the codebase clean and maintainable.</a:t>
            </a:r>
            <a:endParaRPr lang="en-US" sz="1300" dirty="0"/>
          </a:p>
        </p:txBody>
      </p:sp>
      <p:sp>
        <p:nvSpPr>
          <p:cNvPr id="6" name="Shape 3"/>
          <p:cNvSpPr/>
          <p:nvPr/>
        </p:nvSpPr>
        <p:spPr>
          <a:xfrm>
            <a:off x="548640" y="2331720"/>
            <a:ext cx="2013509" cy="1965960"/>
          </a:xfrm>
          <a:prstGeom prst="roundRect">
            <a:avLst>
              <a:gd name="adj" fmla="val 5581"/>
            </a:avLst>
          </a:prstGeom>
          <a:solidFill>
            <a:srgbClr val="242050"/>
          </a:solidFill>
          <a:ln/>
          <a:effectLst>
            <a:outerShdw blurRad="127000" dist="38100" dir="5400000" algn="bl" rotWithShape="0">
              <a:srgbClr val="000000">
                <a:alpha val="35000"/>
              </a:srgbClr>
            </a:outerShdw>
          </a:effectLst>
        </p:spPr>
      </p:sp>
      <p:sp>
        <p:nvSpPr>
          <p:cNvPr id="7" name="Shape 4"/>
          <p:cNvSpPr/>
          <p:nvPr/>
        </p:nvSpPr>
        <p:spPr>
          <a:xfrm>
            <a:off x="1299362" y="2532888"/>
            <a:ext cx="512064" cy="512064"/>
          </a:xfrm>
          <a:prstGeom prst="ellipse">
            <a:avLst/>
          </a:prstGeom>
          <a:solidFill>
            <a:srgbClr val="6366F1"/>
          </a:solidFill>
          <a:ln/>
        </p:spPr>
      </p:sp>
      <p:sp>
        <p:nvSpPr>
          <p:cNvPr id="8" name="Text 5"/>
          <p:cNvSpPr/>
          <p:nvPr/>
        </p:nvSpPr>
        <p:spPr>
          <a:xfrm>
            <a:off x="1299362" y="2532888"/>
            <a:ext cx="512064" cy="512064"/>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6"/>
          <p:cNvSpPr/>
          <p:nvPr/>
        </p:nvSpPr>
        <p:spPr>
          <a:xfrm>
            <a:off x="658368" y="3200400"/>
            <a:ext cx="1794053" cy="457200"/>
          </a:xfrm>
          <a:prstGeom prst="rect">
            <a:avLst/>
          </a:prstGeom>
          <a:noFill/>
          <a:ln/>
        </p:spPr>
        <p:txBody>
          <a:bodyPr wrap="square" rtlCol="0" anchor="ctr"/>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User Request</a:t>
            </a:r>
            <a:endParaRPr lang="en-US" sz="1250" dirty="0"/>
          </a:p>
        </p:txBody>
      </p:sp>
      <p:sp>
        <p:nvSpPr>
          <p:cNvPr id="10" name="Text 7"/>
          <p:cNvSpPr/>
          <p:nvPr/>
        </p:nvSpPr>
        <p:spPr>
          <a:xfrm>
            <a:off x="658368" y="3630168"/>
            <a:ext cx="1794053" cy="594360"/>
          </a:xfrm>
          <a:prstGeom prst="rect">
            <a:avLst/>
          </a:prstGeom>
          <a:noFill/>
          <a:ln/>
        </p:spPr>
        <p:txBody>
          <a:bodyPr wrap="square" rtlCol="0" anchor="ctr"/>
          <a:lstStyle/>
          <a:p>
            <a:pPr marL="0" indent="0" algn="ctr">
              <a:lnSpc>
                <a:spcPct val="110000"/>
              </a:lnSpc>
              <a:buNone/>
            </a:pPr>
            <a:r>
              <a:rPr lang="en-US" sz="950" dirty="0">
                <a:solidFill>
                  <a:srgbClr val="8F89B8"/>
                </a:solidFill>
                <a:latin typeface="Calibri" pitchFamily="34" charset="0"/>
                <a:ea typeface="Calibri" pitchFamily="34" charset="-122"/>
                <a:cs typeface="Calibri" pitchFamily="34" charset="-120"/>
              </a:rPr>
              <a:t>Browser sends an HTTP request (e.g. /planner/)</a:t>
            </a:r>
            <a:endParaRPr lang="en-US" sz="950" dirty="0"/>
          </a:p>
        </p:txBody>
      </p:sp>
      <p:sp>
        <p:nvSpPr>
          <p:cNvPr id="11" name="Text 8"/>
          <p:cNvSpPr/>
          <p:nvPr/>
        </p:nvSpPr>
        <p:spPr>
          <a:xfrm>
            <a:off x="2562149" y="3017520"/>
            <a:ext cx="256032" cy="457200"/>
          </a:xfrm>
          <a:prstGeom prst="rect">
            <a:avLst/>
          </a:prstGeom>
          <a:noFill/>
          <a:ln/>
        </p:spPr>
        <p:txBody>
          <a:bodyPr wrap="square" rtlCol="0" anchor="ctr"/>
          <a:lstStyle/>
          <a:p>
            <a:pPr marL="0" indent="0" algn="ctr">
              <a:buNone/>
            </a:pPr>
            <a:r>
              <a:rPr lang="en-US" sz="2000" b="1" dirty="0">
                <a:solidFill>
                  <a:srgbClr val="A855F7"/>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2818181" y="2331720"/>
            <a:ext cx="2013509" cy="1965960"/>
          </a:xfrm>
          <a:prstGeom prst="roundRect">
            <a:avLst>
              <a:gd name="adj" fmla="val 5581"/>
            </a:avLst>
          </a:prstGeom>
          <a:solidFill>
            <a:srgbClr val="242050"/>
          </a:solidFill>
          <a:ln/>
          <a:effectLst>
            <a:outerShdw blurRad="127000" dist="38100" dir="5400000" algn="bl" rotWithShape="0">
              <a:srgbClr val="000000">
                <a:alpha val="35000"/>
              </a:srgbClr>
            </a:outerShdw>
          </a:effectLst>
        </p:spPr>
      </p:sp>
      <p:sp>
        <p:nvSpPr>
          <p:cNvPr id="13" name="Shape 10"/>
          <p:cNvSpPr/>
          <p:nvPr/>
        </p:nvSpPr>
        <p:spPr>
          <a:xfrm>
            <a:off x="3568903" y="2532888"/>
            <a:ext cx="512064" cy="512064"/>
          </a:xfrm>
          <a:prstGeom prst="ellipse">
            <a:avLst/>
          </a:prstGeom>
          <a:solidFill>
            <a:srgbClr val="9333EA"/>
          </a:solidFill>
          <a:ln/>
        </p:spPr>
      </p:sp>
      <p:sp>
        <p:nvSpPr>
          <p:cNvPr id="14" name="Text 11"/>
          <p:cNvSpPr/>
          <p:nvPr/>
        </p:nvSpPr>
        <p:spPr>
          <a:xfrm>
            <a:off x="3568903" y="2532888"/>
            <a:ext cx="512064" cy="512064"/>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2"/>
          <p:cNvSpPr/>
          <p:nvPr/>
        </p:nvSpPr>
        <p:spPr>
          <a:xfrm>
            <a:off x="2927909" y="3200400"/>
            <a:ext cx="1794053" cy="457200"/>
          </a:xfrm>
          <a:prstGeom prst="rect">
            <a:avLst/>
          </a:prstGeom>
          <a:noFill/>
          <a:ln/>
        </p:spPr>
        <p:txBody>
          <a:bodyPr wrap="square" rtlCol="0" anchor="ctr"/>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URL Dispatcher</a:t>
            </a:r>
            <a:endParaRPr lang="en-US" sz="1250" dirty="0"/>
          </a:p>
        </p:txBody>
      </p:sp>
      <p:sp>
        <p:nvSpPr>
          <p:cNvPr id="16" name="Text 13"/>
          <p:cNvSpPr/>
          <p:nvPr/>
        </p:nvSpPr>
        <p:spPr>
          <a:xfrm>
            <a:off x="2927909" y="3630168"/>
            <a:ext cx="1794053" cy="594360"/>
          </a:xfrm>
          <a:prstGeom prst="rect">
            <a:avLst/>
          </a:prstGeom>
          <a:noFill/>
          <a:ln/>
        </p:spPr>
        <p:txBody>
          <a:bodyPr wrap="square" rtlCol="0" anchor="ctr"/>
          <a:lstStyle/>
          <a:p>
            <a:pPr marL="0" indent="0" algn="ctr">
              <a:lnSpc>
                <a:spcPct val="110000"/>
              </a:lnSpc>
              <a:buNone/>
            </a:pPr>
            <a:r>
              <a:rPr lang="en-US" sz="950" dirty="0">
                <a:solidFill>
                  <a:srgbClr val="8F89B8"/>
                </a:solidFill>
                <a:latin typeface="Calibri" pitchFamily="34" charset="0"/>
                <a:ea typeface="Calibri" pitchFamily="34" charset="-122"/>
                <a:cs typeface="Calibri" pitchFamily="34" charset="-120"/>
              </a:rPr>
              <a:t>urls.py routes the request to a View</a:t>
            </a:r>
            <a:endParaRPr lang="en-US" sz="950" dirty="0"/>
          </a:p>
        </p:txBody>
      </p:sp>
      <p:sp>
        <p:nvSpPr>
          <p:cNvPr id="17" name="Text 14"/>
          <p:cNvSpPr/>
          <p:nvPr/>
        </p:nvSpPr>
        <p:spPr>
          <a:xfrm>
            <a:off x="4831690" y="3017520"/>
            <a:ext cx="256032" cy="457200"/>
          </a:xfrm>
          <a:prstGeom prst="rect">
            <a:avLst/>
          </a:prstGeom>
          <a:noFill/>
          <a:ln/>
        </p:spPr>
        <p:txBody>
          <a:bodyPr wrap="square" rtlCol="0" anchor="ctr"/>
          <a:lstStyle/>
          <a:p>
            <a:pPr marL="0" indent="0" algn="ctr">
              <a:buNone/>
            </a:pPr>
            <a:r>
              <a:rPr lang="en-US" sz="2000" b="1" dirty="0">
                <a:solidFill>
                  <a:srgbClr val="A855F7"/>
                </a:solidFill>
                <a:latin typeface="Calibri" pitchFamily="34" charset="0"/>
                <a:ea typeface="Calibri" pitchFamily="34" charset="-122"/>
                <a:cs typeface="Calibri" pitchFamily="34" charset="-120"/>
              </a:rPr>
              <a:t>→</a:t>
            </a:r>
            <a:endParaRPr lang="en-US" sz="2000" dirty="0"/>
          </a:p>
        </p:txBody>
      </p:sp>
      <p:sp>
        <p:nvSpPr>
          <p:cNvPr id="18" name="Shape 15"/>
          <p:cNvSpPr/>
          <p:nvPr/>
        </p:nvSpPr>
        <p:spPr>
          <a:xfrm>
            <a:off x="5087722" y="2331720"/>
            <a:ext cx="2013509" cy="1965960"/>
          </a:xfrm>
          <a:prstGeom prst="roundRect">
            <a:avLst>
              <a:gd name="adj" fmla="val 5581"/>
            </a:avLst>
          </a:prstGeom>
          <a:solidFill>
            <a:srgbClr val="242050"/>
          </a:solidFill>
          <a:ln/>
          <a:effectLst>
            <a:outerShdw blurRad="127000" dist="38100" dir="5400000" algn="bl" rotWithShape="0">
              <a:srgbClr val="000000">
                <a:alpha val="35000"/>
              </a:srgbClr>
            </a:outerShdw>
          </a:effectLst>
        </p:spPr>
      </p:sp>
      <p:sp>
        <p:nvSpPr>
          <p:cNvPr id="19" name="Shape 16"/>
          <p:cNvSpPr/>
          <p:nvPr/>
        </p:nvSpPr>
        <p:spPr>
          <a:xfrm>
            <a:off x="5838444" y="2532888"/>
            <a:ext cx="512064" cy="512064"/>
          </a:xfrm>
          <a:prstGeom prst="ellipse">
            <a:avLst/>
          </a:prstGeom>
          <a:solidFill>
            <a:srgbClr val="4338CA"/>
          </a:solidFill>
          <a:ln/>
        </p:spPr>
      </p:sp>
      <p:sp>
        <p:nvSpPr>
          <p:cNvPr id="20" name="Text 17"/>
          <p:cNvSpPr/>
          <p:nvPr/>
        </p:nvSpPr>
        <p:spPr>
          <a:xfrm>
            <a:off x="5838444" y="2532888"/>
            <a:ext cx="512064" cy="512064"/>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8"/>
          <p:cNvSpPr/>
          <p:nvPr/>
        </p:nvSpPr>
        <p:spPr>
          <a:xfrm>
            <a:off x="5197450" y="3200400"/>
            <a:ext cx="1794053" cy="457200"/>
          </a:xfrm>
          <a:prstGeom prst="rect">
            <a:avLst/>
          </a:prstGeom>
          <a:noFill/>
          <a:ln/>
        </p:spPr>
        <p:txBody>
          <a:bodyPr wrap="square" rtlCol="0" anchor="ctr"/>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Model</a:t>
            </a:r>
            <a:endParaRPr lang="en-US" sz="1250" dirty="0"/>
          </a:p>
        </p:txBody>
      </p:sp>
      <p:sp>
        <p:nvSpPr>
          <p:cNvPr id="22" name="Text 19"/>
          <p:cNvSpPr/>
          <p:nvPr/>
        </p:nvSpPr>
        <p:spPr>
          <a:xfrm>
            <a:off x="5197450" y="3630168"/>
            <a:ext cx="1794053" cy="594360"/>
          </a:xfrm>
          <a:prstGeom prst="rect">
            <a:avLst/>
          </a:prstGeom>
          <a:noFill/>
          <a:ln/>
        </p:spPr>
        <p:txBody>
          <a:bodyPr wrap="square" rtlCol="0" anchor="ctr"/>
          <a:lstStyle/>
          <a:p>
            <a:pPr marL="0" indent="0" algn="ctr">
              <a:lnSpc>
                <a:spcPct val="110000"/>
              </a:lnSpc>
              <a:buNone/>
            </a:pPr>
            <a:r>
              <a:rPr lang="en-US" sz="950" dirty="0">
                <a:solidFill>
                  <a:srgbClr val="8F89B8"/>
                </a:solidFill>
                <a:latin typeface="Calibri" pitchFamily="34" charset="0"/>
                <a:ea typeface="Calibri" pitchFamily="34" charset="-122"/>
                <a:cs typeface="Calibri" pitchFamily="34" charset="-120"/>
              </a:rPr>
              <a:t>Queries PostgreSQL via Django ORM</a:t>
            </a:r>
            <a:endParaRPr lang="en-US" sz="950" dirty="0"/>
          </a:p>
        </p:txBody>
      </p:sp>
      <p:sp>
        <p:nvSpPr>
          <p:cNvPr id="23" name="Text 20"/>
          <p:cNvSpPr/>
          <p:nvPr/>
        </p:nvSpPr>
        <p:spPr>
          <a:xfrm>
            <a:off x="7101230" y="3017520"/>
            <a:ext cx="256032" cy="457200"/>
          </a:xfrm>
          <a:prstGeom prst="rect">
            <a:avLst/>
          </a:prstGeom>
          <a:noFill/>
          <a:ln/>
        </p:spPr>
        <p:txBody>
          <a:bodyPr wrap="square" rtlCol="0" anchor="ctr"/>
          <a:lstStyle/>
          <a:p>
            <a:pPr marL="0" indent="0" algn="ctr">
              <a:buNone/>
            </a:pPr>
            <a:r>
              <a:rPr lang="en-US" sz="2000" b="1" dirty="0">
                <a:solidFill>
                  <a:srgbClr val="A855F7"/>
                </a:solidFill>
                <a:latin typeface="Calibri" pitchFamily="34" charset="0"/>
                <a:ea typeface="Calibri" pitchFamily="34" charset="-122"/>
                <a:cs typeface="Calibri" pitchFamily="34" charset="-120"/>
              </a:rPr>
              <a:t>→</a:t>
            </a:r>
            <a:endParaRPr lang="en-US" sz="2000" dirty="0"/>
          </a:p>
        </p:txBody>
      </p:sp>
      <p:sp>
        <p:nvSpPr>
          <p:cNvPr id="24" name="Shape 21"/>
          <p:cNvSpPr/>
          <p:nvPr/>
        </p:nvSpPr>
        <p:spPr>
          <a:xfrm>
            <a:off x="7357262" y="2331720"/>
            <a:ext cx="2013509" cy="1965960"/>
          </a:xfrm>
          <a:prstGeom prst="roundRect">
            <a:avLst>
              <a:gd name="adj" fmla="val 5581"/>
            </a:avLst>
          </a:prstGeom>
          <a:solidFill>
            <a:srgbClr val="242050"/>
          </a:solidFill>
          <a:ln/>
          <a:effectLst>
            <a:outerShdw blurRad="127000" dist="38100" dir="5400000" algn="bl" rotWithShape="0">
              <a:srgbClr val="000000">
                <a:alpha val="35000"/>
              </a:srgbClr>
            </a:outerShdw>
          </a:effectLst>
        </p:spPr>
      </p:sp>
      <p:sp>
        <p:nvSpPr>
          <p:cNvPr id="25" name="Shape 22"/>
          <p:cNvSpPr/>
          <p:nvPr/>
        </p:nvSpPr>
        <p:spPr>
          <a:xfrm>
            <a:off x="8107985" y="2532888"/>
            <a:ext cx="512064" cy="512064"/>
          </a:xfrm>
          <a:prstGeom prst="ellipse">
            <a:avLst/>
          </a:prstGeom>
          <a:solidFill>
            <a:srgbClr val="A855F7"/>
          </a:solidFill>
          <a:ln/>
        </p:spPr>
      </p:sp>
      <p:sp>
        <p:nvSpPr>
          <p:cNvPr id="26" name="Text 23"/>
          <p:cNvSpPr/>
          <p:nvPr/>
        </p:nvSpPr>
        <p:spPr>
          <a:xfrm>
            <a:off x="8107985" y="2532888"/>
            <a:ext cx="512064" cy="512064"/>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Text 24"/>
          <p:cNvSpPr/>
          <p:nvPr/>
        </p:nvSpPr>
        <p:spPr>
          <a:xfrm>
            <a:off x="7466990" y="3200400"/>
            <a:ext cx="1794053" cy="457200"/>
          </a:xfrm>
          <a:prstGeom prst="rect">
            <a:avLst/>
          </a:prstGeom>
          <a:noFill/>
          <a:ln/>
        </p:spPr>
        <p:txBody>
          <a:bodyPr wrap="square" rtlCol="0" anchor="ctr"/>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View</a:t>
            </a:r>
            <a:endParaRPr lang="en-US" sz="1250" dirty="0"/>
          </a:p>
        </p:txBody>
      </p:sp>
      <p:sp>
        <p:nvSpPr>
          <p:cNvPr id="28" name="Text 25"/>
          <p:cNvSpPr/>
          <p:nvPr/>
        </p:nvSpPr>
        <p:spPr>
          <a:xfrm>
            <a:off x="7466990" y="3630168"/>
            <a:ext cx="1794053" cy="594360"/>
          </a:xfrm>
          <a:prstGeom prst="rect">
            <a:avLst/>
          </a:prstGeom>
          <a:noFill/>
          <a:ln/>
        </p:spPr>
        <p:txBody>
          <a:bodyPr wrap="square" rtlCol="0" anchor="ctr"/>
          <a:lstStyle/>
          <a:p>
            <a:pPr marL="0" indent="0" algn="ctr">
              <a:lnSpc>
                <a:spcPct val="110000"/>
              </a:lnSpc>
              <a:buNone/>
            </a:pPr>
            <a:r>
              <a:rPr lang="en-US" sz="950" dirty="0">
                <a:solidFill>
                  <a:srgbClr val="8F89B8"/>
                </a:solidFill>
                <a:latin typeface="Calibri" pitchFamily="34" charset="0"/>
                <a:ea typeface="Calibri" pitchFamily="34" charset="-122"/>
                <a:cs typeface="Calibri" pitchFamily="34" charset="-120"/>
              </a:rPr>
              <a:t>Processes logic &amp; prepares context data</a:t>
            </a:r>
            <a:endParaRPr lang="en-US" sz="950" dirty="0"/>
          </a:p>
        </p:txBody>
      </p:sp>
      <p:sp>
        <p:nvSpPr>
          <p:cNvPr id="29" name="Text 26"/>
          <p:cNvSpPr/>
          <p:nvPr/>
        </p:nvSpPr>
        <p:spPr>
          <a:xfrm>
            <a:off x="9370771" y="3017520"/>
            <a:ext cx="256032" cy="457200"/>
          </a:xfrm>
          <a:prstGeom prst="rect">
            <a:avLst/>
          </a:prstGeom>
          <a:noFill/>
          <a:ln/>
        </p:spPr>
        <p:txBody>
          <a:bodyPr wrap="square" rtlCol="0" anchor="ctr"/>
          <a:lstStyle/>
          <a:p>
            <a:pPr marL="0" indent="0" algn="ctr">
              <a:buNone/>
            </a:pPr>
            <a:r>
              <a:rPr lang="en-US" sz="2000" b="1" dirty="0">
                <a:solidFill>
                  <a:srgbClr val="A855F7"/>
                </a:solidFill>
                <a:latin typeface="Calibri" pitchFamily="34" charset="0"/>
                <a:ea typeface="Calibri" pitchFamily="34" charset="-122"/>
                <a:cs typeface="Calibri" pitchFamily="34" charset="-120"/>
              </a:rPr>
              <a:t>→</a:t>
            </a:r>
            <a:endParaRPr lang="en-US" sz="2000" dirty="0"/>
          </a:p>
        </p:txBody>
      </p:sp>
      <p:sp>
        <p:nvSpPr>
          <p:cNvPr id="30" name="Shape 27"/>
          <p:cNvSpPr/>
          <p:nvPr/>
        </p:nvSpPr>
        <p:spPr>
          <a:xfrm>
            <a:off x="9626803" y="2331720"/>
            <a:ext cx="2013509" cy="1965960"/>
          </a:xfrm>
          <a:prstGeom prst="roundRect">
            <a:avLst>
              <a:gd name="adj" fmla="val 5581"/>
            </a:avLst>
          </a:prstGeom>
          <a:solidFill>
            <a:srgbClr val="242050"/>
          </a:solidFill>
          <a:ln/>
          <a:effectLst>
            <a:outerShdw blurRad="127000" dist="38100" dir="5400000" algn="bl" rotWithShape="0">
              <a:srgbClr val="000000">
                <a:alpha val="35000"/>
              </a:srgbClr>
            </a:outerShdw>
          </a:effectLst>
        </p:spPr>
      </p:sp>
      <p:sp>
        <p:nvSpPr>
          <p:cNvPr id="31" name="Shape 28"/>
          <p:cNvSpPr/>
          <p:nvPr/>
        </p:nvSpPr>
        <p:spPr>
          <a:xfrm>
            <a:off x="10377526" y="2532888"/>
            <a:ext cx="512064" cy="512064"/>
          </a:xfrm>
          <a:prstGeom prst="ellipse">
            <a:avLst/>
          </a:prstGeom>
          <a:solidFill>
            <a:srgbClr val="EC4899"/>
          </a:solidFill>
          <a:ln/>
        </p:spPr>
      </p:sp>
      <p:sp>
        <p:nvSpPr>
          <p:cNvPr id="32" name="Text 29"/>
          <p:cNvSpPr/>
          <p:nvPr/>
        </p:nvSpPr>
        <p:spPr>
          <a:xfrm>
            <a:off x="10377526" y="2532888"/>
            <a:ext cx="512064" cy="512064"/>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3" name="Text 30"/>
          <p:cNvSpPr/>
          <p:nvPr/>
        </p:nvSpPr>
        <p:spPr>
          <a:xfrm>
            <a:off x="9736531" y="3200400"/>
            <a:ext cx="1794053" cy="457200"/>
          </a:xfrm>
          <a:prstGeom prst="rect">
            <a:avLst/>
          </a:prstGeom>
          <a:noFill/>
          <a:ln/>
        </p:spPr>
        <p:txBody>
          <a:bodyPr wrap="square" rtlCol="0" anchor="ctr"/>
          <a:lstStyle/>
          <a:p>
            <a:pPr marL="0" indent="0" algn="ctr">
              <a:lnSpc>
                <a:spcPct val="105000"/>
              </a:lnSpc>
              <a:buNone/>
            </a:pPr>
            <a:r>
              <a:rPr lang="en-US" sz="1250" b="1" dirty="0">
                <a:solidFill>
                  <a:srgbClr val="FFFFFF"/>
                </a:solidFill>
                <a:latin typeface="Calibri" pitchFamily="34" charset="0"/>
                <a:ea typeface="Calibri" pitchFamily="34" charset="-122"/>
                <a:cs typeface="Calibri" pitchFamily="34" charset="-120"/>
              </a:rPr>
              <a:t>Template</a:t>
            </a:r>
            <a:endParaRPr lang="en-US" sz="1250" dirty="0"/>
          </a:p>
        </p:txBody>
      </p:sp>
      <p:sp>
        <p:nvSpPr>
          <p:cNvPr id="34" name="Text 31"/>
          <p:cNvSpPr/>
          <p:nvPr/>
        </p:nvSpPr>
        <p:spPr>
          <a:xfrm>
            <a:off x="9736531" y="3630168"/>
            <a:ext cx="1794053" cy="594360"/>
          </a:xfrm>
          <a:prstGeom prst="rect">
            <a:avLst/>
          </a:prstGeom>
          <a:noFill/>
          <a:ln/>
        </p:spPr>
        <p:txBody>
          <a:bodyPr wrap="square" rtlCol="0" anchor="ctr"/>
          <a:lstStyle/>
          <a:p>
            <a:pPr marL="0" indent="0" algn="ctr">
              <a:lnSpc>
                <a:spcPct val="110000"/>
              </a:lnSpc>
              <a:buNone/>
            </a:pPr>
            <a:r>
              <a:rPr lang="en-US" sz="950" dirty="0">
                <a:solidFill>
                  <a:srgbClr val="8F89B8"/>
                </a:solidFill>
                <a:latin typeface="Calibri" pitchFamily="34" charset="0"/>
                <a:ea typeface="Calibri" pitchFamily="34" charset="-122"/>
                <a:cs typeface="Calibri" pitchFamily="34" charset="-120"/>
              </a:rPr>
              <a:t>Renders HTML with the context data</a:t>
            </a:r>
            <a:endParaRPr lang="en-US" sz="950" dirty="0"/>
          </a:p>
        </p:txBody>
      </p:sp>
      <p:sp>
        <p:nvSpPr>
          <p:cNvPr id="35" name="Shape 32"/>
          <p:cNvSpPr/>
          <p:nvPr/>
        </p:nvSpPr>
        <p:spPr>
          <a:xfrm>
            <a:off x="548640" y="4617720"/>
            <a:ext cx="11091672" cy="1600200"/>
          </a:xfrm>
          <a:prstGeom prst="roundRect">
            <a:avLst>
              <a:gd name="adj" fmla="val 6857"/>
            </a:avLst>
          </a:prstGeom>
          <a:solidFill>
            <a:srgbClr val="FFFFFF">
              <a:alpha val="5000"/>
            </a:srgbClr>
          </a:solidFill>
          <a:ln/>
          <a:effectLst>
            <a:outerShdw blurRad="127000" dist="38100" dir="5400000" algn="bl" rotWithShape="0">
              <a:srgbClr val="000000">
                <a:alpha val="35000"/>
              </a:srgbClr>
            </a:outerShdw>
          </a:effectLst>
        </p:spPr>
      </p:sp>
      <p:sp>
        <p:nvSpPr>
          <p:cNvPr id="36" name="Text 33"/>
          <p:cNvSpPr/>
          <p:nvPr/>
        </p:nvSpPr>
        <p:spPr>
          <a:xfrm>
            <a:off x="868680" y="4773168"/>
            <a:ext cx="4572000" cy="320040"/>
          </a:xfrm>
          <a:prstGeom prst="rect">
            <a:avLst/>
          </a:prstGeom>
          <a:noFill/>
          <a:ln/>
        </p:spPr>
        <p:txBody>
          <a:bodyPr wrap="square" rtlCol="0" anchor="ctr"/>
          <a:lstStyle/>
          <a:p>
            <a:pPr marL="0" indent="0">
              <a:buNone/>
            </a:pPr>
            <a:r>
              <a:rPr lang="en-US" sz="1300" b="1" dirty="0">
                <a:solidFill>
                  <a:srgbClr val="A855F7"/>
                </a:solidFill>
                <a:latin typeface="Calibri" pitchFamily="34" charset="0"/>
                <a:ea typeface="Calibri" pitchFamily="34" charset="-122"/>
                <a:cs typeface="Calibri" pitchFamily="34" charset="-120"/>
              </a:rPr>
              <a:t>Response Cycle</a:t>
            </a:r>
            <a:endParaRPr lang="en-US" sz="1300" dirty="0"/>
          </a:p>
        </p:txBody>
      </p:sp>
      <p:sp>
        <p:nvSpPr>
          <p:cNvPr id="37" name="Text 34"/>
          <p:cNvSpPr/>
          <p:nvPr/>
        </p:nvSpPr>
        <p:spPr>
          <a:xfrm>
            <a:off x="868680" y="5102352"/>
            <a:ext cx="10424160" cy="1005840"/>
          </a:xfrm>
          <a:prstGeom prst="rect">
            <a:avLst/>
          </a:prstGeom>
          <a:noFill/>
          <a:ln/>
        </p:spPr>
        <p:txBody>
          <a:bodyPr wrap="square" rtlCol="0" anchor="ctr"/>
          <a:lstStyle/>
          <a:p>
            <a:pPr marL="0" indent="0">
              <a:lnSpc>
                <a:spcPct val="130000"/>
              </a:lnSpc>
              <a:buNone/>
            </a:pPr>
            <a:r>
              <a:rPr lang="en-US" sz="1200" dirty="0">
                <a:solidFill>
                  <a:srgbClr val="B7B2D6"/>
                </a:solidFill>
                <a:latin typeface="Calibri" pitchFamily="34" charset="0"/>
                <a:ea typeface="Calibri" pitchFamily="34" charset="-122"/>
                <a:cs typeface="Calibri" pitchFamily="34" charset="-120"/>
              </a:rPr>
              <a:t>The rendered Template flows back through the View to the User's browser as an HTML response — completing the request/response cycle that powers every page in Mind Nest, from login to the AI chat.</a:t>
            </a:r>
            <a:endParaRPr lang="en-US" sz="1200" dirty="0"/>
          </a:p>
        </p:txBody>
      </p:sp>
      <p:sp>
        <p:nvSpPr>
          <p:cNvPr id="39" name="Text 35"/>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40" name="Text 36"/>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DATA LAYER</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Database Design</a:t>
            </a:r>
            <a:endParaRPr lang="en-US" sz="3200" dirty="0"/>
          </a:p>
        </p:txBody>
      </p:sp>
      <p:sp>
        <p:nvSpPr>
          <p:cNvPr id="5" name="Text 2"/>
          <p:cNvSpPr/>
          <p:nvPr/>
        </p:nvSpPr>
        <p:spPr>
          <a:xfrm>
            <a:off x="548640" y="1298448"/>
            <a:ext cx="11064240" cy="457200"/>
          </a:xfrm>
          <a:prstGeom prst="rect">
            <a:avLst/>
          </a:prstGeom>
          <a:noFill/>
          <a:ln/>
        </p:spPr>
        <p:txBody>
          <a:bodyPr wrap="square" rtlCol="0" anchor="ctr"/>
          <a:lstStyle/>
          <a:p>
            <a:pPr marL="0" indent="0">
              <a:lnSpc>
                <a:spcPct val="120000"/>
              </a:lnSpc>
              <a:buNone/>
            </a:pPr>
            <a:r>
              <a:rPr lang="en-US" sz="1300" dirty="0">
                <a:solidFill>
                  <a:srgbClr val="B7B2D6"/>
                </a:solidFill>
                <a:latin typeface="Calibri" pitchFamily="34" charset="0"/>
                <a:ea typeface="Calibri" pitchFamily="34" charset="-122"/>
                <a:cs typeface="Calibri" pitchFamily="34" charset="-120"/>
              </a:rPr>
              <a:t>PostgreSQL schema built around 10 relational tables, connected through Foreign Keys.  every Task, Note, and Resource links back to its owning User.</a:t>
            </a:r>
            <a:endParaRPr lang="en-US" sz="1300" dirty="0"/>
          </a:p>
        </p:txBody>
      </p:sp>
      <p:sp>
        <p:nvSpPr>
          <p:cNvPr id="6" name="Shape 3"/>
          <p:cNvSpPr/>
          <p:nvPr/>
        </p:nvSpPr>
        <p:spPr>
          <a:xfrm>
            <a:off x="548640" y="1965960"/>
            <a:ext cx="2035454" cy="868680"/>
          </a:xfrm>
          <a:prstGeom prst="roundRect">
            <a:avLst>
              <a:gd name="adj" fmla="val 12632"/>
            </a:avLst>
          </a:prstGeom>
          <a:solidFill>
            <a:srgbClr val="242050"/>
          </a:solidFill>
          <a:ln/>
          <a:effectLst>
            <a:outerShdw blurRad="127000" dist="38100" dir="5400000" algn="bl" rotWithShape="0">
              <a:srgbClr val="000000">
                <a:alpha val="35000"/>
              </a:srgbClr>
            </a:outerShdw>
          </a:effectLst>
        </p:spPr>
      </p:sp>
      <p:pic>
        <p:nvPicPr>
          <p:cNvPr id="7" name="Image 1" descr="ic_database.png"/>
          <p:cNvPicPr>
            <a:picLocks noChangeAspect="1"/>
          </p:cNvPicPr>
          <p:nvPr/>
        </p:nvPicPr>
        <p:blipFill>
          <a:blip r:embed="rId4"/>
          <a:stretch>
            <a:fillRect/>
          </a:stretch>
        </p:blipFill>
        <p:spPr>
          <a:xfrm>
            <a:off x="685800" y="2185416"/>
            <a:ext cx="384048" cy="384048"/>
          </a:xfrm>
          <a:prstGeom prst="rect">
            <a:avLst/>
          </a:prstGeom>
        </p:spPr>
      </p:pic>
      <p:sp>
        <p:nvSpPr>
          <p:cNvPr id="8" name="Text 4"/>
          <p:cNvSpPr/>
          <p:nvPr/>
        </p:nvSpPr>
        <p:spPr>
          <a:xfrm>
            <a:off x="1115568" y="1965960"/>
            <a:ext cx="1349654" cy="8686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User</a:t>
            </a:r>
            <a:endParaRPr lang="en-US" sz="1250" dirty="0"/>
          </a:p>
        </p:txBody>
      </p:sp>
      <p:sp>
        <p:nvSpPr>
          <p:cNvPr id="9" name="Shape 5"/>
          <p:cNvSpPr/>
          <p:nvPr/>
        </p:nvSpPr>
        <p:spPr>
          <a:xfrm>
            <a:off x="2812694" y="1965960"/>
            <a:ext cx="2035454" cy="868680"/>
          </a:xfrm>
          <a:prstGeom prst="roundRect">
            <a:avLst>
              <a:gd name="adj" fmla="val 12632"/>
            </a:avLst>
          </a:prstGeom>
          <a:solidFill>
            <a:srgbClr val="242050"/>
          </a:solidFill>
          <a:ln/>
          <a:effectLst>
            <a:outerShdw blurRad="127000" dist="38100" dir="5400000" algn="bl" rotWithShape="0">
              <a:srgbClr val="000000">
                <a:alpha val="35000"/>
              </a:srgbClr>
            </a:outerShdw>
          </a:effectLst>
        </p:spPr>
      </p:sp>
      <p:pic>
        <p:nvPicPr>
          <p:cNvPr id="10" name="Image 2" descr="ic_database.png"/>
          <p:cNvPicPr>
            <a:picLocks noChangeAspect="1"/>
          </p:cNvPicPr>
          <p:nvPr/>
        </p:nvPicPr>
        <p:blipFill>
          <a:blip r:embed="rId4"/>
          <a:stretch>
            <a:fillRect/>
          </a:stretch>
        </p:blipFill>
        <p:spPr>
          <a:xfrm>
            <a:off x="2949854" y="2185416"/>
            <a:ext cx="384048" cy="384048"/>
          </a:xfrm>
          <a:prstGeom prst="rect">
            <a:avLst/>
          </a:prstGeom>
        </p:spPr>
      </p:pic>
      <p:sp>
        <p:nvSpPr>
          <p:cNvPr id="11" name="Text 6"/>
          <p:cNvSpPr/>
          <p:nvPr/>
        </p:nvSpPr>
        <p:spPr>
          <a:xfrm>
            <a:off x="3379622" y="1965960"/>
            <a:ext cx="1349654" cy="8686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Profile</a:t>
            </a:r>
            <a:endParaRPr lang="en-US" sz="1250" dirty="0"/>
          </a:p>
        </p:txBody>
      </p:sp>
      <p:sp>
        <p:nvSpPr>
          <p:cNvPr id="12" name="Shape 7"/>
          <p:cNvSpPr/>
          <p:nvPr/>
        </p:nvSpPr>
        <p:spPr>
          <a:xfrm>
            <a:off x="5076749" y="1965960"/>
            <a:ext cx="2035454" cy="868680"/>
          </a:xfrm>
          <a:prstGeom prst="roundRect">
            <a:avLst>
              <a:gd name="adj" fmla="val 12632"/>
            </a:avLst>
          </a:prstGeom>
          <a:solidFill>
            <a:srgbClr val="242050"/>
          </a:solidFill>
          <a:ln/>
          <a:effectLst>
            <a:outerShdw blurRad="127000" dist="38100" dir="5400000" algn="bl" rotWithShape="0">
              <a:srgbClr val="000000">
                <a:alpha val="35000"/>
              </a:srgbClr>
            </a:outerShdw>
          </a:effectLst>
        </p:spPr>
      </p:sp>
      <p:pic>
        <p:nvPicPr>
          <p:cNvPr id="13" name="Image 3" descr="ic_database.png"/>
          <p:cNvPicPr>
            <a:picLocks noChangeAspect="1"/>
          </p:cNvPicPr>
          <p:nvPr/>
        </p:nvPicPr>
        <p:blipFill>
          <a:blip r:embed="rId4"/>
          <a:stretch>
            <a:fillRect/>
          </a:stretch>
        </p:blipFill>
        <p:spPr>
          <a:xfrm>
            <a:off x="5213909" y="2185416"/>
            <a:ext cx="384048" cy="384048"/>
          </a:xfrm>
          <a:prstGeom prst="rect">
            <a:avLst/>
          </a:prstGeom>
        </p:spPr>
      </p:pic>
      <p:sp>
        <p:nvSpPr>
          <p:cNvPr id="14" name="Text 8"/>
          <p:cNvSpPr/>
          <p:nvPr/>
        </p:nvSpPr>
        <p:spPr>
          <a:xfrm>
            <a:off x="5643677" y="1965960"/>
            <a:ext cx="1349654" cy="8686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Task</a:t>
            </a:r>
            <a:endParaRPr lang="en-US" sz="1250" dirty="0"/>
          </a:p>
        </p:txBody>
      </p:sp>
      <p:sp>
        <p:nvSpPr>
          <p:cNvPr id="15" name="Shape 9"/>
          <p:cNvSpPr/>
          <p:nvPr/>
        </p:nvSpPr>
        <p:spPr>
          <a:xfrm>
            <a:off x="7340803" y="1965960"/>
            <a:ext cx="2035454" cy="868680"/>
          </a:xfrm>
          <a:prstGeom prst="roundRect">
            <a:avLst>
              <a:gd name="adj" fmla="val 12632"/>
            </a:avLst>
          </a:prstGeom>
          <a:solidFill>
            <a:srgbClr val="242050"/>
          </a:solidFill>
          <a:ln/>
          <a:effectLst>
            <a:outerShdw blurRad="127000" dist="38100" dir="5400000" algn="bl" rotWithShape="0">
              <a:srgbClr val="000000">
                <a:alpha val="35000"/>
              </a:srgbClr>
            </a:outerShdw>
          </a:effectLst>
        </p:spPr>
      </p:sp>
      <p:pic>
        <p:nvPicPr>
          <p:cNvPr id="16" name="Image 4" descr="ic_database.png"/>
          <p:cNvPicPr>
            <a:picLocks noChangeAspect="1"/>
          </p:cNvPicPr>
          <p:nvPr/>
        </p:nvPicPr>
        <p:blipFill>
          <a:blip r:embed="rId4"/>
          <a:stretch>
            <a:fillRect/>
          </a:stretch>
        </p:blipFill>
        <p:spPr>
          <a:xfrm>
            <a:off x="7477963" y="2185416"/>
            <a:ext cx="384048" cy="384048"/>
          </a:xfrm>
          <a:prstGeom prst="rect">
            <a:avLst/>
          </a:prstGeom>
        </p:spPr>
      </p:pic>
      <p:sp>
        <p:nvSpPr>
          <p:cNvPr id="17" name="Text 10"/>
          <p:cNvSpPr/>
          <p:nvPr/>
        </p:nvSpPr>
        <p:spPr>
          <a:xfrm>
            <a:off x="7907731" y="1965960"/>
            <a:ext cx="1349654" cy="8686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Category</a:t>
            </a:r>
            <a:endParaRPr lang="en-US" sz="1250" dirty="0"/>
          </a:p>
        </p:txBody>
      </p:sp>
      <p:sp>
        <p:nvSpPr>
          <p:cNvPr id="18" name="Shape 11"/>
          <p:cNvSpPr/>
          <p:nvPr/>
        </p:nvSpPr>
        <p:spPr>
          <a:xfrm>
            <a:off x="9604858" y="1965960"/>
            <a:ext cx="2035454" cy="868680"/>
          </a:xfrm>
          <a:prstGeom prst="roundRect">
            <a:avLst>
              <a:gd name="adj" fmla="val 12632"/>
            </a:avLst>
          </a:prstGeom>
          <a:solidFill>
            <a:srgbClr val="242050"/>
          </a:solidFill>
          <a:ln/>
          <a:effectLst>
            <a:outerShdw blurRad="127000" dist="38100" dir="5400000" algn="bl" rotWithShape="0">
              <a:srgbClr val="000000">
                <a:alpha val="35000"/>
              </a:srgbClr>
            </a:outerShdw>
          </a:effectLst>
        </p:spPr>
      </p:sp>
      <p:pic>
        <p:nvPicPr>
          <p:cNvPr id="19" name="Image 5" descr="ic_database.png"/>
          <p:cNvPicPr>
            <a:picLocks noChangeAspect="1"/>
          </p:cNvPicPr>
          <p:nvPr/>
        </p:nvPicPr>
        <p:blipFill>
          <a:blip r:embed="rId4"/>
          <a:stretch>
            <a:fillRect/>
          </a:stretch>
        </p:blipFill>
        <p:spPr>
          <a:xfrm>
            <a:off x="9742018" y="2185416"/>
            <a:ext cx="384048" cy="384048"/>
          </a:xfrm>
          <a:prstGeom prst="rect">
            <a:avLst/>
          </a:prstGeom>
        </p:spPr>
      </p:pic>
      <p:sp>
        <p:nvSpPr>
          <p:cNvPr id="20" name="Text 12"/>
          <p:cNvSpPr/>
          <p:nvPr/>
        </p:nvSpPr>
        <p:spPr>
          <a:xfrm>
            <a:off x="10171786" y="1965960"/>
            <a:ext cx="1349654" cy="8686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Note</a:t>
            </a:r>
            <a:endParaRPr lang="en-US" sz="1250" dirty="0"/>
          </a:p>
        </p:txBody>
      </p:sp>
      <p:sp>
        <p:nvSpPr>
          <p:cNvPr id="21" name="Shape 13"/>
          <p:cNvSpPr/>
          <p:nvPr/>
        </p:nvSpPr>
        <p:spPr>
          <a:xfrm>
            <a:off x="548640" y="3063240"/>
            <a:ext cx="2035454" cy="868680"/>
          </a:xfrm>
          <a:prstGeom prst="roundRect">
            <a:avLst>
              <a:gd name="adj" fmla="val 12632"/>
            </a:avLst>
          </a:prstGeom>
          <a:solidFill>
            <a:srgbClr val="242050"/>
          </a:solidFill>
          <a:ln/>
          <a:effectLst>
            <a:outerShdw blurRad="127000" dist="38100" dir="5400000" algn="bl" rotWithShape="0">
              <a:srgbClr val="000000">
                <a:alpha val="35000"/>
              </a:srgbClr>
            </a:outerShdw>
          </a:effectLst>
        </p:spPr>
      </p:sp>
      <p:pic>
        <p:nvPicPr>
          <p:cNvPr id="22" name="Image 6" descr="ic_database.png"/>
          <p:cNvPicPr>
            <a:picLocks noChangeAspect="1"/>
          </p:cNvPicPr>
          <p:nvPr/>
        </p:nvPicPr>
        <p:blipFill>
          <a:blip r:embed="rId4"/>
          <a:stretch>
            <a:fillRect/>
          </a:stretch>
        </p:blipFill>
        <p:spPr>
          <a:xfrm>
            <a:off x="685800" y="3282696"/>
            <a:ext cx="384048" cy="384048"/>
          </a:xfrm>
          <a:prstGeom prst="rect">
            <a:avLst/>
          </a:prstGeom>
        </p:spPr>
      </p:pic>
      <p:sp>
        <p:nvSpPr>
          <p:cNvPr id="23" name="Text 14"/>
          <p:cNvSpPr/>
          <p:nvPr/>
        </p:nvSpPr>
        <p:spPr>
          <a:xfrm>
            <a:off x="1115568" y="3063240"/>
            <a:ext cx="1349654" cy="8686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Tag</a:t>
            </a:r>
            <a:endParaRPr lang="en-US" sz="1250" dirty="0"/>
          </a:p>
        </p:txBody>
      </p:sp>
      <p:sp>
        <p:nvSpPr>
          <p:cNvPr id="24" name="Shape 15"/>
          <p:cNvSpPr/>
          <p:nvPr/>
        </p:nvSpPr>
        <p:spPr>
          <a:xfrm>
            <a:off x="2812694" y="3063240"/>
            <a:ext cx="2035454" cy="868680"/>
          </a:xfrm>
          <a:prstGeom prst="roundRect">
            <a:avLst>
              <a:gd name="adj" fmla="val 12632"/>
            </a:avLst>
          </a:prstGeom>
          <a:solidFill>
            <a:srgbClr val="242050"/>
          </a:solidFill>
          <a:ln/>
          <a:effectLst>
            <a:outerShdw blurRad="127000" dist="38100" dir="5400000" algn="bl" rotWithShape="0">
              <a:srgbClr val="000000">
                <a:alpha val="35000"/>
              </a:srgbClr>
            </a:outerShdw>
          </a:effectLst>
        </p:spPr>
      </p:sp>
      <p:pic>
        <p:nvPicPr>
          <p:cNvPr id="25" name="Image 7" descr="ic_database.png"/>
          <p:cNvPicPr>
            <a:picLocks noChangeAspect="1"/>
          </p:cNvPicPr>
          <p:nvPr/>
        </p:nvPicPr>
        <p:blipFill>
          <a:blip r:embed="rId4"/>
          <a:stretch>
            <a:fillRect/>
          </a:stretch>
        </p:blipFill>
        <p:spPr>
          <a:xfrm>
            <a:off x="2949854" y="3282696"/>
            <a:ext cx="384048" cy="384048"/>
          </a:xfrm>
          <a:prstGeom prst="rect">
            <a:avLst/>
          </a:prstGeom>
        </p:spPr>
      </p:pic>
      <p:sp>
        <p:nvSpPr>
          <p:cNvPr id="26" name="Text 16"/>
          <p:cNvSpPr/>
          <p:nvPr/>
        </p:nvSpPr>
        <p:spPr>
          <a:xfrm>
            <a:off x="3379622" y="3063240"/>
            <a:ext cx="1349654" cy="8686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NoteTag</a:t>
            </a:r>
            <a:endParaRPr lang="en-US" sz="1250" dirty="0"/>
          </a:p>
        </p:txBody>
      </p:sp>
      <p:sp>
        <p:nvSpPr>
          <p:cNvPr id="27" name="Shape 17"/>
          <p:cNvSpPr/>
          <p:nvPr/>
        </p:nvSpPr>
        <p:spPr>
          <a:xfrm>
            <a:off x="5076749" y="3063240"/>
            <a:ext cx="2035454" cy="868680"/>
          </a:xfrm>
          <a:prstGeom prst="roundRect">
            <a:avLst>
              <a:gd name="adj" fmla="val 12632"/>
            </a:avLst>
          </a:prstGeom>
          <a:solidFill>
            <a:srgbClr val="242050"/>
          </a:solidFill>
          <a:ln/>
          <a:effectLst>
            <a:outerShdw blurRad="127000" dist="38100" dir="5400000" algn="bl" rotWithShape="0">
              <a:srgbClr val="000000">
                <a:alpha val="35000"/>
              </a:srgbClr>
            </a:outerShdw>
          </a:effectLst>
        </p:spPr>
      </p:sp>
      <p:pic>
        <p:nvPicPr>
          <p:cNvPr id="28" name="Image 8" descr="ic_database.png"/>
          <p:cNvPicPr>
            <a:picLocks noChangeAspect="1"/>
          </p:cNvPicPr>
          <p:nvPr/>
        </p:nvPicPr>
        <p:blipFill>
          <a:blip r:embed="rId4"/>
          <a:stretch>
            <a:fillRect/>
          </a:stretch>
        </p:blipFill>
        <p:spPr>
          <a:xfrm>
            <a:off x="5213909" y="3282696"/>
            <a:ext cx="384048" cy="384048"/>
          </a:xfrm>
          <a:prstGeom prst="rect">
            <a:avLst/>
          </a:prstGeom>
        </p:spPr>
      </p:pic>
      <p:sp>
        <p:nvSpPr>
          <p:cNvPr id="29" name="Text 18"/>
          <p:cNvSpPr/>
          <p:nvPr/>
        </p:nvSpPr>
        <p:spPr>
          <a:xfrm>
            <a:off x="5643677" y="3063240"/>
            <a:ext cx="1349654" cy="8686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Resource</a:t>
            </a:r>
            <a:endParaRPr lang="en-US" sz="1250" dirty="0"/>
          </a:p>
        </p:txBody>
      </p:sp>
      <p:sp>
        <p:nvSpPr>
          <p:cNvPr id="30" name="Shape 19"/>
          <p:cNvSpPr/>
          <p:nvPr/>
        </p:nvSpPr>
        <p:spPr>
          <a:xfrm>
            <a:off x="7340803" y="3063240"/>
            <a:ext cx="2035454" cy="868680"/>
          </a:xfrm>
          <a:prstGeom prst="roundRect">
            <a:avLst>
              <a:gd name="adj" fmla="val 12632"/>
            </a:avLst>
          </a:prstGeom>
          <a:solidFill>
            <a:srgbClr val="242050"/>
          </a:solidFill>
          <a:ln/>
          <a:effectLst>
            <a:outerShdw blurRad="127000" dist="38100" dir="5400000" algn="bl" rotWithShape="0">
              <a:srgbClr val="000000">
                <a:alpha val="35000"/>
              </a:srgbClr>
            </a:outerShdw>
          </a:effectLst>
        </p:spPr>
      </p:sp>
      <p:pic>
        <p:nvPicPr>
          <p:cNvPr id="31" name="Image 9" descr="ic_database.png"/>
          <p:cNvPicPr>
            <a:picLocks noChangeAspect="1"/>
          </p:cNvPicPr>
          <p:nvPr/>
        </p:nvPicPr>
        <p:blipFill>
          <a:blip r:embed="rId4"/>
          <a:stretch>
            <a:fillRect/>
          </a:stretch>
        </p:blipFill>
        <p:spPr>
          <a:xfrm>
            <a:off x="7477963" y="3282696"/>
            <a:ext cx="384048" cy="384048"/>
          </a:xfrm>
          <a:prstGeom prst="rect">
            <a:avLst/>
          </a:prstGeom>
        </p:spPr>
      </p:pic>
      <p:sp>
        <p:nvSpPr>
          <p:cNvPr id="32" name="Text 20"/>
          <p:cNvSpPr/>
          <p:nvPr/>
        </p:nvSpPr>
        <p:spPr>
          <a:xfrm>
            <a:off x="7907731" y="3063240"/>
            <a:ext cx="1349654" cy="8686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ResourceType</a:t>
            </a:r>
            <a:endParaRPr lang="en-US" sz="1250" dirty="0"/>
          </a:p>
        </p:txBody>
      </p:sp>
      <p:sp>
        <p:nvSpPr>
          <p:cNvPr id="33" name="Shape 21"/>
          <p:cNvSpPr/>
          <p:nvPr/>
        </p:nvSpPr>
        <p:spPr>
          <a:xfrm>
            <a:off x="9604858" y="3063240"/>
            <a:ext cx="2035454" cy="868680"/>
          </a:xfrm>
          <a:prstGeom prst="roundRect">
            <a:avLst>
              <a:gd name="adj" fmla="val 12632"/>
            </a:avLst>
          </a:prstGeom>
          <a:solidFill>
            <a:srgbClr val="242050"/>
          </a:solidFill>
          <a:ln/>
          <a:effectLst>
            <a:outerShdw blurRad="127000" dist="38100" dir="5400000" algn="bl" rotWithShape="0">
              <a:srgbClr val="000000">
                <a:alpha val="35000"/>
              </a:srgbClr>
            </a:outerShdw>
          </a:effectLst>
        </p:spPr>
      </p:sp>
      <p:pic>
        <p:nvPicPr>
          <p:cNvPr id="34" name="Image 10" descr="ic_database.png"/>
          <p:cNvPicPr>
            <a:picLocks noChangeAspect="1"/>
          </p:cNvPicPr>
          <p:nvPr/>
        </p:nvPicPr>
        <p:blipFill>
          <a:blip r:embed="rId4"/>
          <a:stretch>
            <a:fillRect/>
          </a:stretch>
        </p:blipFill>
        <p:spPr>
          <a:xfrm>
            <a:off x="9742018" y="3282696"/>
            <a:ext cx="384048" cy="384048"/>
          </a:xfrm>
          <a:prstGeom prst="rect">
            <a:avLst/>
          </a:prstGeom>
        </p:spPr>
      </p:pic>
      <p:sp>
        <p:nvSpPr>
          <p:cNvPr id="35" name="Text 22"/>
          <p:cNvSpPr/>
          <p:nvPr/>
        </p:nvSpPr>
        <p:spPr>
          <a:xfrm>
            <a:off x="10171786" y="3063240"/>
            <a:ext cx="1349654" cy="86868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ChatMessage</a:t>
            </a:r>
            <a:endParaRPr lang="en-US" sz="1250" dirty="0"/>
          </a:p>
        </p:txBody>
      </p:sp>
      <p:sp>
        <p:nvSpPr>
          <p:cNvPr id="36" name="Shape 23"/>
          <p:cNvSpPr/>
          <p:nvPr/>
        </p:nvSpPr>
        <p:spPr>
          <a:xfrm>
            <a:off x="548640" y="4251960"/>
            <a:ext cx="11091672" cy="1965960"/>
          </a:xfrm>
          <a:prstGeom prst="roundRect">
            <a:avLst>
              <a:gd name="adj" fmla="val 5581"/>
            </a:avLst>
          </a:prstGeom>
          <a:solidFill>
            <a:srgbClr val="FFFFFF">
              <a:alpha val="5000"/>
            </a:srgbClr>
          </a:solidFill>
          <a:ln/>
          <a:effectLst>
            <a:outerShdw blurRad="127000" dist="38100" dir="5400000" algn="bl" rotWithShape="0">
              <a:srgbClr val="000000">
                <a:alpha val="35000"/>
              </a:srgbClr>
            </a:outerShdw>
          </a:effectLst>
        </p:spPr>
      </p:sp>
      <p:sp>
        <p:nvSpPr>
          <p:cNvPr id="37" name="Text 24"/>
          <p:cNvSpPr/>
          <p:nvPr/>
        </p:nvSpPr>
        <p:spPr>
          <a:xfrm>
            <a:off x="868680" y="4434840"/>
            <a:ext cx="5486400" cy="320040"/>
          </a:xfrm>
          <a:prstGeom prst="rect">
            <a:avLst/>
          </a:prstGeom>
          <a:noFill/>
          <a:ln/>
        </p:spPr>
        <p:txBody>
          <a:bodyPr wrap="square" rtlCol="0" anchor="ctr"/>
          <a:lstStyle/>
          <a:p>
            <a:pPr marL="0" indent="0">
              <a:buNone/>
            </a:pPr>
            <a:r>
              <a:rPr lang="en-US" sz="1300" b="1" dirty="0">
                <a:solidFill>
                  <a:srgbClr val="A855F7"/>
                </a:solidFill>
                <a:latin typeface="Calibri" pitchFamily="34" charset="0"/>
                <a:ea typeface="Calibri" pitchFamily="34" charset="-122"/>
                <a:cs typeface="Calibri" pitchFamily="34" charset="-120"/>
              </a:rPr>
              <a:t>Key Relationships</a:t>
            </a:r>
            <a:endParaRPr lang="en-US" sz="1300" dirty="0"/>
          </a:p>
        </p:txBody>
      </p:sp>
      <p:sp>
        <p:nvSpPr>
          <p:cNvPr id="38" name="Shape 25"/>
          <p:cNvSpPr/>
          <p:nvPr/>
        </p:nvSpPr>
        <p:spPr>
          <a:xfrm>
            <a:off x="868680" y="4882896"/>
            <a:ext cx="82296" cy="82296"/>
          </a:xfrm>
          <a:prstGeom prst="ellipse">
            <a:avLst/>
          </a:prstGeom>
          <a:solidFill>
            <a:srgbClr val="A855F7"/>
          </a:solidFill>
          <a:ln/>
        </p:spPr>
      </p:sp>
      <p:sp>
        <p:nvSpPr>
          <p:cNvPr id="39" name="Text 26"/>
          <p:cNvSpPr/>
          <p:nvPr/>
        </p:nvSpPr>
        <p:spPr>
          <a:xfrm>
            <a:off x="1078992" y="4764024"/>
            <a:ext cx="10332720" cy="292608"/>
          </a:xfrm>
          <a:prstGeom prst="rect">
            <a:avLst/>
          </a:prstGeom>
          <a:noFill/>
          <a:ln/>
        </p:spPr>
        <p:txBody>
          <a:bodyPr wrap="square" rtlCol="0" anchor="ctr"/>
          <a:lstStyle/>
          <a:p>
            <a:pPr marL="0" indent="0">
              <a:buNone/>
            </a:pPr>
            <a:r>
              <a:rPr lang="en-US" sz="1150" dirty="0">
                <a:solidFill>
                  <a:srgbClr val="B7B2D6"/>
                </a:solidFill>
                <a:latin typeface="Calibri" pitchFamily="34" charset="0"/>
                <a:ea typeface="Calibri" pitchFamily="34" charset="-122"/>
                <a:cs typeface="Calibri" pitchFamily="34" charset="-120"/>
              </a:rPr>
              <a:t>User → Profile  (One-to-One) — extended profile data per account</a:t>
            </a:r>
            <a:endParaRPr lang="en-US" sz="1150" dirty="0"/>
          </a:p>
        </p:txBody>
      </p:sp>
      <p:sp>
        <p:nvSpPr>
          <p:cNvPr id="40" name="Shape 27"/>
          <p:cNvSpPr/>
          <p:nvPr/>
        </p:nvSpPr>
        <p:spPr>
          <a:xfrm>
            <a:off x="868680" y="5202936"/>
            <a:ext cx="82296" cy="82296"/>
          </a:xfrm>
          <a:prstGeom prst="ellipse">
            <a:avLst/>
          </a:prstGeom>
          <a:solidFill>
            <a:srgbClr val="A855F7"/>
          </a:solidFill>
          <a:ln/>
        </p:spPr>
      </p:sp>
      <p:sp>
        <p:nvSpPr>
          <p:cNvPr id="41" name="Text 28"/>
          <p:cNvSpPr/>
          <p:nvPr/>
        </p:nvSpPr>
        <p:spPr>
          <a:xfrm>
            <a:off x="1078992" y="5084064"/>
            <a:ext cx="10332720" cy="292608"/>
          </a:xfrm>
          <a:prstGeom prst="rect">
            <a:avLst/>
          </a:prstGeom>
          <a:noFill/>
          <a:ln/>
        </p:spPr>
        <p:txBody>
          <a:bodyPr wrap="square" rtlCol="0" anchor="ctr"/>
          <a:lstStyle/>
          <a:p>
            <a:pPr marL="0" indent="0">
              <a:buNone/>
            </a:pPr>
            <a:r>
              <a:rPr lang="en-US" sz="1150" dirty="0">
                <a:solidFill>
                  <a:srgbClr val="B7B2D6"/>
                </a:solidFill>
                <a:latin typeface="Calibri" pitchFamily="34" charset="0"/>
                <a:ea typeface="Calibri" pitchFamily="34" charset="-122"/>
                <a:cs typeface="Calibri" pitchFamily="34" charset="-120"/>
              </a:rPr>
              <a:t>User → Task / Note / Resource  (One-to-Many) — each user owns many records</a:t>
            </a:r>
            <a:endParaRPr lang="en-US" sz="1150" dirty="0"/>
          </a:p>
        </p:txBody>
      </p:sp>
      <p:sp>
        <p:nvSpPr>
          <p:cNvPr id="42" name="Shape 29"/>
          <p:cNvSpPr/>
          <p:nvPr/>
        </p:nvSpPr>
        <p:spPr>
          <a:xfrm>
            <a:off x="868680" y="5522976"/>
            <a:ext cx="82296" cy="82296"/>
          </a:xfrm>
          <a:prstGeom prst="ellipse">
            <a:avLst/>
          </a:prstGeom>
          <a:solidFill>
            <a:srgbClr val="A855F7"/>
          </a:solidFill>
          <a:ln/>
        </p:spPr>
      </p:sp>
      <p:sp>
        <p:nvSpPr>
          <p:cNvPr id="43" name="Text 30"/>
          <p:cNvSpPr/>
          <p:nvPr/>
        </p:nvSpPr>
        <p:spPr>
          <a:xfrm>
            <a:off x="1078992" y="5404104"/>
            <a:ext cx="10332720" cy="292608"/>
          </a:xfrm>
          <a:prstGeom prst="rect">
            <a:avLst/>
          </a:prstGeom>
          <a:noFill/>
          <a:ln/>
        </p:spPr>
        <p:txBody>
          <a:bodyPr wrap="square" rtlCol="0" anchor="ctr"/>
          <a:lstStyle/>
          <a:p>
            <a:pPr marL="0" indent="0">
              <a:buNone/>
            </a:pPr>
            <a:r>
              <a:rPr lang="en-US" sz="1150" dirty="0">
                <a:solidFill>
                  <a:srgbClr val="B7B2D6"/>
                </a:solidFill>
                <a:latin typeface="Calibri" pitchFamily="34" charset="0"/>
                <a:ea typeface="Calibri" pitchFamily="34" charset="-122"/>
                <a:cs typeface="Calibri" pitchFamily="34" charset="-120"/>
              </a:rPr>
              <a:t>Note ↔ Tag  (Many-to-Many via NoteTag) — flexible note tagging</a:t>
            </a:r>
            <a:endParaRPr lang="en-US" sz="1150" dirty="0"/>
          </a:p>
        </p:txBody>
      </p:sp>
      <p:sp>
        <p:nvSpPr>
          <p:cNvPr id="44" name="Shape 31"/>
          <p:cNvSpPr/>
          <p:nvPr/>
        </p:nvSpPr>
        <p:spPr>
          <a:xfrm>
            <a:off x="868680" y="5843016"/>
            <a:ext cx="82296" cy="82296"/>
          </a:xfrm>
          <a:prstGeom prst="ellipse">
            <a:avLst/>
          </a:prstGeom>
          <a:solidFill>
            <a:srgbClr val="A855F7"/>
          </a:solidFill>
          <a:ln/>
        </p:spPr>
      </p:sp>
      <p:sp>
        <p:nvSpPr>
          <p:cNvPr id="45" name="Text 32"/>
          <p:cNvSpPr/>
          <p:nvPr/>
        </p:nvSpPr>
        <p:spPr>
          <a:xfrm>
            <a:off x="1078992" y="5724144"/>
            <a:ext cx="10332720" cy="292608"/>
          </a:xfrm>
          <a:prstGeom prst="rect">
            <a:avLst/>
          </a:prstGeom>
          <a:noFill/>
          <a:ln/>
        </p:spPr>
        <p:txBody>
          <a:bodyPr wrap="square" rtlCol="0" anchor="ctr"/>
          <a:lstStyle/>
          <a:p>
            <a:pPr marL="0" indent="0">
              <a:buNone/>
            </a:pPr>
            <a:r>
              <a:rPr lang="en-US" sz="1150" dirty="0">
                <a:solidFill>
                  <a:srgbClr val="B7B2D6"/>
                </a:solidFill>
                <a:latin typeface="Calibri" pitchFamily="34" charset="0"/>
                <a:ea typeface="Calibri" pitchFamily="34" charset="-122"/>
                <a:cs typeface="Calibri" pitchFamily="34" charset="-120"/>
              </a:rPr>
              <a:t>Category → Task, ResourceType → Resource  (One-to-Many) — classification</a:t>
            </a:r>
            <a:endParaRPr lang="en-US" sz="1150" dirty="0"/>
          </a:p>
        </p:txBody>
      </p:sp>
      <p:sp>
        <p:nvSpPr>
          <p:cNvPr id="47" name="Text 33"/>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48" name="Text 34"/>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ACCOUNTS APP</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Authentication App</a:t>
            </a:r>
            <a:endParaRPr lang="en-US" sz="3200" dirty="0"/>
          </a:p>
        </p:txBody>
      </p:sp>
      <p:sp>
        <p:nvSpPr>
          <p:cNvPr id="5" name="Shape 2"/>
          <p:cNvSpPr/>
          <p:nvPr/>
        </p:nvSpPr>
        <p:spPr>
          <a:xfrm>
            <a:off x="548640" y="1554480"/>
            <a:ext cx="2567178" cy="2880360"/>
          </a:xfrm>
          <a:prstGeom prst="roundRect">
            <a:avLst>
              <a:gd name="adj" fmla="val 4274"/>
            </a:avLst>
          </a:prstGeom>
          <a:solidFill>
            <a:srgbClr val="1E1A3A"/>
          </a:solidFill>
          <a:ln/>
          <a:effectLst>
            <a:outerShdw blurRad="127000" dist="38100" dir="5400000" algn="bl" rotWithShape="0">
              <a:srgbClr val="000000">
                <a:alpha val="35000"/>
              </a:srgbClr>
            </a:outerShdw>
          </a:effectLst>
        </p:spPr>
      </p:sp>
      <p:sp>
        <p:nvSpPr>
          <p:cNvPr id="6" name="Shape 3"/>
          <p:cNvSpPr/>
          <p:nvPr/>
        </p:nvSpPr>
        <p:spPr>
          <a:xfrm>
            <a:off x="1466469" y="1874520"/>
            <a:ext cx="731520" cy="731520"/>
          </a:xfrm>
          <a:prstGeom prst="ellipse">
            <a:avLst/>
          </a:prstGeom>
          <a:solidFill>
            <a:srgbClr val="6366F1"/>
          </a:solidFill>
          <a:ln/>
          <a:effectLst>
            <a:outerShdw blurRad="101600" dist="38100" dir="5400000" algn="bl" rotWithShape="0">
              <a:srgbClr val="000000">
                <a:alpha val="40000"/>
              </a:srgbClr>
            </a:outerShdw>
          </a:effectLst>
        </p:spPr>
      </p:sp>
      <p:pic>
        <p:nvPicPr>
          <p:cNvPr id="7" name="Image 1" descr="ic_userlock.png"/>
          <p:cNvPicPr>
            <a:picLocks noChangeAspect="1"/>
          </p:cNvPicPr>
          <p:nvPr/>
        </p:nvPicPr>
        <p:blipFill>
          <a:blip r:embed="rId4"/>
          <a:stretch>
            <a:fillRect/>
          </a:stretch>
        </p:blipFill>
        <p:spPr>
          <a:xfrm>
            <a:off x="1656664" y="2064715"/>
            <a:ext cx="351130" cy="351130"/>
          </a:xfrm>
          <a:prstGeom prst="rect">
            <a:avLst/>
          </a:prstGeom>
        </p:spPr>
      </p:pic>
      <p:sp>
        <p:nvSpPr>
          <p:cNvPr id="8" name="Text 4"/>
          <p:cNvSpPr/>
          <p:nvPr/>
        </p:nvSpPr>
        <p:spPr>
          <a:xfrm>
            <a:off x="685800" y="2834640"/>
            <a:ext cx="2292858" cy="365760"/>
          </a:xfrm>
          <a:prstGeom prst="rect">
            <a:avLst/>
          </a:prstGeom>
          <a:noFill/>
          <a:ln/>
        </p:spPr>
        <p:txBody>
          <a:bodyPr wrap="square"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Register</a:t>
            </a:r>
            <a:endParaRPr lang="en-US" sz="1450" dirty="0"/>
          </a:p>
        </p:txBody>
      </p:sp>
      <p:sp>
        <p:nvSpPr>
          <p:cNvPr id="9" name="Text 5"/>
          <p:cNvSpPr/>
          <p:nvPr/>
        </p:nvSpPr>
        <p:spPr>
          <a:xfrm>
            <a:off x="731520" y="3246120"/>
            <a:ext cx="2201418" cy="1097280"/>
          </a:xfrm>
          <a:prstGeom prst="rect">
            <a:avLst/>
          </a:prstGeom>
          <a:noFill/>
          <a:ln/>
        </p:spPr>
        <p:txBody>
          <a:bodyPr wrap="square" rtlCol="0" anchor="ctr"/>
          <a:lstStyle/>
          <a:p>
            <a:pPr marL="0" indent="0" algn="ctr">
              <a:lnSpc>
                <a:spcPct val="125000"/>
              </a:lnSpc>
              <a:buNone/>
            </a:pPr>
            <a:r>
              <a:rPr lang="en-US" sz="1050" dirty="0">
                <a:solidFill>
                  <a:srgbClr val="8F89B8"/>
                </a:solidFill>
                <a:latin typeface="Calibri" pitchFamily="34" charset="0"/>
                <a:ea typeface="Calibri" pitchFamily="34" charset="-122"/>
                <a:cs typeface="Calibri" pitchFamily="34" charset="-120"/>
              </a:rPr>
              <a:t>New students create a secure account with email verification.</a:t>
            </a:r>
            <a:endParaRPr lang="en-US" sz="1050" dirty="0"/>
          </a:p>
        </p:txBody>
      </p:sp>
      <p:sp>
        <p:nvSpPr>
          <p:cNvPr id="10" name="Shape 6"/>
          <p:cNvSpPr/>
          <p:nvPr/>
        </p:nvSpPr>
        <p:spPr>
          <a:xfrm>
            <a:off x="3390138" y="1554480"/>
            <a:ext cx="2567178" cy="2880360"/>
          </a:xfrm>
          <a:prstGeom prst="roundRect">
            <a:avLst>
              <a:gd name="adj" fmla="val 4274"/>
            </a:avLst>
          </a:prstGeom>
          <a:solidFill>
            <a:srgbClr val="1E1A3A"/>
          </a:solidFill>
          <a:ln/>
          <a:effectLst>
            <a:outerShdw blurRad="127000" dist="38100" dir="5400000" algn="bl" rotWithShape="0">
              <a:srgbClr val="000000">
                <a:alpha val="35000"/>
              </a:srgbClr>
            </a:outerShdw>
          </a:effectLst>
        </p:spPr>
      </p:sp>
      <p:sp>
        <p:nvSpPr>
          <p:cNvPr id="11" name="Shape 7"/>
          <p:cNvSpPr/>
          <p:nvPr/>
        </p:nvSpPr>
        <p:spPr>
          <a:xfrm>
            <a:off x="4307967" y="1874520"/>
            <a:ext cx="731520" cy="731520"/>
          </a:xfrm>
          <a:prstGeom prst="ellipse">
            <a:avLst/>
          </a:prstGeom>
          <a:solidFill>
            <a:srgbClr val="9333EA"/>
          </a:solidFill>
          <a:ln/>
          <a:effectLst>
            <a:outerShdw blurRad="101600" dist="38100" dir="5400000" algn="bl" rotWithShape="0">
              <a:srgbClr val="000000">
                <a:alpha val="40000"/>
              </a:srgbClr>
            </a:outerShdw>
          </a:effectLst>
        </p:spPr>
      </p:sp>
      <p:pic>
        <p:nvPicPr>
          <p:cNvPr id="12" name="Image 2" descr="ic_key.png"/>
          <p:cNvPicPr>
            <a:picLocks noChangeAspect="1"/>
          </p:cNvPicPr>
          <p:nvPr/>
        </p:nvPicPr>
        <p:blipFill>
          <a:blip r:embed="rId5"/>
          <a:stretch>
            <a:fillRect/>
          </a:stretch>
        </p:blipFill>
        <p:spPr>
          <a:xfrm>
            <a:off x="4498162" y="2064715"/>
            <a:ext cx="351130" cy="351130"/>
          </a:xfrm>
          <a:prstGeom prst="rect">
            <a:avLst/>
          </a:prstGeom>
        </p:spPr>
      </p:pic>
      <p:sp>
        <p:nvSpPr>
          <p:cNvPr id="13" name="Text 8"/>
          <p:cNvSpPr/>
          <p:nvPr/>
        </p:nvSpPr>
        <p:spPr>
          <a:xfrm>
            <a:off x="3527298" y="2834640"/>
            <a:ext cx="2292858" cy="365760"/>
          </a:xfrm>
          <a:prstGeom prst="rect">
            <a:avLst/>
          </a:prstGeom>
          <a:noFill/>
          <a:ln/>
        </p:spPr>
        <p:txBody>
          <a:bodyPr wrap="square"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Login</a:t>
            </a:r>
            <a:endParaRPr lang="en-US" sz="1450" dirty="0"/>
          </a:p>
        </p:txBody>
      </p:sp>
      <p:sp>
        <p:nvSpPr>
          <p:cNvPr id="14" name="Text 9"/>
          <p:cNvSpPr/>
          <p:nvPr/>
        </p:nvSpPr>
        <p:spPr>
          <a:xfrm>
            <a:off x="3573018" y="3246120"/>
            <a:ext cx="2201418" cy="1097280"/>
          </a:xfrm>
          <a:prstGeom prst="rect">
            <a:avLst/>
          </a:prstGeom>
          <a:noFill/>
          <a:ln/>
        </p:spPr>
        <p:txBody>
          <a:bodyPr wrap="square" rtlCol="0" anchor="ctr"/>
          <a:lstStyle/>
          <a:p>
            <a:pPr marL="0" indent="0" algn="ctr">
              <a:lnSpc>
                <a:spcPct val="125000"/>
              </a:lnSpc>
              <a:buNone/>
            </a:pPr>
            <a:r>
              <a:rPr lang="en-US" sz="1050" dirty="0">
                <a:solidFill>
                  <a:srgbClr val="8F89B8"/>
                </a:solidFill>
                <a:latin typeface="Calibri" pitchFamily="34" charset="0"/>
                <a:ea typeface="Calibri" pitchFamily="34" charset="-122"/>
                <a:cs typeface="Calibri" pitchFamily="34" charset="-120"/>
              </a:rPr>
              <a:t>Session-based authentication guards every private page.</a:t>
            </a:r>
            <a:endParaRPr lang="en-US" sz="1050" dirty="0"/>
          </a:p>
        </p:txBody>
      </p:sp>
      <p:sp>
        <p:nvSpPr>
          <p:cNvPr id="15" name="Shape 10"/>
          <p:cNvSpPr/>
          <p:nvPr/>
        </p:nvSpPr>
        <p:spPr>
          <a:xfrm>
            <a:off x="6231636" y="1554480"/>
            <a:ext cx="2567178" cy="2880360"/>
          </a:xfrm>
          <a:prstGeom prst="roundRect">
            <a:avLst>
              <a:gd name="adj" fmla="val 4274"/>
            </a:avLst>
          </a:prstGeom>
          <a:solidFill>
            <a:srgbClr val="1E1A3A"/>
          </a:solidFill>
          <a:ln/>
          <a:effectLst>
            <a:outerShdw blurRad="127000" dist="38100" dir="5400000" algn="bl" rotWithShape="0">
              <a:srgbClr val="000000">
                <a:alpha val="35000"/>
              </a:srgbClr>
            </a:outerShdw>
          </a:effectLst>
        </p:spPr>
      </p:sp>
      <p:sp>
        <p:nvSpPr>
          <p:cNvPr id="16" name="Shape 11"/>
          <p:cNvSpPr/>
          <p:nvPr/>
        </p:nvSpPr>
        <p:spPr>
          <a:xfrm>
            <a:off x="7149465" y="1874520"/>
            <a:ext cx="731520" cy="731520"/>
          </a:xfrm>
          <a:prstGeom prst="ellipse">
            <a:avLst/>
          </a:prstGeom>
          <a:solidFill>
            <a:srgbClr val="4338CA"/>
          </a:solidFill>
          <a:ln/>
          <a:effectLst>
            <a:outerShdw blurRad="101600" dist="38100" dir="5400000" algn="bl" rotWithShape="0">
              <a:srgbClr val="000000">
                <a:alpha val="40000"/>
              </a:srgbClr>
            </a:outerShdw>
          </a:effectLst>
        </p:spPr>
      </p:sp>
      <p:pic>
        <p:nvPicPr>
          <p:cNvPr id="17" name="Image 3" descr="ic_note.png"/>
          <p:cNvPicPr>
            <a:picLocks noChangeAspect="1"/>
          </p:cNvPicPr>
          <p:nvPr/>
        </p:nvPicPr>
        <p:blipFill>
          <a:blip r:embed="rId6"/>
          <a:stretch>
            <a:fillRect/>
          </a:stretch>
        </p:blipFill>
        <p:spPr>
          <a:xfrm>
            <a:off x="7339660" y="2064715"/>
            <a:ext cx="351130" cy="351130"/>
          </a:xfrm>
          <a:prstGeom prst="rect">
            <a:avLst/>
          </a:prstGeom>
        </p:spPr>
      </p:pic>
      <p:sp>
        <p:nvSpPr>
          <p:cNvPr id="18" name="Text 12"/>
          <p:cNvSpPr/>
          <p:nvPr/>
        </p:nvSpPr>
        <p:spPr>
          <a:xfrm>
            <a:off x="6368796" y="2834640"/>
            <a:ext cx="2292858" cy="365760"/>
          </a:xfrm>
          <a:prstGeom prst="rect">
            <a:avLst/>
          </a:prstGeom>
          <a:noFill/>
          <a:ln/>
        </p:spPr>
        <p:txBody>
          <a:bodyPr wrap="square"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Profile</a:t>
            </a:r>
            <a:endParaRPr lang="en-US" sz="1450" dirty="0"/>
          </a:p>
        </p:txBody>
      </p:sp>
      <p:sp>
        <p:nvSpPr>
          <p:cNvPr id="19" name="Text 13"/>
          <p:cNvSpPr/>
          <p:nvPr/>
        </p:nvSpPr>
        <p:spPr>
          <a:xfrm>
            <a:off x="6414516" y="3246120"/>
            <a:ext cx="2201418" cy="1097280"/>
          </a:xfrm>
          <a:prstGeom prst="rect">
            <a:avLst/>
          </a:prstGeom>
          <a:noFill/>
          <a:ln/>
        </p:spPr>
        <p:txBody>
          <a:bodyPr wrap="square" rtlCol="0" anchor="ctr"/>
          <a:lstStyle/>
          <a:p>
            <a:pPr marL="0" indent="0" algn="ctr">
              <a:lnSpc>
                <a:spcPct val="125000"/>
              </a:lnSpc>
              <a:buNone/>
            </a:pPr>
            <a:r>
              <a:rPr lang="en-US" sz="1050" dirty="0">
                <a:solidFill>
                  <a:srgbClr val="8F89B8"/>
                </a:solidFill>
                <a:latin typeface="Calibri" pitchFamily="34" charset="0"/>
                <a:ea typeface="Calibri" pitchFamily="34" charset="-122"/>
                <a:cs typeface="Calibri" pitchFamily="34" charset="-120"/>
              </a:rPr>
              <a:t>Manage personal info, avatar, and study preferences.</a:t>
            </a:r>
            <a:endParaRPr lang="en-US" sz="1050" dirty="0"/>
          </a:p>
        </p:txBody>
      </p:sp>
      <p:sp>
        <p:nvSpPr>
          <p:cNvPr id="20" name="Shape 14"/>
          <p:cNvSpPr/>
          <p:nvPr/>
        </p:nvSpPr>
        <p:spPr>
          <a:xfrm>
            <a:off x="9073134" y="1554480"/>
            <a:ext cx="2567178" cy="2880360"/>
          </a:xfrm>
          <a:prstGeom prst="roundRect">
            <a:avLst>
              <a:gd name="adj" fmla="val 4274"/>
            </a:avLst>
          </a:prstGeom>
          <a:solidFill>
            <a:srgbClr val="1E1A3A"/>
          </a:solidFill>
          <a:ln/>
          <a:effectLst>
            <a:outerShdw blurRad="127000" dist="38100" dir="5400000" algn="bl" rotWithShape="0">
              <a:srgbClr val="000000">
                <a:alpha val="35000"/>
              </a:srgbClr>
            </a:outerShdw>
          </a:effectLst>
        </p:spPr>
      </p:sp>
      <p:sp>
        <p:nvSpPr>
          <p:cNvPr id="21" name="Shape 15"/>
          <p:cNvSpPr/>
          <p:nvPr/>
        </p:nvSpPr>
        <p:spPr>
          <a:xfrm>
            <a:off x="9990963" y="1874520"/>
            <a:ext cx="731520" cy="731520"/>
          </a:xfrm>
          <a:prstGeom prst="ellipse">
            <a:avLst/>
          </a:prstGeom>
          <a:solidFill>
            <a:srgbClr val="EC4899"/>
          </a:solidFill>
          <a:ln/>
          <a:effectLst>
            <a:outerShdw blurRad="101600" dist="38100" dir="5400000" algn="bl" rotWithShape="0">
              <a:srgbClr val="000000">
                <a:alpha val="40000"/>
              </a:srgbClr>
            </a:outerShdw>
          </a:effectLst>
        </p:spPr>
      </p:sp>
      <p:pic>
        <p:nvPicPr>
          <p:cNvPr id="22" name="Image 4" descr="ic_shield.png"/>
          <p:cNvPicPr>
            <a:picLocks noChangeAspect="1"/>
          </p:cNvPicPr>
          <p:nvPr/>
        </p:nvPicPr>
        <p:blipFill>
          <a:blip r:embed="rId7"/>
          <a:stretch>
            <a:fillRect/>
          </a:stretch>
        </p:blipFill>
        <p:spPr>
          <a:xfrm>
            <a:off x="10181158" y="2064715"/>
            <a:ext cx="351130" cy="351130"/>
          </a:xfrm>
          <a:prstGeom prst="rect">
            <a:avLst/>
          </a:prstGeom>
        </p:spPr>
      </p:pic>
      <p:sp>
        <p:nvSpPr>
          <p:cNvPr id="23" name="Text 16"/>
          <p:cNvSpPr/>
          <p:nvPr/>
        </p:nvSpPr>
        <p:spPr>
          <a:xfrm>
            <a:off x="9210294" y="2834640"/>
            <a:ext cx="2292858" cy="365760"/>
          </a:xfrm>
          <a:prstGeom prst="rect">
            <a:avLst/>
          </a:prstGeom>
          <a:noFill/>
          <a:ln/>
        </p:spPr>
        <p:txBody>
          <a:bodyPr wrap="square"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Password Reset</a:t>
            </a:r>
            <a:endParaRPr lang="en-US" sz="1450" dirty="0"/>
          </a:p>
        </p:txBody>
      </p:sp>
      <p:sp>
        <p:nvSpPr>
          <p:cNvPr id="24" name="Text 17"/>
          <p:cNvSpPr/>
          <p:nvPr/>
        </p:nvSpPr>
        <p:spPr>
          <a:xfrm>
            <a:off x="9256014" y="3246120"/>
            <a:ext cx="2201418" cy="1097280"/>
          </a:xfrm>
          <a:prstGeom prst="rect">
            <a:avLst/>
          </a:prstGeom>
          <a:noFill/>
          <a:ln/>
        </p:spPr>
        <p:txBody>
          <a:bodyPr wrap="square" rtlCol="0" anchor="ctr"/>
          <a:lstStyle/>
          <a:p>
            <a:pPr marL="0" indent="0" algn="ctr">
              <a:lnSpc>
                <a:spcPct val="125000"/>
              </a:lnSpc>
              <a:buNone/>
            </a:pPr>
            <a:r>
              <a:rPr lang="en-US" sz="1050" dirty="0">
                <a:solidFill>
                  <a:srgbClr val="8F89B8"/>
                </a:solidFill>
                <a:latin typeface="Calibri" pitchFamily="34" charset="0"/>
                <a:ea typeface="Calibri" pitchFamily="34" charset="-122"/>
                <a:cs typeface="Calibri" pitchFamily="34" charset="-120"/>
              </a:rPr>
              <a:t>Secure email-based reset flow for forgotten passwords.</a:t>
            </a:r>
            <a:endParaRPr lang="en-US" sz="1050" dirty="0"/>
          </a:p>
        </p:txBody>
      </p:sp>
      <p:sp>
        <p:nvSpPr>
          <p:cNvPr id="25" name="Shape 18"/>
          <p:cNvSpPr/>
          <p:nvPr/>
        </p:nvSpPr>
        <p:spPr>
          <a:xfrm>
            <a:off x="548640" y="4709160"/>
            <a:ext cx="11091672" cy="1417320"/>
          </a:xfrm>
          <a:prstGeom prst="roundRect">
            <a:avLst>
              <a:gd name="adj" fmla="val 7742"/>
            </a:avLst>
          </a:prstGeom>
          <a:solidFill>
            <a:srgbClr val="FFFFFF">
              <a:alpha val="5000"/>
            </a:srgbClr>
          </a:solidFill>
          <a:ln/>
          <a:effectLst>
            <a:outerShdw blurRad="127000" dist="38100" dir="5400000" algn="bl" rotWithShape="0">
              <a:srgbClr val="000000">
                <a:alpha val="35000"/>
              </a:srgbClr>
            </a:outerShdw>
          </a:effectLst>
        </p:spPr>
      </p:sp>
      <p:pic>
        <p:nvPicPr>
          <p:cNvPr id="26" name="Image 5" descr="ic_shield.png"/>
          <p:cNvPicPr>
            <a:picLocks noChangeAspect="1"/>
          </p:cNvPicPr>
          <p:nvPr/>
        </p:nvPicPr>
        <p:blipFill>
          <a:blip r:embed="rId7"/>
          <a:stretch>
            <a:fillRect/>
          </a:stretch>
        </p:blipFill>
        <p:spPr>
          <a:xfrm>
            <a:off x="868680" y="5029200"/>
            <a:ext cx="502920" cy="502920"/>
          </a:xfrm>
          <a:prstGeom prst="rect">
            <a:avLst/>
          </a:prstGeom>
        </p:spPr>
      </p:pic>
      <p:sp>
        <p:nvSpPr>
          <p:cNvPr id="27" name="Text 19"/>
          <p:cNvSpPr/>
          <p:nvPr/>
        </p:nvSpPr>
        <p:spPr>
          <a:xfrm>
            <a:off x="1554480" y="4892040"/>
            <a:ext cx="4572000" cy="320040"/>
          </a:xfrm>
          <a:prstGeom prst="rect">
            <a:avLst/>
          </a:prstGeom>
          <a:noFill/>
          <a:ln/>
        </p:spPr>
        <p:txBody>
          <a:bodyPr wrap="square" rtlCol="0" anchor="ctr"/>
          <a:lstStyle/>
          <a:p>
            <a:pPr marL="0" indent="0">
              <a:buNone/>
            </a:pPr>
            <a:r>
              <a:rPr lang="en-US" sz="1300" b="1" dirty="0">
                <a:solidFill>
                  <a:srgbClr val="A855F7"/>
                </a:solidFill>
                <a:latin typeface="Calibri" pitchFamily="34" charset="0"/>
                <a:ea typeface="Calibri" pitchFamily="34" charset="-122"/>
                <a:cs typeface="Calibri" pitchFamily="34" charset="-120"/>
              </a:rPr>
              <a:t>Security First</a:t>
            </a:r>
            <a:endParaRPr lang="en-US" sz="1300" dirty="0"/>
          </a:p>
        </p:txBody>
      </p:sp>
      <p:sp>
        <p:nvSpPr>
          <p:cNvPr id="28" name="Text 20"/>
          <p:cNvSpPr/>
          <p:nvPr/>
        </p:nvSpPr>
        <p:spPr>
          <a:xfrm>
            <a:off x="1554480" y="5230368"/>
            <a:ext cx="9784080" cy="822960"/>
          </a:xfrm>
          <a:prstGeom prst="rect">
            <a:avLst/>
          </a:prstGeom>
          <a:noFill/>
          <a:ln/>
        </p:spPr>
        <p:txBody>
          <a:bodyPr wrap="square" rtlCol="0" anchor="ctr"/>
          <a:lstStyle/>
          <a:p>
            <a:pPr marL="0" indent="0">
              <a:lnSpc>
                <a:spcPct val="125000"/>
              </a:lnSpc>
              <a:buNone/>
            </a:pPr>
            <a:r>
              <a:rPr lang="en-US" sz="1150" dirty="0">
                <a:solidFill>
                  <a:srgbClr val="B7B2D6"/>
                </a:solidFill>
                <a:latin typeface="Calibri" pitchFamily="34" charset="0"/>
                <a:ea typeface="Calibri" pitchFamily="34" charset="-122"/>
                <a:cs typeface="Calibri" pitchFamily="34" charset="-120"/>
              </a:rPr>
              <a:t>Django's built-in authentication system handles password hashing, CSRF protection, and session management out of the box — extended with custom forms and validation for a smooth user experience.</a:t>
            </a:r>
            <a:endParaRPr lang="en-US" sz="1150" dirty="0"/>
          </a:p>
        </p:txBody>
      </p:sp>
      <p:sp>
        <p:nvSpPr>
          <p:cNvPr id="30" name="Text 21"/>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31" name="Text 22"/>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OVERVIEW HUB</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Dashboard</a:t>
            </a:r>
            <a:endParaRPr lang="en-US" sz="3200" dirty="0"/>
          </a:p>
        </p:txBody>
      </p:sp>
      <p:sp>
        <p:nvSpPr>
          <p:cNvPr id="5" name="Shape 2"/>
          <p:cNvSpPr/>
          <p:nvPr/>
        </p:nvSpPr>
        <p:spPr>
          <a:xfrm>
            <a:off x="548640" y="1417320"/>
            <a:ext cx="2601468" cy="1051560"/>
          </a:xfrm>
          <a:prstGeom prst="roundRect">
            <a:avLst>
              <a:gd name="adj" fmla="val 10435"/>
            </a:avLst>
          </a:prstGeom>
          <a:solidFill>
            <a:srgbClr val="242050"/>
          </a:solidFill>
          <a:ln/>
          <a:effectLst>
            <a:outerShdw blurRad="127000" dist="38100" dir="5400000" algn="bl" rotWithShape="0">
              <a:srgbClr val="000000">
                <a:alpha val="35000"/>
              </a:srgbClr>
            </a:outerShdw>
          </a:effectLst>
        </p:spPr>
      </p:sp>
      <p:sp>
        <p:nvSpPr>
          <p:cNvPr id="6" name="Text 3"/>
          <p:cNvSpPr/>
          <p:nvPr/>
        </p:nvSpPr>
        <p:spPr>
          <a:xfrm>
            <a:off x="548640" y="1490472"/>
            <a:ext cx="2601468" cy="566928"/>
          </a:xfrm>
          <a:prstGeom prst="rect">
            <a:avLst/>
          </a:prstGeom>
          <a:noFill/>
          <a:ln/>
        </p:spPr>
        <p:txBody>
          <a:bodyPr wrap="square" rtlCol="0" anchor="ctr"/>
          <a:lstStyle/>
          <a:p>
            <a:pPr marL="0" indent="0" algn="ctr">
              <a:buNone/>
            </a:pPr>
            <a:r>
              <a:rPr lang="en-US" sz="3000" b="1" dirty="0">
                <a:solidFill>
                  <a:srgbClr val="A855F7"/>
                </a:solidFill>
                <a:latin typeface="Cambria" pitchFamily="34" charset="0"/>
                <a:ea typeface="Cambria" pitchFamily="34" charset="-122"/>
                <a:cs typeface="Cambria" pitchFamily="34" charset="-120"/>
              </a:rPr>
              <a:t>24</a:t>
            </a:r>
            <a:endParaRPr lang="en-US" sz="3000" dirty="0"/>
          </a:p>
        </p:txBody>
      </p:sp>
      <p:sp>
        <p:nvSpPr>
          <p:cNvPr id="7" name="Text 4"/>
          <p:cNvSpPr/>
          <p:nvPr/>
        </p:nvSpPr>
        <p:spPr>
          <a:xfrm>
            <a:off x="548640" y="2075688"/>
            <a:ext cx="2601468" cy="320040"/>
          </a:xfrm>
          <a:prstGeom prst="rect">
            <a:avLst/>
          </a:prstGeom>
          <a:noFill/>
          <a:ln/>
        </p:spPr>
        <p:txBody>
          <a:bodyPr wrap="square" rtlCol="0" anchor="ctr"/>
          <a:lstStyle/>
          <a:p>
            <a:pPr marL="0" indent="0" algn="ctr">
              <a:buNone/>
            </a:pPr>
            <a:r>
              <a:rPr lang="en-US" sz="1050" dirty="0">
                <a:solidFill>
                  <a:srgbClr val="8F89B8"/>
                </a:solidFill>
                <a:latin typeface="Calibri" pitchFamily="34" charset="0"/>
                <a:ea typeface="Calibri" pitchFamily="34" charset="-122"/>
                <a:cs typeface="Calibri" pitchFamily="34" charset="-120"/>
              </a:rPr>
              <a:t>Active Tasks</a:t>
            </a:r>
            <a:endParaRPr lang="en-US" sz="1050" dirty="0"/>
          </a:p>
        </p:txBody>
      </p:sp>
      <p:sp>
        <p:nvSpPr>
          <p:cNvPr id="8" name="Shape 5"/>
          <p:cNvSpPr/>
          <p:nvPr/>
        </p:nvSpPr>
        <p:spPr>
          <a:xfrm>
            <a:off x="3378708" y="1417320"/>
            <a:ext cx="2601468" cy="1051560"/>
          </a:xfrm>
          <a:prstGeom prst="roundRect">
            <a:avLst>
              <a:gd name="adj" fmla="val 10435"/>
            </a:avLst>
          </a:prstGeom>
          <a:solidFill>
            <a:srgbClr val="242050"/>
          </a:solidFill>
          <a:ln/>
          <a:effectLst>
            <a:outerShdw blurRad="127000" dist="38100" dir="5400000" algn="bl" rotWithShape="0">
              <a:srgbClr val="000000">
                <a:alpha val="35000"/>
              </a:srgbClr>
            </a:outerShdw>
          </a:effectLst>
        </p:spPr>
      </p:sp>
      <p:sp>
        <p:nvSpPr>
          <p:cNvPr id="9" name="Text 6"/>
          <p:cNvSpPr/>
          <p:nvPr/>
        </p:nvSpPr>
        <p:spPr>
          <a:xfrm>
            <a:off x="3378708" y="1490472"/>
            <a:ext cx="2601468" cy="566928"/>
          </a:xfrm>
          <a:prstGeom prst="rect">
            <a:avLst/>
          </a:prstGeom>
          <a:noFill/>
          <a:ln/>
        </p:spPr>
        <p:txBody>
          <a:bodyPr wrap="square" rtlCol="0" anchor="ctr"/>
          <a:lstStyle/>
          <a:p>
            <a:pPr marL="0" indent="0" algn="ctr">
              <a:buNone/>
            </a:pPr>
            <a:r>
              <a:rPr lang="en-US" sz="3000" b="1" dirty="0">
                <a:solidFill>
                  <a:srgbClr val="A855F7"/>
                </a:solidFill>
                <a:latin typeface="Cambria" pitchFamily="34" charset="0"/>
                <a:ea typeface="Cambria" pitchFamily="34" charset="-122"/>
                <a:cs typeface="Cambria" pitchFamily="34" charset="-120"/>
              </a:rPr>
              <a:t>87%</a:t>
            </a:r>
            <a:endParaRPr lang="en-US" sz="3000" dirty="0"/>
          </a:p>
        </p:txBody>
      </p:sp>
      <p:sp>
        <p:nvSpPr>
          <p:cNvPr id="10" name="Text 7"/>
          <p:cNvSpPr/>
          <p:nvPr/>
        </p:nvSpPr>
        <p:spPr>
          <a:xfrm>
            <a:off x="3378708" y="2075688"/>
            <a:ext cx="2601468" cy="320040"/>
          </a:xfrm>
          <a:prstGeom prst="rect">
            <a:avLst/>
          </a:prstGeom>
          <a:noFill/>
          <a:ln/>
        </p:spPr>
        <p:txBody>
          <a:bodyPr wrap="square" rtlCol="0" anchor="ctr"/>
          <a:lstStyle/>
          <a:p>
            <a:pPr marL="0" indent="0" algn="ctr">
              <a:buNone/>
            </a:pPr>
            <a:r>
              <a:rPr lang="en-US" sz="1050" dirty="0">
                <a:solidFill>
                  <a:srgbClr val="8F89B8"/>
                </a:solidFill>
                <a:latin typeface="Calibri" pitchFamily="34" charset="0"/>
                <a:ea typeface="Calibri" pitchFamily="34" charset="-122"/>
                <a:cs typeface="Calibri" pitchFamily="34" charset="-120"/>
              </a:rPr>
              <a:t>Completion Rate</a:t>
            </a:r>
            <a:endParaRPr lang="en-US" sz="1050" dirty="0"/>
          </a:p>
        </p:txBody>
      </p:sp>
      <p:sp>
        <p:nvSpPr>
          <p:cNvPr id="11" name="Shape 8"/>
          <p:cNvSpPr/>
          <p:nvPr/>
        </p:nvSpPr>
        <p:spPr>
          <a:xfrm>
            <a:off x="6208776" y="1417320"/>
            <a:ext cx="2601468" cy="1051560"/>
          </a:xfrm>
          <a:prstGeom prst="roundRect">
            <a:avLst>
              <a:gd name="adj" fmla="val 10435"/>
            </a:avLst>
          </a:prstGeom>
          <a:solidFill>
            <a:srgbClr val="242050"/>
          </a:solidFill>
          <a:ln/>
          <a:effectLst>
            <a:outerShdw blurRad="127000" dist="38100" dir="5400000" algn="bl" rotWithShape="0">
              <a:srgbClr val="000000">
                <a:alpha val="35000"/>
              </a:srgbClr>
            </a:outerShdw>
          </a:effectLst>
        </p:spPr>
      </p:sp>
      <p:sp>
        <p:nvSpPr>
          <p:cNvPr id="12" name="Text 9"/>
          <p:cNvSpPr/>
          <p:nvPr/>
        </p:nvSpPr>
        <p:spPr>
          <a:xfrm>
            <a:off x="6208776" y="1490472"/>
            <a:ext cx="2601468" cy="566928"/>
          </a:xfrm>
          <a:prstGeom prst="rect">
            <a:avLst/>
          </a:prstGeom>
          <a:noFill/>
          <a:ln/>
        </p:spPr>
        <p:txBody>
          <a:bodyPr wrap="square" rtlCol="0" anchor="ctr"/>
          <a:lstStyle/>
          <a:p>
            <a:pPr marL="0" indent="0" algn="ctr">
              <a:buNone/>
            </a:pPr>
            <a:r>
              <a:rPr lang="en-US" sz="3000" b="1" dirty="0">
                <a:solidFill>
                  <a:srgbClr val="A855F7"/>
                </a:solidFill>
                <a:latin typeface="Cambria" pitchFamily="34" charset="0"/>
                <a:ea typeface="Cambria" pitchFamily="34" charset="-122"/>
                <a:cs typeface="Cambria" pitchFamily="34" charset="-120"/>
              </a:rPr>
              <a:t>12</a:t>
            </a:r>
            <a:endParaRPr lang="en-US" sz="3000" dirty="0"/>
          </a:p>
        </p:txBody>
      </p:sp>
      <p:sp>
        <p:nvSpPr>
          <p:cNvPr id="13" name="Text 10"/>
          <p:cNvSpPr/>
          <p:nvPr/>
        </p:nvSpPr>
        <p:spPr>
          <a:xfrm>
            <a:off x="6208776" y="2075688"/>
            <a:ext cx="2601468" cy="320040"/>
          </a:xfrm>
          <a:prstGeom prst="rect">
            <a:avLst/>
          </a:prstGeom>
          <a:noFill/>
          <a:ln/>
        </p:spPr>
        <p:txBody>
          <a:bodyPr wrap="square" rtlCol="0" anchor="ctr"/>
          <a:lstStyle/>
          <a:p>
            <a:pPr marL="0" indent="0" algn="ctr">
              <a:buNone/>
            </a:pPr>
            <a:r>
              <a:rPr lang="en-US" sz="1050" dirty="0">
                <a:solidFill>
                  <a:srgbClr val="8F89B8"/>
                </a:solidFill>
                <a:latin typeface="Calibri" pitchFamily="34" charset="0"/>
                <a:ea typeface="Calibri" pitchFamily="34" charset="-122"/>
                <a:cs typeface="Calibri" pitchFamily="34" charset="-120"/>
              </a:rPr>
              <a:t>Notes This Week</a:t>
            </a:r>
            <a:endParaRPr lang="en-US" sz="1050" dirty="0"/>
          </a:p>
        </p:txBody>
      </p:sp>
      <p:sp>
        <p:nvSpPr>
          <p:cNvPr id="14" name="Shape 11"/>
          <p:cNvSpPr/>
          <p:nvPr/>
        </p:nvSpPr>
        <p:spPr>
          <a:xfrm>
            <a:off x="9038844" y="1417320"/>
            <a:ext cx="2601468" cy="1051560"/>
          </a:xfrm>
          <a:prstGeom prst="roundRect">
            <a:avLst>
              <a:gd name="adj" fmla="val 10435"/>
            </a:avLst>
          </a:prstGeom>
          <a:solidFill>
            <a:srgbClr val="242050"/>
          </a:solidFill>
          <a:ln/>
          <a:effectLst>
            <a:outerShdw blurRad="127000" dist="38100" dir="5400000" algn="bl" rotWithShape="0">
              <a:srgbClr val="000000">
                <a:alpha val="35000"/>
              </a:srgbClr>
            </a:outerShdw>
          </a:effectLst>
        </p:spPr>
      </p:sp>
      <p:sp>
        <p:nvSpPr>
          <p:cNvPr id="15" name="Text 12"/>
          <p:cNvSpPr/>
          <p:nvPr/>
        </p:nvSpPr>
        <p:spPr>
          <a:xfrm>
            <a:off x="9038844" y="1490472"/>
            <a:ext cx="2601468" cy="566928"/>
          </a:xfrm>
          <a:prstGeom prst="rect">
            <a:avLst/>
          </a:prstGeom>
          <a:noFill/>
          <a:ln/>
        </p:spPr>
        <p:txBody>
          <a:bodyPr wrap="square" rtlCol="0" anchor="ctr"/>
          <a:lstStyle/>
          <a:p>
            <a:pPr marL="0" indent="0" algn="ctr">
              <a:buNone/>
            </a:pPr>
            <a:r>
              <a:rPr lang="en-US" sz="3000" b="1" dirty="0">
                <a:solidFill>
                  <a:srgbClr val="A855F7"/>
                </a:solidFill>
                <a:latin typeface="Cambria" pitchFamily="34" charset="0"/>
                <a:ea typeface="Cambria" pitchFamily="34" charset="-122"/>
                <a:cs typeface="Cambria" pitchFamily="34" charset="-120"/>
              </a:rPr>
              <a:t>5</a:t>
            </a:r>
            <a:endParaRPr lang="en-US" sz="3000" dirty="0"/>
          </a:p>
        </p:txBody>
      </p:sp>
      <p:sp>
        <p:nvSpPr>
          <p:cNvPr id="16" name="Text 13"/>
          <p:cNvSpPr/>
          <p:nvPr/>
        </p:nvSpPr>
        <p:spPr>
          <a:xfrm>
            <a:off x="9038844" y="2075688"/>
            <a:ext cx="2601468" cy="320040"/>
          </a:xfrm>
          <a:prstGeom prst="rect">
            <a:avLst/>
          </a:prstGeom>
          <a:noFill/>
          <a:ln/>
        </p:spPr>
        <p:txBody>
          <a:bodyPr wrap="square" rtlCol="0" anchor="ctr"/>
          <a:lstStyle/>
          <a:p>
            <a:pPr marL="0" indent="0" algn="ctr">
              <a:buNone/>
            </a:pPr>
            <a:r>
              <a:rPr lang="en-US" sz="1050" dirty="0">
                <a:solidFill>
                  <a:srgbClr val="8F89B8"/>
                </a:solidFill>
                <a:latin typeface="Calibri" pitchFamily="34" charset="0"/>
                <a:ea typeface="Calibri" pitchFamily="34" charset="-122"/>
                <a:cs typeface="Calibri" pitchFamily="34" charset="-120"/>
              </a:rPr>
              <a:t>Saved Resources</a:t>
            </a:r>
            <a:endParaRPr lang="en-US" sz="1050" dirty="0"/>
          </a:p>
        </p:txBody>
      </p:sp>
      <p:sp>
        <p:nvSpPr>
          <p:cNvPr id="17" name="Shape 14"/>
          <p:cNvSpPr/>
          <p:nvPr/>
        </p:nvSpPr>
        <p:spPr>
          <a:xfrm>
            <a:off x="548640" y="2697480"/>
            <a:ext cx="6309360" cy="3429000"/>
          </a:xfrm>
          <a:prstGeom prst="roundRect">
            <a:avLst>
              <a:gd name="adj" fmla="val 3200"/>
            </a:avLst>
          </a:prstGeom>
          <a:solidFill>
            <a:srgbClr val="1E1A3A"/>
          </a:solidFill>
          <a:ln/>
          <a:effectLst>
            <a:outerShdw blurRad="127000" dist="38100" dir="5400000" algn="bl" rotWithShape="0">
              <a:srgbClr val="000000">
                <a:alpha val="35000"/>
              </a:srgbClr>
            </a:outerShdw>
          </a:effectLst>
        </p:spPr>
      </p:sp>
      <p:sp>
        <p:nvSpPr>
          <p:cNvPr id="18" name="Text 15"/>
          <p:cNvSpPr/>
          <p:nvPr/>
        </p:nvSpPr>
        <p:spPr>
          <a:xfrm>
            <a:off x="777240" y="2862072"/>
            <a:ext cx="585216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Weekly Task Progress</a:t>
            </a:r>
            <a:endParaRPr lang="en-US" sz="1300" dirty="0"/>
          </a:p>
        </p:txBody>
      </p:sp>
      <p:graphicFrame>
        <p:nvGraphicFramePr>
          <p:cNvPr id="19" name="Chart 0"/>
          <p:cNvGraphicFramePr/>
          <p:nvPr/>
        </p:nvGraphicFramePr>
        <p:xfrm>
          <a:off x="731520" y="3200400"/>
          <a:ext cx="5943600"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20" name="Shape 16"/>
          <p:cNvSpPr/>
          <p:nvPr/>
        </p:nvSpPr>
        <p:spPr>
          <a:xfrm>
            <a:off x="7086600" y="2697480"/>
            <a:ext cx="4553712" cy="3429000"/>
          </a:xfrm>
          <a:prstGeom prst="roundRect">
            <a:avLst>
              <a:gd name="adj" fmla="val 3200"/>
            </a:avLst>
          </a:prstGeom>
          <a:solidFill>
            <a:srgbClr val="242050"/>
          </a:solidFill>
          <a:ln/>
          <a:effectLst>
            <a:outerShdw blurRad="127000" dist="38100" dir="5400000" algn="bl" rotWithShape="0">
              <a:srgbClr val="000000">
                <a:alpha val="35000"/>
              </a:srgbClr>
            </a:outerShdw>
          </a:effectLst>
        </p:spPr>
      </p:sp>
      <p:sp>
        <p:nvSpPr>
          <p:cNvPr id="21" name="Text 17"/>
          <p:cNvSpPr/>
          <p:nvPr/>
        </p:nvSpPr>
        <p:spPr>
          <a:xfrm>
            <a:off x="7315200" y="2862072"/>
            <a:ext cx="4096512"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Upcoming Tasks</a:t>
            </a:r>
            <a:endParaRPr lang="en-US" sz="1300" dirty="0"/>
          </a:p>
        </p:txBody>
      </p:sp>
      <p:sp>
        <p:nvSpPr>
          <p:cNvPr id="22" name="Shape 18"/>
          <p:cNvSpPr/>
          <p:nvPr/>
        </p:nvSpPr>
        <p:spPr>
          <a:xfrm>
            <a:off x="7315200" y="3383280"/>
            <a:ext cx="118872" cy="118872"/>
          </a:xfrm>
          <a:prstGeom prst="ellipse">
            <a:avLst/>
          </a:prstGeom>
          <a:solidFill>
            <a:srgbClr val="EC4899"/>
          </a:solidFill>
          <a:ln/>
        </p:spPr>
      </p:sp>
      <p:sp>
        <p:nvSpPr>
          <p:cNvPr id="23" name="Text 19"/>
          <p:cNvSpPr/>
          <p:nvPr/>
        </p:nvSpPr>
        <p:spPr>
          <a:xfrm>
            <a:off x="7543800" y="3246120"/>
            <a:ext cx="3867912"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Database Migration Review</a:t>
            </a:r>
            <a:endParaRPr lang="en-US" sz="1200" dirty="0"/>
          </a:p>
        </p:txBody>
      </p:sp>
      <p:sp>
        <p:nvSpPr>
          <p:cNvPr id="24" name="Text 20"/>
          <p:cNvSpPr/>
          <p:nvPr/>
        </p:nvSpPr>
        <p:spPr>
          <a:xfrm>
            <a:off x="7543800" y="3529584"/>
            <a:ext cx="3867912" cy="256032"/>
          </a:xfrm>
          <a:prstGeom prst="rect">
            <a:avLst/>
          </a:prstGeom>
          <a:noFill/>
          <a:ln/>
        </p:spPr>
        <p:txBody>
          <a:bodyPr wrap="square" rtlCol="0" anchor="ctr"/>
          <a:lstStyle/>
          <a:p>
            <a:pPr marL="0" indent="0">
              <a:buNone/>
            </a:pPr>
            <a:r>
              <a:rPr lang="en-US" sz="1000" dirty="0">
                <a:solidFill>
                  <a:srgbClr val="8F89B8"/>
                </a:solidFill>
                <a:latin typeface="Calibri" pitchFamily="34" charset="0"/>
                <a:ea typeface="Calibri" pitchFamily="34" charset="-122"/>
                <a:cs typeface="Calibri" pitchFamily="34" charset="-120"/>
              </a:rPr>
              <a:t>Due Tomorrow</a:t>
            </a:r>
            <a:endParaRPr lang="en-US" sz="1000" dirty="0"/>
          </a:p>
        </p:txBody>
      </p:sp>
      <p:sp>
        <p:nvSpPr>
          <p:cNvPr id="25" name="Shape 21"/>
          <p:cNvSpPr/>
          <p:nvPr/>
        </p:nvSpPr>
        <p:spPr>
          <a:xfrm>
            <a:off x="7315200" y="4069080"/>
            <a:ext cx="118872" cy="118872"/>
          </a:xfrm>
          <a:prstGeom prst="ellipse">
            <a:avLst/>
          </a:prstGeom>
          <a:solidFill>
            <a:srgbClr val="A855F7"/>
          </a:solidFill>
          <a:ln/>
        </p:spPr>
      </p:sp>
      <p:sp>
        <p:nvSpPr>
          <p:cNvPr id="26" name="Text 22"/>
          <p:cNvSpPr/>
          <p:nvPr/>
        </p:nvSpPr>
        <p:spPr>
          <a:xfrm>
            <a:off x="7543800" y="3931920"/>
            <a:ext cx="3867912"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Finish Notes UI Styling</a:t>
            </a:r>
            <a:endParaRPr lang="en-US" sz="1200" dirty="0"/>
          </a:p>
        </p:txBody>
      </p:sp>
      <p:sp>
        <p:nvSpPr>
          <p:cNvPr id="27" name="Text 23"/>
          <p:cNvSpPr/>
          <p:nvPr/>
        </p:nvSpPr>
        <p:spPr>
          <a:xfrm>
            <a:off x="7543800" y="4215384"/>
            <a:ext cx="3867912" cy="256032"/>
          </a:xfrm>
          <a:prstGeom prst="rect">
            <a:avLst/>
          </a:prstGeom>
          <a:noFill/>
          <a:ln/>
        </p:spPr>
        <p:txBody>
          <a:bodyPr wrap="square" rtlCol="0" anchor="ctr"/>
          <a:lstStyle/>
          <a:p>
            <a:pPr marL="0" indent="0">
              <a:buNone/>
            </a:pPr>
            <a:r>
              <a:rPr lang="en-US" sz="1000" dirty="0">
                <a:solidFill>
                  <a:srgbClr val="8F89B8"/>
                </a:solidFill>
                <a:latin typeface="Calibri" pitchFamily="34" charset="0"/>
                <a:ea typeface="Calibri" pitchFamily="34" charset="-122"/>
                <a:cs typeface="Calibri" pitchFamily="34" charset="-120"/>
              </a:rPr>
              <a:t>Due in 2 days</a:t>
            </a:r>
            <a:endParaRPr lang="en-US" sz="1000" dirty="0"/>
          </a:p>
        </p:txBody>
      </p:sp>
      <p:sp>
        <p:nvSpPr>
          <p:cNvPr id="28" name="Shape 24"/>
          <p:cNvSpPr/>
          <p:nvPr/>
        </p:nvSpPr>
        <p:spPr>
          <a:xfrm>
            <a:off x="7315200" y="4754880"/>
            <a:ext cx="118872" cy="118872"/>
          </a:xfrm>
          <a:prstGeom prst="ellipse">
            <a:avLst/>
          </a:prstGeom>
          <a:solidFill>
            <a:srgbClr val="6366F1"/>
          </a:solidFill>
          <a:ln/>
        </p:spPr>
      </p:sp>
      <p:sp>
        <p:nvSpPr>
          <p:cNvPr id="29" name="Text 25"/>
          <p:cNvSpPr/>
          <p:nvPr/>
        </p:nvSpPr>
        <p:spPr>
          <a:xfrm>
            <a:off x="7543800" y="4617720"/>
            <a:ext cx="3867912"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Prepare AI Prompt Tests</a:t>
            </a:r>
            <a:endParaRPr lang="en-US" sz="1200" dirty="0"/>
          </a:p>
        </p:txBody>
      </p:sp>
      <p:sp>
        <p:nvSpPr>
          <p:cNvPr id="30" name="Text 26"/>
          <p:cNvSpPr/>
          <p:nvPr/>
        </p:nvSpPr>
        <p:spPr>
          <a:xfrm>
            <a:off x="7543800" y="4901184"/>
            <a:ext cx="3867912" cy="256032"/>
          </a:xfrm>
          <a:prstGeom prst="rect">
            <a:avLst/>
          </a:prstGeom>
          <a:noFill/>
          <a:ln/>
        </p:spPr>
        <p:txBody>
          <a:bodyPr wrap="square" rtlCol="0" anchor="ctr"/>
          <a:lstStyle/>
          <a:p>
            <a:pPr marL="0" indent="0">
              <a:buNone/>
            </a:pPr>
            <a:r>
              <a:rPr lang="en-US" sz="1000" dirty="0">
                <a:solidFill>
                  <a:srgbClr val="8F89B8"/>
                </a:solidFill>
                <a:latin typeface="Calibri" pitchFamily="34" charset="0"/>
                <a:ea typeface="Calibri" pitchFamily="34" charset="-122"/>
                <a:cs typeface="Calibri" pitchFamily="34" charset="-120"/>
              </a:rPr>
              <a:t>Due in 4 days</a:t>
            </a:r>
            <a:endParaRPr lang="en-US" sz="1000" dirty="0"/>
          </a:p>
        </p:txBody>
      </p:sp>
      <p:sp>
        <p:nvSpPr>
          <p:cNvPr id="31" name="Shape 27"/>
          <p:cNvSpPr/>
          <p:nvPr/>
        </p:nvSpPr>
        <p:spPr>
          <a:xfrm>
            <a:off x="7315200" y="5440680"/>
            <a:ext cx="118872" cy="118872"/>
          </a:xfrm>
          <a:prstGeom prst="ellipse">
            <a:avLst/>
          </a:prstGeom>
          <a:solidFill>
            <a:srgbClr val="8F89B8"/>
          </a:solidFill>
          <a:ln/>
        </p:spPr>
      </p:sp>
      <p:sp>
        <p:nvSpPr>
          <p:cNvPr id="32" name="Text 28"/>
          <p:cNvSpPr/>
          <p:nvPr/>
        </p:nvSpPr>
        <p:spPr>
          <a:xfrm>
            <a:off x="7543800" y="5303520"/>
            <a:ext cx="3867912"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Write Final Report</a:t>
            </a:r>
            <a:endParaRPr lang="en-US" sz="1200" dirty="0"/>
          </a:p>
        </p:txBody>
      </p:sp>
      <p:sp>
        <p:nvSpPr>
          <p:cNvPr id="33" name="Text 29"/>
          <p:cNvSpPr/>
          <p:nvPr/>
        </p:nvSpPr>
        <p:spPr>
          <a:xfrm>
            <a:off x="7543800" y="5586984"/>
            <a:ext cx="3867912" cy="256032"/>
          </a:xfrm>
          <a:prstGeom prst="rect">
            <a:avLst/>
          </a:prstGeom>
          <a:noFill/>
          <a:ln/>
        </p:spPr>
        <p:txBody>
          <a:bodyPr wrap="square" rtlCol="0" anchor="ctr"/>
          <a:lstStyle/>
          <a:p>
            <a:pPr marL="0" indent="0">
              <a:buNone/>
            </a:pPr>
            <a:r>
              <a:rPr lang="en-US" sz="1000" dirty="0">
                <a:solidFill>
                  <a:srgbClr val="8F89B8"/>
                </a:solidFill>
                <a:latin typeface="Calibri" pitchFamily="34" charset="0"/>
                <a:ea typeface="Calibri" pitchFamily="34" charset="-122"/>
                <a:cs typeface="Calibri" pitchFamily="34" charset="-120"/>
              </a:rPr>
              <a:t>Due in 6 days</a:t>
            </a:r>
            <a:endParaRPr lang="en-US" sz="1000" dirty="0"/>
          </a:p>
        </p:txBody>
      </p:sp>
      <p:sp>
        <p:nvSpPr>
          <p:cNvPr id="35" name="Text 30"/>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36" name="Text 31"/>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PLANNER APP</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Study Planner</a:t>
            </a:r>
            <a:endParaRPr lang="en-US" sz="3200" dirty="0"/>
          </a:p>
        </p:txBody>
      </p:sp>
      <p:sp>
        <p:nvSpPr>
          <p:cNvPr id="5" name="Text 2"/>
          <p:cNvSpPr/>
          <p:nvPr/>
        </p:nvSpPr>
        <p:spPr>
          <a:xfrm>
            <a:off x="548640" y="1298448"/>
            <a:ext cx="5303520" cy="731520"/>
          </a:xfrm>
          <a:prstGeom prst="rect">
            <a:avLst/>
          </a:prstGeom>
          <a:noFill/>
          <a:ln/>
        </p:spPr>
        <p:txBody>
          <a:bodyPr wrap="square" rtlCol="0" anchor="ctr"/>
          <a:lstStyle/>
          <a:p>
            <a:pPr marL="0" indent="0">
              <a:lnSpc>
                <a:spcPct val="125000"/>
              </a:lnSpc>
              <a:buNone/>
            </a:pPr>
            <a:r>
              <a:rPr lang="en-US" sz="1300" dirty="0">
                <a:solidFill>
                  <a:srgbClr val="B7B2D6"/>
                </a:solidFill>
                <a:latin typeface="Calibri" pitchFamily="34" charset="0"/>
                <a:ea typeface="Calibri" pitchFamily="34" charset="-122"/>
                <a:cs typeface="Calibri" pitchFamily="34" charset="-120"/>
              </a:rPr>
              <a:t>A full task-management workflow purpose-built for students — create, edit, prioritize, and complete study tasks in seconds.</a:t>
            </a:r>
            <a:endParaRPr lang="en-US" sz="1300" dirty="0"/>
          </a:p>
        </p:txBody>
      </p:sp>
      <p:sp>
        <p:nvSpPr>
          <p:cNvPr id="6" name="Shape 3"/>
          <p:cNvSpPr/>
          <p:nvPr/>
        </p:nvSpPr>
        <p:spPr>
          <a:xfrm>
            <a:off x="548640" y="2286000"/>
            <a:ext cx="502920" cy="502920"/>
          </a:xfrm>
          <a:prstGeom prst="ellipse">
            <a:avLst/>
          </a:prstGeom>
          <a:solidFill>
            <a:srgbClr val="6366F1"/>
          </a:solidFill>
          <a:ln/>
          <a:effectLst>
            <a:outerShdw blurRad="101600" dist="38100" dir="5400000" algn="bl" rotWithShape="0">
              <a:srgbClr val="000000">
                <a:alpha val="40000"/>
              </a:srgbClr>
            </a:outerShdw>
          </a:effectLst>
        </p:spPr>
      </p:sp>
      <p:pic>
        <p:nvPicPr>
          <p:cNvPr id="7" name="Image 1" descr="ic_listcheck.png"/>
          <p:cNvPicPr>
            <a:picLocks noChangeAspect="1"/>
          </p:cNvPicPr>
          <p:nvPr/>
        </p:nvPicPr>
        <p:blipFill>
          <a:blip r:embed="rId4"/>
          <a:stretch>
            <a:fillRect/>
          </a:stretch>
        </p:blipFill>
        <p:spPr>
          <a:xfrm>
            <a:off x="679399" y="2416759"/>
            <a:ext cx="241402" cy="241402"/>
          </a:xfrm>
          <a:prstGeom prst="rect">
            <a:avLst/>
          </a:prstGeom>
        </p:spPr>
      </p:pic>
      <p:sp>
        <p:nvSpPr>
          <p:cNvPr id="8" name="Text 4"/>
          <p:cNvSpPr/>
          <p:nvPr/>
        </p:nvSpPr>
        <p:spPr>
          <a:xfrm>
            <a:off x="1188720" y="2258568"/>
            <a:ext cx="448056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Full CRUD</a:t>
            </a:r>
            <a:endParaRPr lang="en-US" sz="1250" dirty="0"/>
          </a:p>
        </p:txBody>
      </p:sp>
      <p:sp>
        <p:nvSpPr>
          <p:cNvPr id="9" name="Text 5"/>
          <p:cNvSpPr/>
          <p:nvPr/>
        </p:nvSpPr>
        <p:spPr>
          <a:xfrm>
            <a:off x="1188720" y="2523744"/>
            <a:ext cx="4663440" cy="384048"/>
          </a:xfrm>
          <a:prstGeom prst="rect">
            <a:avLst/>
          </a:prstGeom>
          <a:noFill/>
          <a:ln/>
        </p:spPr>
        <p:txBody>
          <a:bodyPr wrap="square" rtlCol="0" anchor="ctr"/>
          <a:lstStyle/>
          <a:p>
            <a:pPr marL="0" indent="0">
              <a:lnSpc>
                <a:spcPct val="110000"/>
              </a:lnSpc>
              <a:buNone/>
            </a:pPr>
            <a:r>
              <a:rPr lang="en-US" sz="1000" dirty="0">
                <a:solidFill>
                  <a:srgbClr val="8F89B8"/>
                </a:solidFill>
                <a:latin typeface="Calibri" pitchFamily="34" charset="0"/>
                <a:ea typeface="Calibri" pitchFamily="34" charset="-122"/>
                <a:cs typeface="Calibri" pitchFamily="34" charset="-120"/>
              </a:rPr>
              <a:t>Create, read, update, and delete tasks with ease.</a:t>
            </a:r>
            <a:endParaRPr lang="en-US" sz="1000" dirty="0"/>
          </a:p>
        </p:txBody>
      </p:sp>
      <p:sp>
        <p:nvSpPr>
          <p:cNvPr id="10" name="Shape 6"/>
          <p:cNvSpPr/>
          <p:nvPr/>
        </p:nvSpPr>
        <p:spPr>
          <a:xfrm>
            <a:off x="548640" y="3127248"/>
            <a:ext cx="502920" cy="502920"/>
          </a:xfrm>
          <a:prstGeom prst="ellipse">
            <a:avLst/>
          </a:prstGeom>
          <a:solidFill>
            <a:srgbClr val="6366F1"/>
          </a:solidFill>
          <a:ln/>
          <a:effectLst>
            <a:outerShdw blurRad="101600" dist="38100" dir="5400000" algn="bl" rotWithShape="0">
              <a:srgbClr val="000000">
                <a:alpha val="40000"/>
              </a:srgbClr>
            </a:outerShdw>
          </a:effectLst>
        </p:spPr>
      </p:sp>
      <p:pic>
        <p:nvPicPr>
          <p:cNvPr id="11" name="Image 2" descr="ic_star.png"/>
          <p:cNvPicPr>
            <a:picLocks noChangeAspect="1"/>
          </p:cNvPicPr>
          <p:nvPr/>
        </p:nvPicPr>
        <p:blipFill>
          <a:blip r:embed="rId5"/>
          <a:stretch>
            <a:fillRect/>
          </a:stretch>
        </p:blipFill>
        <p:spPr>
          <a:xfrm>
            <a:off x="679399" y="3258007"/>
            <a:ext cx="241402" cy="241402"/>
          </a:xfrm>
          <a:prstGeom prst="rect">
            <a:avLst/>
          </a:prstGeom>
        </p:spPr>
      </p:pic>
      <p:sp>
        <p:nvSpPr>
          <p:cNvPr id="12" name="Text 7"/>
          <p:cNvSpPr/>
          <p:nvPr/>
        </p:nvSpPr>
        <p:spPr>
          <a:xfrm>
            <a:off x="1188720" y="3099816"/>
            <a:ext cx="448056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Priority Levels</a:t>
            </a:r>
            <a:endParaRPr lang="en-US" sz="1250" dirty="0"/>
          </a:p>
        </p:txBody>
      </p:sp>
      <p:sp>
        <p:nvSpPr>
          <p:cNvPr id="13" name="Text 8"/>
          <p:cNvSpPr/>
          <p:nvPr/>
        </p:nvSpPr>
        <p:spPr>
          <a:xfrm>
            <a:off x="1188720" y="3364992"/>
            <a:ext cx="4663440" cy="384048"/>
          </a:xfrm>
          <a:prstGeom prst="rect">
            <a:avLst/>
          </a:prstGeom>
          <a:noFill/>
          <a:ln/>
        </p:spPr>
        <p:txBody>
          <a:bodyPr wrap="square" rtlCol="0" anchor="ctr"/>
          <a:lstStyle/>
          <a:p>
            <a:pPr marL="0" indent="0">
              <a:lnSpc>
                <a:spcPct val="110000"/>
              </a:lnSpc>
              <a:buNone/>
            </a:pPr>
            <a:r>
              <a:rPr lang="en-US" sz="1000" dirty="0">
                <a:solidFill>
                  <a:srgbClr val="8F89B8"/>
                </a:solidFill>
                <a:latin typeface="Calibri" pitchFamily="34" charset="0"/>
                <a:ea typeface="Calibri" pitchFamily="34" charset="-122"/>
                <a:cs typeface="Calibri" pitchFamily="34" charset="-120"/>
              </a:rPr>
              <a:t>Tag tasks as Low, Medium, or High priority.</a:t>
            </a:r>
            <a:endParaRPr lang="en-US" sz="1000" dirty="0"/>
          </a:p>
        </p:txBody>
      </p:sp>
      <p:sp>
        <p:nvSpPr>
          <p:cNvPr id="14" name="Shape 9"/>
          <p:cNvSpPr/>
          <p:nvPr/>
        </p:nvSpPr>
        <p:spPr>
          <a:xfrm>
            <a:off x="548640" y="3968496"/>
            <a:ext cx="502920" cy="502920"/>
          </a:xfrm>
          <a:prstGeom prst="ellipse">
            <a:avLst/>
          </a:prstGeom>
          <a:solidFill>
            <a:srgbClr val="6366F1"/>
          </a:solidFill>
          <a:ln/>
          <a:effectLst>
            <a:outerShdw blurRad="101600" dist="38100" dir="5400000" algn="bl" rotWithShape="0">
              <a:srgbClr val="000000">
                <a:alpha val="40000"/>
              </a:srgbClr>
            </a:outerShdw>
          </a:effectLst>
        </p:spPr>
      </p:sp>
      <p:pic>
        <p:nvPicPr>
          <p:cNvPr id="15" name="Image 3" descr="ic_calendar.png"/>
          <p:cNvPicPr>
            <a:picLocks noChangeAspect="1"/>
          </p:cNvPicPr>
          <p:nvPr/>
        </p:nvPicPr>
        <p:blipFill>
          <a:blip r:embed="rId6"/>
          <a:stretch>
            <a:fillRect/>
          </a:stretch>
        </p:blipFill>
        <p:spPr>
          <a:xfrm>
            <a:off x="679399" y="4099255"/>
            <a:ext cx="241402" cy="241402"/>
          </a:xfrm>
          <a:prstGeom prst="rect">
            <a:avLst/>
          </a:prstGeom>
        </p:spPr>
      </p:pic>
      <p:sp>
        <p:nvSpPr>
          <p:cNvPr id="16" name="Text 10"/>
          <p:cNvSpPr/>
          <p:nvPr/>
        </p:nvSpPr>
        <p:spPr>
          <a:xfrm>
            <a:off x="1188720" y="3941064"/>
            <a:ext cx="448056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Due Dates</a:t>
            </a:r>
            <a:endParaRPr lang="en-US" sz="1250" dirty="0"/>
          </a:p>
        </p:txBody>
      </p:sp>
      <p:sp>
        <p:nvSpPr>
          <p:cNvPr id="17" name="Text 11"/>
          <p:cNvSpPr/>
          <p:nvPr/>
        </p:nvSpPr>
        <p:spPr>
          <a:xfrm>
            <a:off x="1188720" y="4206240"/>
            <a:ext cx="4663440" cy="384048"/>
          </a:xfrm>
          <a:prstGeom prst="rect">
            <a:avLst/>
          </a:prstGeom>
          <a:noFill/>
          <a:ln/>
        </p:spPr>
        <p:txBody>
          <a:bodyPr wrap="square" rtlCol="0" anchor="ctr"/>
          <a:lstStyle/>
          <a:p>
            <a:pPr marL="0" indent="0">
              <a:lnSpc>
                <a:spcPct val="110000"/>
              </a:lnSpc>
              <a:buNone/>
            </a:pPr>
            <a:r>
              <a:rPr lang="en-US" sz="1000" dirty="0">
                <a:solidFill>
                  <a:srgbClr val="8F89B8"/>
                </a:solidFill>
                <a:latin typeface="Calibri" pitchFamily="34" charset="0"/>
                <a:ea typeface="Calibri" pitchFamily="34" charset="-122"/>
                <a:cs typeface="Calibri" pitchFamily="34" charset="-120"/>
              </a:rPr>
              <a:t>Never miss a deadline with date tracking.</a:t>
            </a:r>
            <a:endParaRPr lang="en-US" sz="1000" dirty="0"/>
          </a:p>
        </p:txBody>
      </p:sp>
      <p:sp>
        <p:nvSpPr>
          <p:cNvPr id="18" name="Shape 12"/>
          <p:cNvSpPr/>
          <p:nvPr/>
        </p:nvSpPr>
        <p:spPr>
          <a:xfrm>
            <a:off x="548640" y="4809744"/>
            <a:ext cx="502920" cy="502920"/>
          </a:xfrm>
          <a:prstGeom prst="ellipse">
            <a:avLst/>
          </a:prstGeom>
          <a:solidFill>
            <a:srgbClr val="6366F1"/>
          </a:solidFill>
          <a:ln/>
          <a:effectLst>
            <a:outerShdw blurRad="101600" dist="38100" dir="5400000" algn="bl" rotWithShape="0">
              <a:srgbClr val="000000">
                <a:alpha val="40000"/>
              </a:srgbClr>
            </a:outerShdw>
          </a:effectLst>
        </p:spPr>
      </p:sp>
      <p:pic>
        <p:nvPicPr>
          <p:cNvPr id="19" name="Image 4" descr="ic_check.png"/>
          <p:cNvPicPr>
            <a:picLocks noChangeAspect="1"/>
          </p:cNvPicPr>
          <p:nvPr/>
        </p:nvPicPr>
        <p:blipFill>
          <a:blip r:embed="rId7"/>
          <a:stretch>
            <a:fillRect/>
          </a:stretch>
        </p:blipFill>
        <p:spPr>
          <a:xfrm>
            <a:off x="679399" y="4940503"/>
            <a:ext cx="241402" cy="241402"/>
          </a:xfrm>
          <a:prstGeom prst="rect">
            <a:avLst/>
          </a:prstGeom>
        </p:spPr>
      </p:pic>
      <p:sp>
        <p:nvSpPr>
          <p:cNvPr id="20" name="Text 13"/>
          <p:cNvSpPr/>
          <p:nvPr/>
        </p:nvSpPr>
        <p:spPr>
          <a:xfrm>
            <a:off x="1188720" y="4782312"/>
            <a:ext cx="448056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Complete Toggle</a:t>
            </a:r>
            <a:endParaRPr lang="en-US" sz="1250" dirty="0"/>
          </a:p>
        </p:txBody>
      </p:sp>
      <p:sp>
        <p:nvSpPr>
          <p:cNvPr id="21" name="Text 14"/>
          <p:cNvSpPr/>
          <p:nvPr/>
        </p:nvSpPr>
        <p:spPr>
          <a:xfrm>
            <a:off x="1188720" y="5047488"/>
            <a:ext cx="4663440" cy="384048"/>
          </a:xfrm>
          <a:prstGeom prst="rect">
            <a:avLst/>
          </a:prstGeom>
          <a:noFill/>
          <a:ln/>
        </p:spPr>
        <p:txBody>
          <a:bodyPr wrap="square" rtlCol="0" anchor="ctr"/>
          <a:lstStyle/>
          <a:p>
            <a:pPr marL="0" indent="0">
              <a:lnSpc>
                <a:spcPct val="110000"/>
              </a:lnSpc>
              <a:buNone/>
            </a:pPr>
            <a:r>
              <a:rPr lang="en-US" sz="1000" dirty="0">
                <a:solidFill>
                  <a:srgbClr val="8F89B8"/>
                </a:solidFill>
                <a:latin typeface="Calibri" pitchFamily="34" charset="0"/>
                <a:ea typeface="Calibri" pitchFamily="34" charset="-122"/>
                <a:cs typeface="Calibri" pitchFamily="34" charset="-120"/>
              </a:rPr>
              <a:t>One click marks tasks done and updates stats.</a:t>
            </a:r>
            <a:endParaRPr lang="en-US" sz="1000" dirty="0"/>
          </a:p>
        </p:txBody>
      </p:sp>
      <p:sp>
        <p:nvSpPr>
          <p:cNvPr id="22" name="Shape 15"/>
          <p:cNvSpPr/>
          <p:nvPr/>
        </p:nvSpPr>
        <p:spPr>
          <a:xfrm>
            <a:off x="6263640" y="1371600"/>
            <a:ext cx="5376672" cy="5074920"/>
          </a:xfrm>
          <a:prstGeom prst="roundRect">
            <a:avLst>
              <a:gd name="adj" fmla="val 2162"/>
            </a:avLst>
          </a:prstGeom>
          <a:solidFill>
            <a:srgbClr val="242050"/>
          </a:solidFill>
          <a:ln/>
          <a:effectLst>
            <a:outerShdw blurRad="127000" dist="38100" dir="5400000" algn="bl" rotWithShape="0">
              <a:srgbClr val="000000">
                <a:alpha val="35000"/>
              </a:srgbClr>
            </a:outerShdw>
          </a:effectLst>
        </p:spPr>
      </p:sp>
      <p:sp>
        <p:nvSpPr>
          <p:cNvPr id="23" name="Text 16"/>
          <p:cNvSpPr/>
          <p:nvPr/>
        </p:nvSpPr>
        <p:spPr>
          <a:xfrm>
            <a:off x="6537960" y="1572768"/>
            <a:ext cx="4828032"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My Study Tasks</a:t>
            </a:r>
            <a:endParaRPr lang="en-US" sz="1400" dirty="0"/>
          </a:p>
        </p:txBody>
      </p:sp>
      <p:sp>
        <p:nvSpPr>
          <p:cNvPr id="24" name="Shape 17"/>
          <p:cNvSpPr/>
          <p:nvPr/>
        </p:nvSpPr>
        <p:spPr>
          <a:xfrm>
            <a:off x="6492240" y="2057400"/>
            <a:ext cx="4919472" cy="713232"/>
          </a:xfrm>
          <a:prstGeom prst="roundRect">
            <a:avLst>
              <a:gd name="adj" fmla="val 12821"/>
            </a:avLst>
          </a:prstGeom>
          <a:solidFill>
            <a:srgbClr val="1E1A3A"/>
          </a:solidFill>
          <a:ln/>
        </p:spPr>
      </p:sp>
      <p:sp>
        <p:nvSpPr>
          <p:cNvPr id="25" name="Shape 18"/>
          <p:cNvSpPr/>
          <p:nvPr/>
        </p:nvSpPr>
        <p:spPr>
          <a:xfrm>
            <a:off x="6647688" y="2276856"/>
            <a:ext cx="274320" cy="274320"/>
          </a:xfrm>
          <a:prstGeom prst="ellipse">
            <a:avLst/>
          </a:prstGeom>
          <a:solidFill>
            <a:srgbClr val="22C55E"/>
          </a:solidFill>
          <a:ln w="19050">
            <a:solidFill>
              <a:srgbClr val="22C55E"/>
            </a:solidFill>
            <a:prstDash val="solid"/>
          </a:ln>
        </p:spPr>
      </p:sp>
      <p:sp>
        <p:nvSpPr>
          <p:cNvPr id="26" name="Text 19"/>
          <p:cNvSpPr/>
          <p:nvPr/>
        </p:nvSpPr>
        <p:spPr>
          <a:xfrm>
            <a:off x="6647688" y="2276856"/>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0"/>
          <p:cNvSpPr/>
          <p:nvPr/>
        </p:nvSpPr>
        <p:spPr>
          <a:xfrm>
            <a:off x="7068312" y="2148840"/>
            <a:ext cx="3456432" cy="292608"/>
          </a:xfrm>
          <a:prstGeom prst="rect">
            <a:avLst/>
          </a:prstGeom>
          <a:noFill/>
          <a:ln/>
        </p:spPr>
        <p:txBody>
          <a:bodyPr wrap="square" rtlCol="0" anchor="ctr"/>
          <a:lstStyle/>
          <a:p>
            <a:pPr marL="0" indent="0">
              <a:buNone/>
            </a:pPr>
            <a:r>
              <a:rPr lang="en-US" sz="1200" b="1" strike="sngStrike" dirty="0">
                <a:solidFill>
                  <a:srgbClr val="8F89B8"/>
                </a:solidFill>
                <a:latin typeface="Calibri" pitchFamily="34" charset="0"/>
                <a:ea typeface="Calibri" pitchFamily="34" charset="-122"/>
                <a:cs typeface="Calibri" pitchFamily="34" charset="-120"/>
              </a:rPr>
              <a:t>Review Django ORM queries</a:t>
            </a:r>
            <a:endParaRPr lang="en-US" sz="1200" dirty="0"/>
          </a:p>
        </p:txBody>
      </p:sp>
      <p:sp>
        <p:nvSpPr>
          <p:cNvPr id="28" name="Text 21"/>
          <p:cNvSpPr/>
          <p:nvPr/>
        </p:nvSpPr>
        <p:spPr>
          <a:xfrm>
            <a:off x="7068312" y="2423160"/>
            <a:ext cx="3456432" cy="256032"/>
          </a:xfrm>
          <a:prstGeom prst="rect">
            <a:avLst/>
          </a:prstGeom>
          <a:noFill/>
          <a:ln/>
        </p:spPr>
        <p:txBody>
          <a:bodyPr wrap="square" rtlCol="0" anchor="ctr"/>
          <a:lstStyle/>
          <a:p>
            <a:pPr marL="0" indent="0">
              <a:buNone/>
            </a:pPr>
            <a:r>
              <a:rPr lang="en-US" sz="900" dirty="0">
                <a:solidFill>
                  <a:srgbClr val="8F89B8"/>
                </a:solidFill>
                <a:latin typeface="Calibri" pitchFamily="34" charset="0"/>
                <a:ea typeface="Calibri" pitchFamily="34" charset="-122"/>
                <a:cs typeface="Calibri" pitchFamily="34" charset="-120"/>
              </a:rPr>
              <a:t>Due date tracked</a:t>
            </a:r>
            <a:endParaRPr lang="en-US" sz="900" dirty="0"/>
          </a:p>
        </p:txBody>
      </p:sp>
      <p:sp>
        <p:nvSpPr>
          <p:cNvPr id="29" name="Shape 22"/>
          <p:cNvSpPr/>
          <p:nvPr/>
        </p:nvSpPr>
        <p:spPr>
          <a:xfrm>
            <a:off x="10405872" y="2276856"/>
            <a:ext cx="868680" cy="292608"/>
          </a:xfrm>
          <a:prstGeom prst="roundRect">
            <a:avLst>
              <a:gd name="adj" fmla="val 50000"/>
            </a:avLst>
          </a:prstGeom>
          <a:solidFill>
            <a:srgbClr val="EC4899"/>
          </a:solidFill>
          <a:ln/>
        </p:spPr>
      </p:sp>
      <p:sp>
        <p:nvSpPr>
          <p:cNvPr id="30" name="Text 23"/>
          <p:cNvSpPr/>
          <p:nvPr/>
        </p:nvSpPr>
        <p:spPr>
          <a:xfrm>
            <a:off x="10405872" y="2276856"/>
            <a:ext cx="86868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High</a:t>
            </a:r>
            <a:endParaRPr lang="en-US" sz="950" dirty="0"/>
          </a:p>
        </p:txBody>
      </p:sp>
      <p:sp>
        <p:nvSpPr>
          <p:cNvPr id="31" name="Shape 24"/>
          <p:cNvSpPr/>
          <p:nvPr/>
        </p:nvSpPr>
        <p:spPr>
          <a:xfrm>
            <a:off x="6492240" y="2898648"/>
            <a:ext cx="4919472" cy="713232"/>
          </a:xfrm>
          <a:prstGeom prst="roundRect">
            <a:avLst>
              <a:gd name="adj" fmla="val 12821"/>
            </a:avLst>
          </a:prstGeom>
          <a:solidFill>
            <a:srgbClr val="1E1A3A"/>
          </a:solidFill>
          <a:ln/>
        </p:spPr>
      </p:sp>
      <p:sp>
        <p:nvSpPr>
          <p:cNvPr id="32" name="Shape 25"/>
          <p:cNvSpPr/>
          <p:nvPr/>
        </p:nvSpPr>
        <p:spPr>
          <a:xfrm>
            <a:off x="6647688" y="3118104"/>
            <a:ext cx="274320" cy="274320"/>
          </a:xfrm>
          <a:prstGeom prst="ellipse">
            <a:avLst/>
          </a:prstGeom>
          <a:ln w="19050">
            <a:solidFill>
              <a:srgbClr val="8F89B8"/>
            </a:solidFill>
            <a:prstDash val="solid"/>
          </a:ln>
        </p:spPr>
      </p:sp>
      <p:sp>
        <p:nvSpPr>
          <p:cNvPr id="33" name="Text 26"/>
          <p:cNvSpPr/>
          <p:nvPr/>
        </p:nvSpPr>
        <p:spPr>
          <a:xfrm>
            <a:off x="7068312" y="2990088"/>
            <a:ext cx="3456432"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Read Chapter 7 — Statistics</a:t>
            </a:r>
            <a:endParaRPr lang="en-US" sz="1200" dirty="0"/>
          </a:p>
        </p:txBody>
      </p:sp>
      <p:sp>
        <p:nvSpPr>
          <p:cNvPr id="34" name="Text 27"/>
          <p:cNvSpPr/>
          <p:nvPr/>
        </p:nvSpPr>
        <p:spPr>
          <a:xfrm>
            <a:off x="7068312" y="3264408"/>
            <a:ext cx="3456432" cy="256032"/>
          </a:xfrm>
          <a:prstGeom prst="rect">
            <a:avLst/>
          </a:prstGeom>
          <a:noFill/>
          <a:ln/>
        </p:spPr>
        <p:txBody>
          <a:bodyPr wrap="square" rtlCol="0" anchor="ctr"/>
          <a:lstStyle/>
          <a:p>
            <a:pPr marL="0" indent="0">
              <a:buNone/>
            </a:pPr>
            <a:r>
              <a:rPr lang="en-US" sz="900" dirty="0">
                <a:solidFill>
                  <a:srgbClr val="8F89B8"/>
                </a:solidFill>
                <a:latin typeface="Calibri" pitchFamily="34" charset="0"/>
                <a:ea typeface="Calibri" pitchFamily="34" charset="-122"/>
                <a:cs typeface="Calibri" pitchFamily="34" charset="-120"/>
              </a:rPr>
              <a:t>Due date tracked</a:t>
            </a:r>
            <a:endParaRPr lang="en-US" sz="900" dirty="0"/>
          </a:p>
        </p:txBody>
      </p:sp>
      <p:sp>
        <p:nvSpPr>
          <p:cNvPr id="35" name="Shape 28"/>
          <p:cNvSpPr/>
          <p:nvPr/>
        </p:nvSpPr>
        <p:spPr>
          <a:xfrm>
            <a:off x="10405872" y="3118104"/>
            <a:ext cx="868680" cy="292608"/>
          </a:xfrm>
          <a:prstGeom prst="roundRect">
            <a:avLst>
              <a:gd name="adj" fmla="val 50000"/>
            </a:avLst>
          </a:prstGeom>
          <a:solidFill>
            <a:srgbClr val="A855F7"/>
          </a:solidFill>
          <a:ln/>
        </p:spPr>
      </p:sp>
      <p:sp>
        <p:nvSpPr>
          <p:cNvPr id="36" name="Text 29"/>
          <p:cNvSpPr/>
          <p:nvPr/>
        </p:nvSpPr>
        <p:spPr>
          <a:xfrm>
            <a:off x="10405872" y="3118104"/>
            <a:ext cx="86868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Medium</a:t>
            </a:r>
            <a:endParaRPr lang="en-US" sz="950" dirty="0"/>
          </a:p>
        </p:txBody>
      </p:sp>
      <p:sp>
        <p:nvSpPr>
          <p:cNvPr id="37" name="Shape 30"/>
          <p:cNvSpPr/>
          <p:nvPr/>
        </p:nvSpPr>
        <p:spPr>
          <a:xfrm>
            <a:off x="6492240" y="3739896"/>
            <a:ext cx="4919472" cy="713232"/>
          </a:xfrm>
          <a:prstGeom prst="roundRect">
            <a:avLst>
              <a:gd name="adj" fmla="val 12821"/>
            </a:avLst>
          </a:prstGeom>
          <a:solidFill>
            <a:srgbClr val="1E1A3A"/>
          </a:solidFill>
          <a:ln/>
        </p:spPr>
      </p:sp>
      <p:sp>
        <p:nvSpPr>
          <p:cNvPr id="38" name="Shape 31"/>
          <p:cNvSpPr/>
          <p:nvPr/>
        </p:nvSpPr>
        <p:spPr>
          <a:xfrm>
            <a:off x="6647688" y="3959352"/>
            <a:ext cx="274320" cy="274320"/>
          </a:xfrm>
          <a:prstGeom prst="ellipse">
            <a:avLst/>
          </a:prstGeom>
          <a:ln w="19050">
            <a:solidFill>
              <a:srgbClr val="8F89B8"/>
            </a:solidFill>
            <a:prstDash val="solid"/>
          </a:ln>
        </p:spPr>
      </p:sp>
      <p:sp>
        <p:nvSpPr>
          <p:cNvPr id="39" name="Text 32"/>
          <p:cNvSpPr/>
          <p:nvPr/>
        </p:nvSpPr>
        <p:spPr>
          <a:xfrm>
            <a:off x="7068312" y="3831336"/>
            <a:ext cx="3456432"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Prepare Gemini API demo</a:t>
            </a:r>
            <a:endParaRPr lang="en-US" sz="1200" dirty="0"/>
          </a:p>
        </p:txBody>
      </p:sp>
      <p:sp>
        <p:nvSpPr>
          <p:cNvPr id="40" name="Text 33"/>
          <p:cNvSpPr/>
          <p:nvPr/>
        </p:nvSpPr>
        <p:spPr>
          <a:xfrm>
            <a:off x="7068312" y="4105656"/>
            <a:ext cx="3456432" cy="256032"/>
          </a:xfrm>
          <a:prstGeom prst="rect">
            <a:avLst/>
          </a:prstGeom>
          <a:noFill/>
          <a:ln/>
        </p:spPr>
        <p:txBody>
          <a:bodyPr wrap="square" rtlCol="0" anchor="ctr"/>
          <a:lstStyle/>
          <a:p>
            <a:pPr marL="0" indent="0">
              <a:buNone/>
            </a:pPr>
            <a:r>
              <a:rPr lang="en-US" sz="900" dirty="0">
                <a:solidFill>
                  <a:srgbClr val="8F89B8"/>
                </a:solidFill>
                <a:latin typeface="Calibri" pitchFamily="34" charset="0"/>
                <a:ea typeface="Calibri" pitchFamily="34" charset="-122"/>
                <a:cs typeface="Calibri" pitchFamily="34" charset="-120"/>
              </a:rPr>
              <a:t>Due date tracked</a:t>
            </a:r>
            <a:endParaRPr lang="en-US" sz="900" dirty="0"/>
          </a:p>
        </p:txBody>
      </p:sp>
      <p:sp>
        <p:nvSpPr>
          <p:cNvPr id="41" name="Shape 34"/>
          <p:cNvSpPr/>
          <p:nvPr/>
        </p:nvSpPr>
        <p:spPr>
          <a:xfrm>
            <a:off x="10405872" y="3959352"/>
            <a:ext cx="868680" cy="292608"/>
          </a:xfrm>
          <a:prstGeom prst="roundRect">
            <a:avLst>
              <a:gd name="adj" fmla="val 50000"/>
            </a:avLst>
          </a:prstGeom>
          <a:solidFill>
            <a:srgbClr val="EC4899"/>
          </a:solidFill>
          <a:ln/>
        </p:spPr>
      </p:sp>
      <p:sp>
        <p:nvSpPr>
          <p:cNvPr id="42" name="Text 35"/>
          <p:cNvSpPr/>
          <p:nvPr/>
        </p:nvSpPr>
        <p:spPr>
          <a:xfrm>
            <a:off x="10405872" y="3959352"/>
            <a:ext cx="86868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High</a:t>
            </a:r>
            <a:endParaRPr lang="en-US" sz="950" dirty="0"/>
          </a:p>
        </p:txBody>
      </p:sp>
      <p:sp>
        <p:nvSpPr>
          <p:cNvPr id="43" name="Shape 36"/>
          <p:cNvSpPr/>
          <p:nvPr/>
        </p:nvSpPr>
        <p:spPr>
          <a:xfrm>
            <a:off x="6492240" y="4581144"/>
            <a:ext cx="4919472" cy="713232"/>
          </a:xfrm>
          <a:prstGeom prst="roundRect">
            <a:avLst>
              <a:gd name="adj" fmla="val 12821"/>
            </a:avLst>
          </a:prstGeom>
          <a:solidFill>
            <a:srgbClr val="1E1A3A"/>
          </a:solidFill>
          <a:ln/>
        </p:spPr>
      </p:sp>
      <p:sp>
        <p:nvSpPr>
          <p:cNvPr id="44" name="Shape 37"/>
          <p:cNvSpPr/>
          <p:nvPr/>
        </p:nvSpPr>
        <p:spPr>
          <a:xfrm>
            <a:off x="6647688" y="4800600"/>
            <a:ext cx="274320" cy="274320"/>
          </a:xfrm>
          <a:prstGeom prst="ellipse">
            <a:avLst/>
          </a:prstGeom>
          <a:solidFill>
            <a:srgbClr val="22C55E"/>
          </a:solidFill>
          <a:ln w="19050">
            <a:solidFill>
              <a:srgbClr val="22C55E"/>
            </a:solidFill>
            <a:prstDash val="solid"/>
          </a:ln>
        </p:spPr>
      </p:sp>
      <p:sp>
        <p:nvSpPr>
          <p:cNvPr id="45" name="Text 38"/>
          <p:cNvSpPr/>
          <p:nvPr/>
        </p:nvSpPr>
        <p:spPr>
          <a:xfrm>
            <a:off x="6647688" y="480060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6" name="Text 39"/>
          <p:cNvSpPr/>
          <p:nvPr/>
        </p:nvSpPr>
        <p:spPr>
          <a:xfrm>
            <a:off x="7068312" y="4672584"/>
            <a:ext cx="3456432" cy="292608"/>
          </a:xfrm>
          <a:prstGeom prst="rect">
            <a:avLst/>
          </a:prstGeom>
          <a:noFill/>
          <a:ln/>
        </p:spPr>
        <p:txBody>
          <a:bodyPr wrap="square" rtlCol="0" anchor="ctr"/>
          <a:lstStyle/>
          <a:p>
            <a:pPr marL="0" indent="0">
              <a:buNone/>
            </a:pPr>
            <a:r>
              <a:rPr lang="en-US" sz="1200" b="1" strike="sngStrike" dirty="0">
                <a:solidFill>
                  <a:srgbClr val="8F89B8"/>
                </a:solidFill>
                <a:latin typeface="Calibri" pitchFamily="34" charset="0"/>
                <a:ea typeface="Calibri" pitchFamily="34" charset="-122"/>
                <a:cs typeface="Calibri" pitchFamily="34" charset="-120"/>
              </a:rPr>
              <a:t>Organize note tags</a:t>
            </a:r>
            <a:endParaRPr lang="en-US" sz="1200" dirty="0"/>
          </a:p>
        </p:txBody>
      </p:sp>
      <p:sp>
        <p:nvSpPr>
          <p:cNvPr id="47" name="Text 40"/>
          <p:cNvSpPr/>
          <p:nvPr/>
        </p:nvSpPr>
        <p:spPr>
          <a:xfrm>
            <a:off x="7068312" y="4946904"/>
            <a:ext cx="3456432" cy="256032"/>
          </a:xfrm>
          <a:prstGeom prst="rect">
            <a:avLst/>
          </a:prstGeom>
          <a:noFill/>
          <a:ln/>
        </p:spPr>
        <p:txBody>
          <a:bodyPr wrap="square" rtlCol="0" anchor="ctr"/>
          <a:lstStyle/>
          <a:p>
            <a:pPr marL="0" indent="0">
              <a:buNone/>
            </a:pPr>
            <a:r>
              <a:rPr lang="en-US" sz="900" dirty="0">
                <a:solidFill>
                  <a:srgbClr val="8F89B8"/>
                </a:solidFill>
                <a:latin typeface="Calibri" pitchFamily="34" charset="0"/>
                <a:ea typeface="Calibri" pitchFamily="34" charset="-122"/>
                <a:cs typeface="Calibri" pitchFamily="34" charset="-120"/>
              </a:rPr>
              <a:t>Due date tracked</a:t>
            </a:r>
            <a:endParaRPr lang="en-US" sz="900" dirty="0"/>
          </a:p>
        </p:txBody>
      </p:sp>
      <p:sp>
        <p:nvSpPr>
          <p:cNvPr id="48" name="Shape 41"/>
          <p:cNvSpPr/>
          <p:nvPr/>
        </p:nvSpPr>
        <p:spPr>
          <a:xfrm>
            <a:off x="10405872" y="4800600"/>
            <a:ext cx="868680" cy="292608"/>
          </a:xfrm>
          <a:prstGeom prst="roundRect">
            <a:avLst>
              <a:gd name="adj" fmla="val 50000"/>
            </a:avLst>
          </a:prstGeom>
          <a:solidFill>
            <a:srgbClr val="6366F1"/>
          </a:solidFill>
          <a:ln/>
        </p:spPr>
      </p:sp>
      <p:sp>
        <p:nvSpPr>
          <p:cNvPr id="49" name="Text 42"/>
          <p:cNvSpPr/>
          <p:nvPr/>
        </p:nvSpPr>
        <p:spPr>
          <a:xfrm>
            <a:off x="10405872" y="4800600"/>
            <a:ext cx="86868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Low</a:t>
            </a:r>
            <a:endParaRPr lang="en-US" sz="950" dirty="0"/>
          </a:p>
        </p:txBody>
      </p:sp>
      <p:sp>
        <p:nvSpPr>
          <p:cNvPr id="50" name="Shape 43"/>
          <p:cNvSpPr/>
          <p:nvPr/>
        </p:nvSpPr>
        <p:spPr>
          <a:xfrm>
            <a:off x="6492240" y="5422392"/>
            <a:ext cx="4919472" cy="713232"/>
          </a:xfrm>
          <a:prstGeom prst="roundRect">
            <a:avLst>
              <a:gd name="adj" fmla="val 12821"/>
            </a:avLst>
          </a:prstGeom>
          <a:solidFill>
            <a:srgbClr val="1E1A3A"/>
          </a:solidFill>
          <a:ln/>
        </p:spPr>
      </p:sp>
      <p:sp>
        <p:nvSpPr>
          <p:cNvPr id="51" name="Shape 44"/>
          <p:cNvSpPr/>
          <p:nvPr/>
        </p:nvSpPr>
        <p:spPr>
          <a:xfrm>
            <a:off x="6647688" y="5641848"/>
            <a:ext cx="274320" cy="274320"/>
          </a:xfrm>
          <a:prstGeom prst="ellipse">
            <a:avLst/>
          </a:prstGeom>
          <a:ln w="19050">
            <a:solidFill>
              <a:srgbClr val="8F89B8"/>
            </a:solidFill>
            <a:prstDash val="solid"/>
          </a:ln>
        </p:spPr>
      </p:sp>
      <p:sp>
        <p:nvSpPr>
          <p:cNvPr id="52" name="Text 45"/>
          <p:cNvSpPr/>
          <p:nvPr/>
        </p:nvSpPr>
        <p:spPr>
          <a:xfrm>
            <a:off x="7068312" y="5513832"/>
            <a:ext cx="3456432"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Submit weekly report</a:t>
            </a:r>
            <a:endParaRPr lang="en-US" sz="1200" dirty="0"/>
          </a:p>
        </p:txBody>
      </p:sp>
      <p:sp>
        <p:nvSpPr>
          <p:cNvPr id="53" name="Text 46"/>
          <p:cNvSpPr/>
          <p:nvPr/>
        </p:nvSpPr>
        <p:spPr>
          <a:xfrm>
            <a:off x="7068312" y="5788152"/>
            <a:ext cx="3456432" cy="256032"/>
          </a:xfrm>
          <a:prstGeom prst="rect">
            <a:avLst/>
          </a:prstGeom>
          <a:noFill/>
          <a:ln/>
        </p:spPr>
        <p:txBody>
          <a:bodyPr wrap="square" rtlCol="0" anchor="ctr"/>
          <a:lstStyle/>
          <a:p>
            <a:pPr marL="0" indent="0">
              <a:buNone/>
            </a:pPr>
            <a:r>
              <a:rPr lang="en-US" sz="900" dirty="0">
                <a:solidFill>
                  <a:srgbClr val="8F89B8"/>
                </a:solidFill>
                <a:latin typeface="Calibri" pitchFamily="34" charset="0"/>
                <a:ea typeface="Calibri" pitchFamily="34" charset="-122"/>
                <a:cs typeface="Calibri" pitchFamily="34" charset="-120"/>
              </a:rPr>
              <a:t>Due date tracked</a:t>
            </a:r>
            <a:endParaRPr lang="en-US" sz="900" dirty="0"/>
          </a:p>
        </p:txBody>
      </p:sp>
      <p:sp>
        <p:nvSpPr>
          <p:cNvPr id="54" name="Shape 47"/>
          <p:cNvSpPr/>
          <p:nvPr/>
        </p:nvSpPr>
        <p:spPr>
          <a:xfrm>
            <a:off x="10405872" y="5641848"/>
            <a:ext cx="868680" cy="292608"/>
          </a:xfrm>
          <a:prstGeom prst="roundRect">
            <a:avLst>
              <a:gd name="adj" fmla="val 50000"/>
            </a:avLst>
          </a:prstGeom>
          <a:solidFill>
            <a:srgbClr val="A855F7"/>
          </a:solidFill>
          <a:ln/>
        </p:spPr>
      </p:sp>
      <p:sp>
        <p:nvSpPr>
          <p:cNvPr id="55" name="Text 48"/>
          <p:cNvSpPr/>
          <p:nvPr/>
        </p:nvSpPr>
        <p:spPr>
          <a:xfrm>
            <a:off x="10405872" y="5641848"/>
            <a:ext cx="86868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Medium</a:t>
            </a:r>
            <a:endParaRPr lang="en-US" sz="950" dirty="0"/>
          </a:p>
        </p:txBody>
      </p:sp>
      <p:sp>
        <p:nvSpPr>
          <p:cNvPr id="57" name="Text 49"/>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58" name="Text 50"/>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NOTES APP</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Notes</a:t>
            </a:r>
            <a:endParaRPr lang="en-US" sz="3200" dirty="0"/>
          </a:p>
        </p:txBody>
      </p:sp>
      <p:sp>
        <p:nvSpPr>
          <p:cNvPr id="5" name="Text 2"/>
          <p:cNvSpPr/>
          <p:nvPr/>
        </p:nvSpPr>
        <p:spPr>
          <a:xfrm>
            <a:off x="548640" y="1298448"/>
            <a:ext cx="5303520" cy="685800"/>
          </a:xfrm>
          <a:prstGeom prst="rect">
            <a:avLst/>
          </a:prstGeom>
          <a:noFill/>
          <a:ln/>
        </p:spPr>
        <p:txBody>
          <a:bodyPr wrap="square" rtlCol="0" anchor="ctr"/>
          <a:lstStyle/>
          <a:p>
            <a:pPr marL="0" indent="0">
              <a:lnSpc>
                <a:spcPct val="125000"/>
              </a:lnSpc>
              <a:buNone/>
            </a:pPr>
            <a:r>
              <a:rPr lang="en-US" sz="1300" dirty="0">
                <a:solidFill>
                  <a:srgbClr val="B7B2D6"/>
                </a:solidFill>
                <a:latin typeface="Calibri" pitchFamily="34" charset="0"/>
                <a:ea typeface="Calibri" pitchFamily="34" charset="-122"/>
                <a:cs typeface="Calibri" pitchFamily="34" charset="-120"/>
              </a:rPr>
              <a:t>Every idea has a home. Students capture, organize, and export their study notes with a rich, flexible note-taking system.</a:t>
            </a:r>
            <a:endParaRPr lang="en-US" sz="1300" dirty="0"/>
          </a:p>
        </p:txBody>
      </p:sp>
      <p:sp>
        <p:nvSpPr>
          <p:cNvPr id="6" name="Shape 3"/>
          <p:cNvSpPr/>
          <p:nvPr/>
        </p:nvSpPr>
        <p:spPr>
          <a:xfrm>
            <a:off x="548640" y="2240280"/>
            <a:ext cx="502920" cy="502920"/>
          </a:xfrm>
          <a:prstGeom prst="ellipse">
            <a:avLst/>
          </a:prstGeom>
          <a:solidFill>
            <a:srgbClr val="9333EA"/>
          </a:solidFill>
          <a:ln/>
          <a:effectLst>
            <a:outerShdw blurRad="101600" dist="38100" dir="5400000" algn="bl" rotWithShape="0">
              <a:srgbClr val="000000">
                <a:alpha val="40000"/>
              </a:srgbClr>
            </a:outerShdw>
          </a:effectLst>
        </p:spPr>
      </p:sp>
      <p:pic>
        <p:nvPicPr>
          <p:cNvPr id="7" name="Image 1" descr="ic_note.png"/>
          <p:cNvPicPr>
            <a:picLocks noChangeAspect="1"/>
          </p:cNvPicPr>
          <p:nvPr/>
        </p:nvPicPr>
        <p:blipFill>
          <a:blip r:embed="rId4"/>
          <a:stretch>
            <a:fillRect/>
          </a:stretch>
        </p:blipFill>
        <p:spPr>
          <a:xfrm>
            <a:off x="679399" y="2371039"/>
            <a:ext cx="241402" cy="241402"/>
          </a:xfrm>
          <a:prstGeom prst="rect">
            <a:avLst/>
          </a:prstGeom>
        </p:spPr>
      </p:pic>
      <p:sp>
        <p:nvSpPr>
          <p:cNvPr id="8" name="Text 4"/>
          <p:cNvSpPr/>
          <p:nvPr/>
        </p:nvSpPr>
        <p:spPr>
          <a:xfrm>
            <a:off x="1188720" y="2212848"/>
            <a:ext cx="448056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Full CRUD</a:t>
            </a:r>
            <a:endParaRPr lang="en-US" sz="1250" dirty="0"/>
          </a:p>
        </p:txBody>
      </p:sp>
      <p:sp>
        <p:nvSpPr>
          <p:cNvPr id="9" name="Text 5"/>
          <p:cNvSpPr/>
          <p:nvPr/>
        </p:nvSpPr>
        <p:spPr>
          <a:xfrm>
            <a:off x="1188720" y="2478024"/>
            <a:ext cx="4663440" cy="384048"/>
          </a:xfrm>
          <a:prstGeom prst="rect">
            <a:avLst/>
          </a:prstGeom>
          <a:noFill/>
          <a:ln/>
        </p:spPr>
        <p:txBody>
          <a:bodyPr wrap="square" rtlCol="0" anchor="ctr"/>
          <a:lstStyle/>
          <a:p>
            <a:pPr marL="0" indent="0">
              <a:lnSpc>
                <a:spcPct val="110000"/>
              </a:lnSpc>
              <a:buNone/>
            </a:pPr>
            <a:r>
              <a:rPr lang="en-US" sz="1000" dirty="0">
                <a:solidFill>
                  <a:srgbClr val="8F89B8"/>
                </a:solidFill>
                <a:latin typeface="Calibri" pitchFamily="34" charset="0"/>
                <a:ea typeface="Calibri" pitchFamily="34" charset="-122"/>
                <a:cs typeface="Calibri" pitchFamily="34" charset="-120"/>
              </a:rPr>
              <a:t>Create, edit, and delete notes anytime.</a:t>
            </a:r>
            <a:endParaRPr lang="en-US" sz="1000" dirty="0"/>
          </a:p>
        </p:txBody>
      </p:sp>
      <p:sp>
        <p:nvSpPr>
          <p:cNvPr id="10" name="Shape 6"/>
          <p:cNvSpPr/>
          <p:nvPr/>
        </p:nvSpPr>
        <p:spPr>
          <a:xfrm>
            <a:off x="548640" y="3081528"/>
            <a:ext cx="502920" cy="502920"/>
          </a:xfrm>
          <a:prstGeom prst="ellipse">
            <a:avLst/>
          </a:prstGeom>
          <a:solidFill>
            <a:srgbClr val="9333EA"/>
          </a:solidFill>
          <a:ln/>
          <a:effectLst>
            <a:outerShdw blurRad="101600" dist="38100" dir="5400000" algn="bl" rotWithShape="0">
              <a:srgbClr val="000000">
                <a:alpha val="40000"/>
              </a:srgbClr>
            </a:outerShdw>
          </a:effectLst>
        </p:spPr>
      </p:sp>
      <p:pic>
        <p:nvPicPr>
          <p:cNvPr id="11" name="Image 2" descr="ic_foldertree.png"/>
          <p:cNvPicPr>
            <a:picLocks noChangeAspect="1"/>
          </p:cNvPicPr>
          <p:nvPr/>
        </p:nvPicPr>
        <p:blipFill>
          <a:blip r:embed="rId5"/>
          <a:stretch>
            <a:fillRect/>
          </a:stretch>
        </p:blipFill>
        <p:spPr>
          <a:xfrm>
            <a:off x="679399" y="3212287"/>
            <a:ext cx="241402" cy="241402"/>
          </a:xfrm>
          <a:prstGeom prst="rect">
            <a:avLst/>
          </a:prstGeom>
        </p:spPr>
      </p:pic>
      <p:sp>
        <p:nvSpPr>
          <p:cNvPr id="12" name="Text 7"/>
          <p:cNvSpPr/>
          <p:nvPr/>
        </p:nvSpPr>
        <p:spPr>
          <a:xfrm>
            <a:off x="1188720" y="3054096"/>
            <a:ext cx="448056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Categories</a:t>
            </a:r>
            <a:endParaRPr lang="en-US" sz="1250" dirty="0"/>
          </a:p>
        </p:txBody>
      </p:sp>
      <p:sp>
        <p:nvSpPr>
          <p:cNvPr id="13" name="Text 8"/>
          <p:cNvSpPr/>
          <p:nvPr/>
        </p:nvSpPr>
        <p:spPr>
          <a:xfrm>
            <a:off x="1188720" y="3319272"/>
            <a:ext cx="4663440" cy="384048"/>
          </a:xfrm>
          <a:prstGeom prst="rect">
            <a:avLst/>
          </a:prstGeom>
          <a:noFill/>
          <a:ln/>
        </p:spPr>
        <p:txBody>
          <a:bodyPr wrap="square" rtlCol="0" anchor="ctr"/>
          <a:lstStyle/>
          <a:p>
            <a:pPr marL="0" indent="0">
              <a:lnSpc>
                <a:spcPct val="110000"/>
              </a:lnSpc>
              <a:buNone/>
            </a:pPr>
            <a:r>
              <a:rPr lang="en-US" sz="1000" dirty="0">
                <a:solidFill>
                  <a:srgbClr val="8F89B8"/>
                </a:solidFill>
                <a:latin typeface="Calibri" pitchFamily="34" charset="0"/>
                <a:ea typeface="Calibri" pitchFamily="34" charset="-122"/>
                <a:cs typeface="Calibri" pitchFamily="34" charset="-120"/>
              </a:rPr>
              <a:t>Group notes by subject or topic.</a:t>
            </a:r>
            <a:endParaRPr lang="en-US" sz="1000" dirty="0"/>
          </a:p>
        </p:txBody>
      </p:sp>
      <p:sp>
        <p:nvSpPr>
          <p:cNvPr id="14" name="Shape 9"/>
          <p:cNvSpPr/>
          <p:nvPr/>
        </p:nvSpPr>
        <p:spPr>
          <a:xfrm>
            <a:off x="548640" y="3922776"/>
            <a:ext cx="502920" cy="502920"/>
          </a:xfrm>
          <a:prstGeom prst="ellipse">
            <a:avLst/>
          </a:prstGeom>
          <a:solidFill>
            <a:srgbClr val="9333EA"/>
          </a:solidFill>
          <a:ln/>
          <a:effectLst>
            <a:outerShdw blurRad="101600" dist="38100" dir="5400000" algn="bl" rotWithShape="0">
              <a:srgbClr val="000000">
                <a:alpha val="40000"/>
              </a:srgbClr>
            </a:outerShdw>
          </a:effectLst>
        </p:spPr>
      </p:sp>
      <p:pic>
        <p:nvPicPr>
          <p:cNvPr id="15" name="Image 3" descr="ic_tag.png"/>
          <p:cNvPicPr>
            <a:picLocks noChangeAspect="1"/>
          </p:cNvPicPr>
          <p:nvPr/>
        </p:nvPicPr>
        <p:blipFill>
          <a:blip r:embed="rId6"/>
          <a:stretch>
            <a:fillRect/>
          </a:stretch>
        </p:blipFill>
        <p:spPr>
          <a:xfrm>
            <a:off x="679399" y="4053535"/>
            <a:ext cx="241402" cy="241402"/>
          </a:xfrm>
          <a:prstGeom prst="rect">
            <a:avLst/>
          </a:prstGeom>
        </p:spPr>
      </p:pic>
      <p:sp>
        <p:nvSpPr>
          <p:cNvPr id="16" name="Text 10"/>
          <p:cNvSpPr/>
          <p:nvPr/>
        </p:nvSpPr>
        <p:spPr>
          <a:xfrm>
            <a:off x="1188720" y="3895344"/>
            <a:ext cx="448056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Tags</a:t>
            </a:r>
            <a:endParaRPr lang="en-US" sz="1250" dirty="0"/>
          </a:p>
        </p:txBody>
      </p:sp>
      <p:sp>
        <p:nvSpPr>
          <p:cNvPr id="17" name="Text 11"/>
          <p:cNvSpPr/>
          <p:nvPr/>
        </p:nvSpPr>
        <p:spPr>
          <a:xfrm>
            <a:off x="1188720" y="4160520"/>
            <a:ext cx="4663440" cy="384048"/>
          </a:xfrm>
          <a:prstGeom prst="rect">
            <a:avLst/>
          </a:prstGeom>
          <a:noFill/>
          <a:ln/>
        </p:spPr>
        <p:txBody>
          <a:bodyPr wrap="square" rtlCol="0" anchor="ctr"/>
          <a:lstStyle/>
          <a:p>
            <a:pPr marL="0" indent="0">
              <a:lnSpc>
                <a:spcPct val="110000"/>
              </a:lnSpc>
              <a:buNone/>
            </a:pPr>
            <a:r>
              <a:rPr lang="en-US" sz="1000" dirty="0">
                <a:solidFill>
                  <a:srgbClr val="8F89B8"/>
                </a:solidFill>
                <a:latin typeface="Calibri" pitchFamily="34" charset="0"/>
                <a:ea typeface="Calibri" pitchFamily="34" charset="-122"/>
                <a:cs typeface="Calibri" pitchFamily="34" charset="-120"/>
              </a:rPr>
              <a:t>Multi-tag notes for flexible searching.</a:t>
            </a:r>
            <a:endParaRPr lang="en-US" sz="1000" dirty="0"/>
          </a:p>
        </p:txBody>
      </p:sp>
      <p:sp>
        <p:nvSpPr>
          <p:cNvPr id="18" name="Shape 12"/>
          <p:cNvSpPr/>
          <p:nvPr/>
        </p:nvSpPr>
        <p:spPr>
          <a:xfrm>
            <a:off x="548640" y="4764024"/>
            <a:ext cx="502920" cy="502920"/>
          </a:xfrm>
          <a:prstGeom prst="ellipse">
            <a:avLst/>
          </a:prstGeom>
          <a:solidFill>
            <a:srgbClr val="9333EA"/>
          </a:solidFill>
          <a:ln/>
          <a:effectLst>
            <a:outerShdw blurRad="101600" dist="38100" dir="5400000" algn="bl" rotWithShape="0">
              <a:srgbClr val="000000">
                <a:alpha val="40000"/>
              </a:srgbClr>
            </a:outerShdw>
          </a:effectLst>
        </p:spPr>
      </p:sp>
      <p:pic>
        <p:nvPicPr>
          <p:cNvPr id="19" name="Image 4" descr="ic_pdf.png"/>
          <p:cNvPicPr>
            <a:picLocks noChangeAspect="1"/>
          </p:cNvPicPr>
          <p:nvPr/>
        </p:nvPicPr>
        <p:blipFill>
          <a:blip r:embed="rId7"/>
          <a:stretch>
            <a:fillRect/>
          </a:stretch>
        </p:blipFill>
        <p:spPr>
          <a:xfrm>
            <a:off x="679399" y="4894783"/>
            <a:ext cx="241402" cy="241402"/>
          </a:xfrm>
          <a:prstGeom prst="rect">
            <a:avLst/>
          </a:prstGeom>
        </p:spPr>
      </p:pic>
      <p:sp>
        <p:nvSpPr>
          <p:cNvPr id="20" name="Text 13"/>
          <p:cNvSpPr/>
          <p:nvPr/>
        </p:nvSpPr>
        <p:spPr>
          <a:xfrm>
            <a:off x="1188720" y="4736592"/>
            <a:ext cx="448056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PDF Export</a:t>
            </a:r>
            <a:endParaRPr lang="en-US" sz="1250" dirty="0"/>
          </a:p>
        </p:txBody>
      </p:sp>
      <p:sp>
        <p:nvSpPr>
          <p:cNvPr id="21" name="Text 14"/>
          <p:cNvSpPr/>
          <p:nvPr/>
        </p:nvSpPr>
        <p:spPr>
          <a:xfrm>
            <a:off x="1188720" y="5001768"/>
            <a:ext cx="4663440" cy="384048"/>
          </a:xfrm>
          <a:prstGeom prst="rect">
            <a:avLst/>
          </a:prstGeom>
          <a:noFill/>
          <a:ln/>
        </p:spPr>
        <p:txBody>
          <a:bodyPr wrap="square" rtlCol="0" anchor="ctr"/>
          <a:lstStyle/>
          <a:p>
            <a:pPr marL="0" indent="0">
              <a:lnSpc>
                <a:spcPct val="110000"/>
              </a:lnSpc>
              <a:buNone/>
            </a:pPr>
            <a:r>
              <a:rPr lang="en-US" sz="1000" dirty="0">
                <a:solidFill>
                  <a:srgbClr val="8F89B8"/>
                </a:solidFill>
                <a:latin typeface="Calibri" pitchFamily="34" charset="0"/>
                <a:ea typeface="Calibri" pitchFamily="34" charset="-122"/>
                <a:cs typeface="Calibri" pitchFamily="34" charset="-120"/>
              </a:rPr>
              <a:t>Download any note as a polished PDF.</a:t>
            </a:r>
            <a:endParaRPr lang="en-US" sz="1000" dirty="0"/>
          </a:p>
        </p:txBody>
      </p:sp>
      <p:sp>
        <p:nvSpPr>
          <p:cNvPr id="22" name="Shape 15"/>
          <p:cNvSpPr/>
          <p:nvPr/>
        </p:nvSpPr>
        <p:spPr>
          <a:xfrm>
            <a:off x="6263640" y="1371600"/>
            <a:ext cx="5376672" cy="5074920"/>
          </a:xfrm>
          <a:prstGeom prst="roundRect">
            <a:avLst>
              <a:gd name="adj" fmla="val 2162"/>
            </a:avLst>
          </a:prstGeom>
          <a:solidFill>
            <a:srgbClr val="242050"/>
          </a:solidFill>
          <a:ln/>
          <a:effectLst>
            <a:outerShdw blurRad="127000" dist="38100" dir="5400000" algn="bl" rotWithShape="0">
              <a:srgbClr val="000000">
                <a:alpha val="35000"/>
              </a:srgbClr>
            </a:outerShdw>
          </a:effectLst>
        </p:spPr>
      </p:sp>
      <p:sp>
        <p:nvSpPr>
          <p:cNvPr id="23" name="Text 16"/>
          <p:cNvSpPr/>
          <p:nvPr/>
        </p:nvSpPr>
        <p:spPr>
          <a:xfrm>
            <a:off x="6537960" y="1572768"/>
            <a:ext cx="4828032" cy="292608"/>
          </a:xfrm>
          <a:prstGeom prst="rect">
            <a:avLst/>
          </a:prstGeom>
          <a:noFill/>
          <a:ln/>
        </p:spPr>
        <p:txBody>
          <a:bodyPr wrap="square" rtlCol="0" anchor="ctr"/>
          <a:lstStyle/>
          <a:p>
            <a:pPr marL="0" indent="0">
              <a:buNone/>
            </a:pPr>
            <a:r>
              <a:rPr lang="en-US" sz="1300" b="1" dirty="0">
                <a:solidFill>
                  <a:srgbClr val="8F89B8"/>
                </a:solidFill>
                <a:latin typeface="Calibri" pitchFamily="34" charset="0"/>
                <a:ea typeface="Calibri" pitchFamily="34" charset="-122"/>
                <a:cs typeface="Calibri" pitchFamily="34" charset="-120"/>
              </a:rPr>
              <a:t>Note Preview</a:t>
            </a:r>
            <a:endParaRPr lang="en-US" sz="1300" dirty="0"/>
          </a:p>
        </p:txBody>
      </p:sp>
      <p:sp>
        <p:nvSpPr>
          <p:cNvPr id="24" name="Shape 17"/>
          <p:cNvSpPr/>
          <p:nvPr/>
        </p:nvSpPr>
        <p:spPr>
          <a:xfrm>
            <a:off x="6537960" y="1965960"/>
            <a:ext cx="4828032" cy="4160520"/>
          </a:xfrm>
          <a:prstGeom prst="roundRect">
            <a:avLst>
              <a:gd name="adj" fmla="val 2198"/>
            </a:avLst>
          </a:prstGeom>
          <a:solidFill>
            <a:srgbClr val="1E1A3A"/>
          </a:solidFill>
          <a:ln/>
        </p:spPr>
      </p:sp>
      <p:sp>
        <p:nvSpPr>
          <p:cNvPr id="25" name="Shape 18"/>
          <p:cNvSpPr/>
          <p:nvPr/>
        </p:nvSpPr>
        <p:spPr>
          <a:xfrm>
            <a:off x="6766560" y="2194560"/>
            <a:ext cx="1463040" cy="292608"/>
          </a:xfrm>
          <a:prstGeom prst="roundRect">
            <a:avLst>
              <a:gd name="adj" fmla="val 50000"/>
            </a:avLst>
          </a:prstGeom>
          <a:solidFill>
            <a:srgbClr val="6366F1"/>
          </a:solidFill>
          <a:ln/>
        </p:spPr>
      </p:sp>
      <p:sp>
        <p:nvSpPr>
          <p:cNvPr id="26" name="Text 19"/>
          <p:cNvSpPr/>
          <p:nvPr/>
        </p:nvSpPr>
        <p:spPr>
          <a:xfrm>
            <a:off x="6766560" y="2194560"/>
            <a:ext cx="146304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Django ORM</a:t>
            </a:r>
            <a:endParaRPr lang="en-US" sz="950" dirty="0"/>
          </a:p>
        </p:txBody>
      </p:sp>
      <p:sp>
        <p:nvSpPr>
          <p:cNvPr id="27" name="Shape 20"/>
          <p:cNvSpPr/>
          <p:nvPr/>
        </p:nvSpPr>
        <p:spPr>
          <a:xfrm>
            <a:off x="8321040" y="2194560"/>
            <a:ext cx="1188720" cy="292608"/>
          </a:xfrm>
          <a:prstGeom prst="roundRect">
            <a:avLst>
              <a:gd name="adj" fmla="val 50000"/>
            </a:avLst>
          </a:prstGeom>
          <a:solidFill>
            <a:srgbClr val="9333EA"/>
          </a:solidFill>
          <a:ln/>
        </p:spPr>
      </p:sp>
      <p:sp>
        <p:nvSpPr>
          <p:cNvPr id="28" name="Text 21"/>
          <p:cNvSpPr/>
          <p:nvPr/>
        </p:nvSpPr>
        <p:spPr>
          <a:xfrm>
            <a:off x="8321040" y="2194560"/>
            <a:ext cx="118872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#backend</a:t>
            </a:r>
            <a:endParaRPr lang="en-US" sz="950" dirty="0"/>
          </a:p>
        </p:txBody>
      </p:sp>
      <p:sp>
        <p:nvSpPr>
          <p:cNvPr id="29" name="Text 22"/>
          <p:cNvSpPr/>
          <p:nvPr/>
        </p:nvSpPr>
        <p:spPr>
          <a:xfrm>
            <a:off x="6766560" y="2651760"/>
            <a:ext cx="4370832"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QuerySets &amp; Aggregation</a:t>
            </a:r>
            <a:endParaRPr lang="en-US" sz="1400" dirty="0"/>
          </a:p>
        </p:txBody>
      </p:sp>
      <p:sp>
        <p:nvSpPr>
          <p:cNvPr id="30" name="Text 23"/>
          <p:cNvSpPr/>
          <p:nvPr/>
        </p:nvSpPr>
        <p:spPr>
          <a:xfrm>
            <a:off x="6766560" y="3063240"/>
            <a:ext cx="4370832" cy="1005840"/>
          </a:xfrm>
          <a:prstGeom prst="rect">
            <a:avLst/>
          </a:prstGeom>
          <a:noFill/>
          <a:ln/>
        </p:spPr>
        <p:txBody>
          <a:bodyPr wrap="square" rtlCol="0" anchor="ctr"/>
          <a:lstStyle/>
          <a:p>
            <a:pPr marL="0" indent="0">
              <a:lnSpc>
                <a:spcPct val="135000"/>
              </a:lnSpc>
              <a:buNone/>
            </a:pPr>
            <a:r>
              <a:rPr lang="en-US" sz="1100" dirty="0">
                <a:solidFill>
                  <a:srgbClr val="B7B2D6"/>
                </a:solidFill>
                <a:latin typeface="Calibri" pitchFamily="34" charset="0"/>
                <a:ea typeface="Calibri" pitchFamily="34" charset="-122"/>
                <a:cs typeface="Calibri" pitchFamily="34" charset="-120"/>
              </a:rPr>
              <a:t>Django's ORM lets us query the database using Python instead of raw SQL. filter(), exclude(), and annotate() build up complex lookups that translate into efficient PostgreSQL queries...</a:t>
            </a:r>
            <a:endParaRPr lang="en-US" sz="1100" dirty="0"/>
          </a:p>
        </p:txBody>
      </p:sp>
      <p:sp>
        <p:nvSpPr>
          <p:cNvPr id="31" name="Shape 24"/>
          <p:cNvSpPr/>
          <p:nvPr/>
        </p:nvSpPr>
        <p:spPr>
          <a:xfrm>
            <a:off x="6766560" y="5029200"/>
            <a:ext cx="4370832" cy="0"/>
          </a:xfrm>
          <a:prstGeom prst="line">
            <a:avLst/>
          </a:prstGeom>
          <a:noFill/>
          <a:ln w="12700">
            <a:solidFill>
              <a:srgbClr val="3A3560"/>
            </a:solidFill>
            <a:prstDash val="solid"/>
          </a:ln>
        </p:spPr>
      </p:sp>
      <p:sp>
        <p:nvSpPr>
          <p:cNvPr id="32" name="Shape 25"/>
          <p:cNvSpPr/>
          <p:nvPr/>
        </p:nvSpPr>
        <p:spPr>
          <a:xfrm>
            <a:off x="6766560" y="5166360"/>
            <a:ext cx="457200" cy="457200"/>
          </a:xfrm>
          <a:prstGeom prst="ellipse">
            <a:avLst/>
          </a:prstGeom>
          <a:solidFill>
            <a:srgbClr val="EC4899"/>
          </a:solidFill>
          <a:ln/>
          <a:effectLst>
            <a:outerShdw blurRad="101600" dist="38100" dir="5400000" algn="bl" rotWithShape="0">
              <a:srgbClr val="000000">
                <a:alpha val="40000"/>
              </a:srgbClr>
            </a:outerShdw>
          </a:effectLst>
        </p:spPr>
      </p:sp>
      <p:pic>
        <p:nvPicPr>
          <p:cNvPr id="33" name="Image 5" descr="ic_pdf.png"/>
          <p:cNvPicPr>
            <a:picLocks noChangeAspect="1"/>
          </p:cNvPicPr>
          <p:nvPr/>
        </p:nvPicPr>
        <p:blipFill>
          <a:blip r:embed="rId7"/>
          <a:stretch>
            <a:fillRect/>
          </a:stretch>
        </p:blipFill>
        <p:spPr>
          <a:xfrm>
            <a:off x="6885432" y="5285232"/>
            <a:ext cx="219456" cy="219456"/>
          </a:xfrm>
          <a:prstGeom prst="rect">
            <a:avLst/>
          </a:prstGeom>
        </p:spPr>
      </p:pic>
      <p:sp>
        <p:nvSpPr>
          <p:cNvPr id="34" name="Text 26"/>
          <p:cNvSpPr/>
          <p:nvPr/>
        </p:nvSpPr>
        <p:spPr>
          <a:xfrm>
            <a:off x="7360920" y="5239512"/>
            <a:ext cx="274320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Export as PDF</a:t>
            </a:r>
            <a:endParaRPr lang="en-US" sz="1100" dirty="0"/>
          </a:p>
        </p:txBody>
      </p:sp>
      <p:sp>
        <p:nvSpPr>
          <p:cNvPr id="36" name="Text 27"/>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37" name="Text 28"/>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RESOURCES APP</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Resources</a:t>
            </a:r>
            <a:endParaRPr lang="en-US" sz="3200" dirty="0"/>
          </a:p>
        </p:txBody>
      </p:sp>
      <p:sp>
        <p:nvSpPr>
          <p:cNvPr id="5" name="Text 2"/>
          <p:cNvSpPr/>
          <p:nvPr/>
        </p:nvSpPr>
        <p:spPr>
          <a:xfrm>
            <a:off x="548640" y="1298448"/>
            <a:ext cx="11064240" cy="457200"/>
          </a:xfrm>
          <a:prstGeom prst="rect">
            <a:avLst/>
          </a:prstGeom>
          <a:noFill/>
          <a:ln/>
        </p:spPr>
        <p:txBody>
          <a:bodyPr wrap="square" rtlCol="0" anchor="ctr"/>
          <a:lstStyle/>
          <a:p>
            <a:pPr marL="0" indent="0">
              <a:lnSpc>
                <a:spcPct val="120000"/>
              </a:lnSpc>
              <a:buNone/>
            </a:pPr>
            <a:r>
              <a:rPr lang="en-US" sz="1300" dirty="0">
                <a:solidFill>
                  <a:srgbClr val="B7B2D6"/>
                </a:solidFill>
                <a:latin typeface="Calibri" pitchFamily="34" charset="0"/>
                <a:ea typeface="Calibri" pitchFamily="34" charset="-122"/>
                <a:cs typeface="Calibri" pitchFamily="34" charset="-120"/>
              </a:rPr>
              <a:t>A personal library of useful links. articles, videos, and tools. organized by type and starred for quick access.</a:t>
            </a:r>
            <a:endParaRPr lang="en-US" sz="1300" dirty="0"/>
          </a:p>
        </p:txBody>
      </p:sp>
      <p:sp>
        <p:nvSpPr>
          <p:cNvPr id="6" name="Shape 3"/>
          <p:cNvSpPr/>
          <p:nvPr/>
        </p:nvSpPr>
        <p:spPr>
          <a:xfrm>
            <a:off x="548640" y="1965960"/>
            <a:ext cx="3514344" cy="1554480"/>
          </a:xfrm>
          <a:prstGeom prst="roundRect">
            <a:avLst>
              <a:gd name="adj" fmla="val 7059"/>
            </a:avLst>
          </a:prstGeom>
          <a:solidFill>
            <a:srgbClr val="1E1A3A"/>
          </a:solidFill>
          <a:ln/>
          <a:effectLst>
            <a:outerShdw blurRad="127000" dist="38100" dir="5400000" algn="bl" rotWithShape="0">
              <a:srgbClr val="000000">
                <a:alpha val="35000"/>
              </a:srgbClr>
            </a:outerShdw>
          </a:effectLst>
        </p:spPr>
      </p:sp>
      <p:sp>
        <p:nvSpPr>
          <p:cNvPr id="7" name="Shape 4"/>
          <p:cNvSpPr/>
          <p:nvPr/>
        </p:nvSpPr>
        <p:spPr>
          <a:xfrm>
            <a:off x="777240" y="2221992"/>
            <a:ext cx="566928" cy="566928"/>
          </a:xfrm>
          <a:prstGeom prst="ellipse">
            <a:avLst/>
          </a:prstGeom>
          <a:solidFill>
            <a:srgbClr val="6366F1"/>
          </a:solidFill>
          <a:ln/>
          <a:effectLst>
            <a:outerShdw blurRad="101600" dist="38100" dir="5400000" algn="bl" rotWithShape="0">
              <a:srgbClr val="000000">
                <a:alpha val="40000"/>
              </a:srgbClr>
            </a:outerShdw>
          </a:effectLst>
        </p:spPr>
      </p:sp>
      <p:pic>
        <p:nvPicPr>
          <p:cNvPr id="8" name="Image 1" descr="ic_link.png"/>
          <p:cNvPicPr>
            <a:picLocks noChangeAspect="1"/>
          </p:cNvPicPr>
          <p:nvPr/>
        </p:nvPicPr>
        <p:blipFill>
          <a:blip r:embed="rId4"/>
          <a:stretch>
            <a:fillRect/>
          </a:stretch>
        </p:blipFill>
        <p:spPr>
          <a:xfrm>
            <a:off x="924641" y="2369393"/>
            <a:ext cx="272125" cy="272125"/>
          </a:xfrm>
          <a:prstGeom prst="rect">
            <a:avLst/>
          </a:prstGeom>
        </p:spPr>
      </p:pic>
      <p:sp>
        <p:nvSpPr>
          <p:cNvPr id="9" name="Text 5"/>
          <p:cNvSpPr/>
          <p:nvPr/>
        </p:nvSpPr>
        <p:spPr>
          <a:xfrm>
            <a:off x="1508760" y="2221992"/>
            <a:ext cx="2371344"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Save Links</a:t>
            </a:r>
            <a:endParaRPr lang="en-US" sz="1300" dirty="0"/>
          </a:p>
        </p:txBody>
      </p:sp>
      <p:sp>
        <p:nvSpPr>
          <p:cNvPr id="10" name="Text 6"/>
          <p:cNvSpPr/>
          <p:nvPr/>
        </p:nvSpPr>
        <p:spPr>
          <a:xfrm>
            <a:off x="1508760" y="2514600"/>
            <a:ext cx="2371344" cy="685800"/>
          </a:xfrm>
          <a:prstGeom prst="rect">
            <a:avLst/>
          </a:prstGeom>
          <a:noFill/>
          <a:ln/>
        </p:spPr>
        <p:txBody>
          <a:bodyPr wrap="square" rtlCol="0" anchor="ctr"/>
          <a:lstStyle/>
          <a:p>
            <a:pPr marL="0" indent="0">
              <a:lnSpc>
                <a:spcPct val="115000"/>
              </a:lnSpc>
              <a:buNone/>
            </a:pPr>
            <a:r>
              <a:rPr lang="en-US" sz="1000" dirty="0">
                <a:solidFill>
                  <a:srgbClr val="8F89B8"/>
                </a:solidFill>
                <a:latin typeface="Calibri" pitchFamily="34" charset="0"/>
                <a:ea typeface="Calibri" pitchFamily="34" charset="-122"/>
                <a:cs typeface="Calibri" pitchFamily="34" charset="-120"/>
              </a:rPr>
              <a:t>Bookmark any URL with a title &amp; description.</a:t>
            </a:r>
            <a:endParaRPr lang="en-US" sz="1000" dirty="0"/>
          </a:p>
        </p:txBody>
      </p:sp>
      <p:sp>
        <p:nvSpPr>
          <p:cNvPr id="11" name="Shape 7"/>
          <p:cNvSpPr/>
          <p:nvPr/>
        </p:nvSpPr>
        <p:spPr>
          <a:xfrm>
            <a:off x="4337304" y="1965960"/>
            <a:ext cx="3514344" cy="1554480"/>
          </a:xfrm>
          <a:prstGeom prst="roundRect">
            <a:avLst>
              <a:gd name="adj" fmla="val 7059"/>
            </a:avLst>
          </a:prstGeom>
          <a:solidFill>
            <a:srgbClr val="1E1A3A"/>
          </a:solidFill>
          <a:ln/>
          <a:effectLst>
            <a:outerShdw blurRad="127000" dist="38100" dir="5400000" algn="bl" rotWithShape="0">
              <a:srgbClr val="000000">
                <a:alpha val="35000"/>
              </a:srgbClr>
            </a:outerShdw>
          </a:effectLst>
        </p:spPr>
      </p:sp>
      <p:sp>
        <p:nvSpPr>
          <p:cNvPr id="12" name="Shape 8"/>
          <p:cNvSpPr/>
          <p:nvPr/>
        </p:nvSpPr>
        <p:spPr>
          <a:xfrm>
            <a:off x="4565904" y="2221992"/>
            <a:ext cx="566928" cy="566928"/>
          </a:xfrm>
          <a:prstGeom prst="ellipse">
            <a:avLst/>
          </a:prstGeom>
          <a:solidFill>
            <a:srgbClr val="9333EA"/>
          </a:solidFill>
          <a:ln/>
          <a:effectLst>
            <a:outerShdw blurRad="101600" dist="38100" dir="5400000" algn="bl" rotWithShape="0">
              <a:srgbClr val="000000">
                <a:alpha val="40000"/>
              </a:srgbClr>
            </a:outerShdw>
          </a:effectLst>
        </p:spPr>
      </p:sp>
      <p:pic>
        <p:nvPicPr>
          <p:cNvPr id="13" name="Image 2" descr="ic_foldertree.png"/>
          <p:cNvPicPr>
            <a:picLocks noChangeAspect="1"/>
          </p:cNvPicPr>
          <p:nvPr/>
        </p:nvPicPr>
        <p:blipFill>
          <a:blip r:embed="rId5"/>
          <a:stretch>
            <a:fillRect/>
          </a:stretch>
        </p:blipFill>
        <p:spPr>
          <a:xfrm>
            <a:off x="4713305" y="2369393"/>
            <a:ext cx="272125" cy="272125"/>
          </a:xfrm>
          <a:prstGeom prst="rect">
            <a:avLst/>
          </a:prstGeom>
        </p:spPr>
      </p:pic>
      <p:sp>
        <p:nvSpPr>
          <p:cNvPr id="14" name="Text 9"/>
          <p:cNvSpPr/>
          <p:nvPr/>
        </p:nvSpPr>
        <p:spPr>
          <a:xfrm>
            <a:off x="5297424" y="2221992"/>
            <a:ext cx="2371344"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Resource Types</a:t>
            </a:r>
            <a:endParaRPr lang="en-US" sz="1300" dirty="0"/>
          </a:p>
        </p:txBody>
      </p:sp>
      <p:sp>
        <p:nvSpPr>
          <p:cNvPr id="15" name="Text 10"/>
          <p:cNvSpPr/>
          <p:nvPr/>
        </p:nvSpPr>
        <p:spPr>
          <a:xfrm>
            <a:off x="5297424" y="2514600"/>
            <a:ext cx="2371344" cy="685800"/>
          </a:xfrm>
          <a:prstGeom prst="rect">
            <a:avLst/>
          </a:prstGeom>
          <a:noFill/>
          <a:ln/>
        </p:spPr>
        <p:txBody>
          <a:bodyPr wrap="square" rtlCol="0" anchor="ctr"/>
          <a:lstStyle/>
          <a:p>
            <a:pPr marL="0" indent="0">
              <a:lnSpc>
                <a:spcPct val="115000"/>
              </a:lnSpc>
              <a:buNone/>
            </a:pPr>
            <a:r>
              <a:rPr lang="en-US" sz="1000" dirty="0">
                <a:solidFill>
                  <a:srgbClr val="8F89B8"/>
                </a:solidFill>
                <a:latin typeface="Calibri" pitchFamily="34" charset="0"/>
                <a:ea typeface="Calibri" pitchFamily="34" charset="-122"/>
                <a:cs typeface="Calibri" pitchFamily="34" charset="-120"/>
              </a:rPr>
              <a:t>Classify as Article, Video, Course, or Tool.</a:t>
            </a:r>
            <a:endParaRPr lang="en-US" sz="1000" dirty="0"/>
          </a:p>
        </p:txBody>
      </p:sp>
      <p:sp>
        <p:nvSpPr>
          <p:cNvPr id="16" name="Shape 11"/>
          <p:cNvSpPr/>
          <p:nvPr/>
        </p:nvSpPr>
        <p:spPr>
          <a:xfrm>
            <a:off x="8125968" y="1965960"/>
            <a:ext cx="3514344" cy="1554480"/>
          </a:xfrm>
          <a:prstGeom prst="roundRect">
            <a:avLst>
              <a:gd name="adj" fmla="val 7059"/>
            </a:avLst>
          </a:prstGeom>
          <a:solidFill>
            <a:srgbClr val="1E1A3A"/>
          </a:solidFill>
          <a:ln/>
          <a:effectLst>
            <a:outerShdw blurRad="127000" dist="38100" dir="5400000" algn="bl" rotWithShape="0">
              <a:srgbClr val="000000">
                <a:alpha val="35000"/>
              </a:srgbClr>
            </a:outerShdw>
          </a:effectLst>
        </p:spPr>
      </p:sp>
      <p:sp>
        <p:nvSpPr>
          <p:cNvPr id="17" name="Shape 12"/>
          <p:cNvSpPr/>
          <p:nvPr/>
        </p:nvSpPr>
        <p:spPr>
          <a:xfrm>
            <a:off x="8354568" y="2221992"/>
            <a:ext cx="566928" cy="566928"/>
          </a:xfrm>
          <a:prstGeom prst="ellipse">
            <a:avLst/>
          </a:prstGeom>
          <a:solidFill>
            <a:srgbClr val="EC4899"/>
          </a:solidFill>
          <a:ln/>
          <a:effectLst>
            <a:outerShdw blurRad="101600" dist="38100" dir="5400000" algn="bl" rotWithShape="0">
              <a:srgbClr val="000000">
                <a:alpha val="40000"/>
              </a:srgbClr>
            </a:outerShdw>
          </a:effectLst>
        </p:spPr>
      </p:sp>
      <p:pic>
        <p:nvPicPr>
          <p:cNvPr id="18" name="Image 3" descr="ic_star.png"/>
          <p:cNvPicPr>
            <a:picLocks noChangeAspect="1"/>
          </p:cNvPicPr>
          <p:nvPr/>
        </p:nvPicPr>
        <p:blipFill>
          <a:blip r:embed="rId6"/>
          <a:stretch>
            <a:fillRect/>
          </a:stretch>
        </p:blipFill>
        <p:spPr>
          <a:xfrm>
            <a:off x="8501969" y="2369393"/>
            <a:ext cx="272125" cy="272125"/>
          </a:xfrm>
          <a:prstGeom prst="rect">
            <a:avLst/>
          </a:prstGeom>
        </p:spPr>
      </p:pic>
      <p:sp>
        <p:nvSpPr>
          <p:cNvPr id="19" name="Text 13"/>
          <p:cNvSpPr/>
          <p:nvPr/>
        </p:nvSpPr>
        <p:spPr>
          <a:xfrm>
            <a:off x="9086088" y="2221992"/>
            <a:ext cx="2371344"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Favorites</a:t>
            </a:r>
            <a:endParaRPr lang="en-US" sz="1300" dirty="0"/>
          </a:p>
        </p:txBody>
      </p:sp>
      <p:sp>
        <p:nvSpPr>
          <p:cNvPr id="20" name="Text 14"/>
          <p:cNvSpPr/>
          <p:nvPr/>
        </p:nvSpPr>
        <p:spPr>
          <a:xfrm>
            <a:off x="9086088" y="2514600"/>
            <a:ext cx="2371344" cy="685800"/>
          </a:xfrm>
          <a:prstGeom prst="rect">
            <a:avLst/>
          </a:prstGeom>
          <a:noFill/>
          <a:ln/>
        </p:spPr>
        <p:txBody>
          <a:bodyPr wrap="square" rtlCol="0" anchor="ctr"/>
          <a:lstStyle/>
          <a:p>
            <a:pPr marL="0" indent="0">
              <a:lnSpc>
                <a:spcPct val="115000"/>
              </a:lnSpc>
              <a:buNone/>
            </a:pPr>
            <a:r>
              <a:rPr lang="en-US" sz="1000" dirty="0">
                <a:solidFill>
                  <a:srgbClr val="8F89B8"/>
                </a:solidFill>
                <a:latin typeface="Calibri" pitchFamily="34" charset="0"/>
                <a:ea typeface="Calibri" pitchFamily="34" charset="-122"/>
                <a:cs typeface="Calibri" pitchFamily="34" charset="-120"/>
              </a:rPr>
              <a:t>Star key resources for one-click access.</a:t>
            </a:r>
            <a:endParaRPr lang="en-US" sz="1000" dirty="0"/>
          </a:p>
        </p:txBody>
      </p:sp>
      <p:sp>
        <p:nvSpPr>
          <p:cNvPr id="21" name="Shape 15"/>
          <p:cNvSpPr/>
          <p:nvPr/>
        </p:nvSpPr>
        <p:spPr>
          <a:xfrm>
            <a:off x="548640" y="3794760"/>
            <a:ext cx="11091672" cy="2331720"/>
          </a:xfrm>
          <a:prstGeom prst="roundRect">
            <a:avLst>
              <a:gd name="adj" fmla="val 4706"/>
            </a:avLst>
          </a:prstGeom>
          <a:solidFill>
            <a:srgbClr val="242050"/>
          </a:solidFill>
          <a:ln/>
          <a:effectLst>
            <a:outerShdw blurRad="127000" dist="38100" dir="5400000" algn="bl" rotWithShape="0">
              <a:srgbClr val="000000">
                <a:alpha val="35000"/>
              </a:srgbClr>
            </a:outerShdw>
          </a:effectLst>
        </p:spPr>
      </p:sp>
      <p:sp>
        <p:nvSpPr>
          <p:cNvPr id="22" name="Text 16"/>
          <p:cNvSpPr/>
          <p:nvPr/>
        </p:nvSpPr>
        <p:spPr>
          <a:xfrm>
            <a:off x="822960" y="3959352"/>
            <a:ext cx="457200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Saved Resources</a:t>
            </a:r>
            <a:endParaRPr lang="en-US" sz="1300" dirty="0"/>
          </a:p>
        </p:txBody>
      </p:sp>
      <p:sp>
        <p:nvSpPr>
          <p:cNvPr id="23" name="Shape 17"/>
          <p:cNvSpPr/>
          <p:nvPr/>
        </p:nvSpPr>
        <p:spPr>
          <a:xfrm>
            <a:off x="822960" y="4361688"/>
            <a:ext cx="2484882" cy="1490472"/>
          </a:xfrm>
          <a:prstGeom prst="roundRect">
            <a:avLst>
              <a:gd name="adj" fmla="val 6135"/>
            </a:avLst>
          </a:prstGeom>
          <a:solidFill>
            <a:srgbClr val="1E1A3A"/>
          </a:solidFill>
          <a:ln/>
        </p:spPr>
      </p:sp>
      <p:pic>
        <p:nvPicPr>
          <p:cNvPr id="24" name="Image 4" descr="ic_link.png"/>
          <p:cNvPicPr>
            <a:picLocks noChangeAspect="1"/>
          </p:cNvPicPr>
          <p:nvPr/>
        </p:nvPicPr>
        <p:blipFill>
          <a:blip r:embed="rId4"/>
          <a:stretch>
            <a:fillRect/>
          </a:stretch>
        </p:blipFill>
        <p:spPr>
          <a:xfrm>
            <a:off x="987552" y="4526280"/>
            <a:ext cx="310896" cy="310896"/>
          </a:xfrm>
          <a:prstGeom prst="rect">
            <a:avLst/>
          </a:prstGeom>
        </p:spPr>
      </p:pic>
      <p:pic>
        <p:nvPicPr>
          <p:cNvPr id="25" name="Image 5" descr="ic_star.png"/>
          <p:cNvPicPr>
            <a:picLocks noChangeAspect="1"/>
          </p:cNvPicPr>
          <p:nvPr/>
        </p:nvPicPr>
        <p:blipFill>
          <a:blip r:embed="rId6"/>
          <a:stretch>
            <a:fillRect/>
          </a:stretch>
        </p:blipFill>
        <p:spPr>
          <a:xfrm>
            <a:off x="2850642" y="4544568"/>
            <a:ext cx="274320" cy="274320"/>
          </a:xfrm>
          <a:prstGeom prst="rect">
            <a:avLst/>
          </a:prstGeom>
        </p:spPr>
      </p:pic>
      <p:sp>
        <p:nvSpPr>
          <p:cNvPr id="26" name="Text 18"/>
          <p:cNvSpPr/>
          <p:nvPr/>
        </p:nvSpPr>
        <p:spPr>
          <a:xfrm>
            <a:off x="987552" y="4937760"/>
            <a:ext cx="2155698" cy="502920"/>
          </a:xfrm>
          <a:prstGeom prst="rect">
            <a:avLst/>
          </a:prstGeom>
          <a:noFill/>
          <a:ln/>
        </p:spPr>
        <p:txBody>
          <a:bodyPr wrap="square" rtlCol="0" anchor="ctr"/>
          <a:lstStyle/>
          <a:p>
            <a:pPr marL="0" indent="0">
              <a:lnSpc>
                <a:spcPct val="110000"/>
              </a:lnSpc>
              <a:buNone/>
            </a:pPr>
            <a:r>
              <a:rPr lang="en-US" sz="1150" b="1" dirty="0">
                <a:solidFill>
                  <a:srgbClr val="FFFFFF"/>
                </a:solidFill>
                <a:latin typeface="Calibri" pitchFamily="34" charset="0"/>
                <a:ea typeface="Calibri" pitchFamily="34" charset="-122"/>
                <a:cs typeface="Calibri" pitchFamily="34" charset="-120"/>
              </a:rPr>
              <a:t>Django Official Docs</a:t>
            </a:r>
            <a:endParaRPr lang="en-US" sz="1150" dirty="0"/>
          </a:p>
        </p:txBody>
      </p:sp>
      <p:sp>
        <p:nvSpPr>
          <p:cNvPr id="27" name="Shape 19"/>
          <p:cNvSpPr/>
          <p:nvPr/>
        </p:nvSpPr>
        <p:spPr>
          <a:xfrm>
            <a:off x="987552" y="5458968"/>
            <a:ext cx="1005840" cy="274320"/>
          </a:xfrm>
          <a:prstGeom prst="roundRect">
            <a:avLst>
              <a:gd name="adj" fmla="val 50000"/>
            </a:avLst>
          </a:prstGeom>
          <a:solidFill>
            <a:srgbClr val="4338CA"/>
          </a:solidFill>
          <a:ln/>
        </p:spPr>
      </p:sp>
      <p:sp>
        <p:nvSpPr>
          <p:cNvPr id="28" name="Text 20"/>
          <p:cNvSpPr/>
          <p:nvPr/>
        </p:nvSpPr>
        <p:spPr>
          <a:xfrm>
            <a:off x="987552" y="5458968"/>
            <a:ext cx="100584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Article</a:t>
            </a:r>
            <a:endParaRPr lang="en-US" sz="900" dirty="0"/>
          </a:p>
        </p:txBody>
      </p:sp>
      <p:sp>
        <p:nvSpPr>
          <p:cNvPr id="29" name="Shape 21"/>
          <p:cNvSpPr/>
          <p:nvPr/>
        </p:nvSpPr>
        <p:spPr>
          <a:xfrm>
            <a:off x="3509010" y="4361688"/>
            <a:ext cx="2484882" cy="1490472"/>
          </a:xfrm>
          <a:prstGeom prst="roundRect">
            <a:avLst>
              <a:gd name="adj" fmla="val 6135"/>
            </a:avLst>
          </a:prstGeom>
          <a:solidFill>
            <a:srgbClr val="1E1A3A"/>
          </a:solidFill>
          <a:ln/>
        </p:spPr>
      </p:sp>
      <p:pic>
        <p:nvPicPr>
          <p:cNvPr id="30" name="Image 6" descr="ic_link.png"/>
          <p:cNvPicPr>
            <a:picLocks noChangeAspect="1"/>
          </p:cNvPicPr>
          <p:nvPr/>
        </p:nvPicPr>
        <p:blipFill>
          <a:blip r:embed="rId4"/>
          <a:stretch>
            <a:fillRect/>
          </a:stretch>
        </p:blipFill>
        <p:spPr>
          <a:xfrm>
            <a:off x="3673602" y="4526280"/>
            <a:ext cx="310896" cy="310896"/>
          </a:xfrm>
          <a:prstGeom prst="rect">
            <a:avLst/>
          </a:prstGeom>
        </p:spPr>
      </p:pic>
      <p:sp>
        <p:nvSpPr>
          <p:cNvPr id="31" name="Text 22"/>
          <p:cNvSpPr/>
          <p:nvPr/>
        </p:nvSpPr>
        <p:spPr>
          <a:xfrm>
            <a:off x="3673602" y="4937760"/>
            <a:ext cx="2155698" cy="502920"/>
          </a:xfrm>
          <a:prstGeom prst="rect">
            <a:avLst/>
          </a:prstGeom>
          <a:noFill/>
          <a:ln/>
        </p:spPr>
        <p:txBody>
          <a:bodyPr wrap="square" rtlCol="0" anchor="ctr"/>
          <a:lstStyle/>
          <a:p>
            <a:pPr marL="0" indent="0">
              <a:lnSpc>
                <a:spcPct val="110000"/>
              </a:lnSpc>
              <a:buNone/>
            </a:pPr>
            <a:r>
              <a:rPr lang="en-US" sz="1150" b="1" dirty="0">
                <a:solidFill>
                  <a:srgbClr val="FFFFFF"/>
                </a:solidFill>
                <a:latin typeface="Calibri" pitchFamily="34" charset="0"/>
                <a:ea typeface="Calibri" pitchFamily="34" charset="-122"/>
                <a:cs typeface="Calibri" pitchFamily="34" charset="-120"/>
              </a:rPr>
              <a:t>Postgres Performance Tips</a:t>
            </a:r>
            <a:endParaRPr lang="en-US" sz="1150" dirty="0"/>
          </a:p>
        </p:txBody>
      </p:sp>
      <p:sp>
        <p:nvSpPr>
          <p:cNvPr id="32" name="Shape 23"/>
          <p:cNvSpPr/>
          <p:nvPr/>
        </p:nvSpPr>
        <p:spPr>
          <a:xfrm>
            <a:off x="3673602" y="5458968"/>
            <a:ext cx="1005840" cy="274320"/>
          </a:xfrm>
          <a:prstGeom prst="roundRect">
            <a:avLst>
              <a:gd name="adj" fmla="val 50000"/>
            </a:avLst>
          </a:prstGeom>
          <a:solidFill>
            <a:srgbClr val="4338CA"/>
          </a:solidFill>
          <a:ln/>
        </p:spPr>
      </p:sp>
      <p:sp>
        <p:nvSpPr>
          <p:cNvPr id="33" name="Text 24"/>
          <p:cNvSpPr/>
          <p:nvPr/>
        </p:nvSpPr>
        <p:spPr>
          <a:xfrm>
            <a:off x="3673602" y="5458968"/>
            <a:ext cx="100584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Video</a:t>
            </a:r>
            <a:endParaRPr lang="en-US" sz="900" dirty="0"/>
          </a:p>
        </p:txBody>
      </p:sp>
      <p:sp>
        <p:nvSpPr>
          <p:cNvPr id="34" name="Shape 25"/>
          <p:cNvSpPr/>
          <p:nvPr/>
        </p:nvSpPr>
        <p:spPr>
          <a:xfrm>
            <a:off x="6195060" y="4361688"/>
            <a:ext cx="2484882" cy="1490472"/>
          </a:xfrm>
          <a:prstGeom prst="roundRect">
            <a:avLst>
              <a:gd name="adj" fmla="val 6135"/>
            </a:avLst>
          </a:prstGeom>
          <a:solidFill>
            <a:srgbClr val="1E1A3A"/>
          </a:solidFill>
          <a:ln/>
        </p:spPr>
      </p:sp>
      <p:pic>
        <p:nvPicPr>
          <p:cNvPr id="35" name="Image 7" descr="ic_link.png"/>
          <p:cNvPicPr>
            <a:picLocks noChangeAspect="1"/>
          </p:cNvPicPr>
          <p:nvPr/>
        </p:nvPicPr>
        <p:blipFill>
          <a:blip r:embed="rId4"/>
          <a:stretch>
            <a:fillRect/>
          </a:stretch>
        </p:blipFill>
        <p:spPr>
          <a:xfrm>
            <a:off x="6359652" y="4526280"/>
            <a:ext cx="310896" cy="310896"/>
          </a:xfrm>
          <a:prstGeom prst="rect">
            <a:avLst/>
          </a:prstGeom>
        </p:spPr>
      </p:pic>
      <p:pic>
        <p:nvPicPr>
          <p:cNvPr id="36" name="Image 8" descr="ic_star.png"/>
          <p:cNvPicPr>
            <a:picLocks noChangeAspect="1"/>
          </p:cNvPicPr>
          <p:nvPr/>
        </p:nvPicPr>
        <p:blipFill>
          <a:blip r:embed="rId6"/>
          <a:stretch>
            <a:fillRect/>
          </a:stretch>
        </p:blipFill>
        <p:spPr>
          <a:xfrm>
            <a:off x="8222742" y="4544568"/>
            <a:ext cx="274320" cy="274320"/>
          </a:xfrm>
          <a:prstGeom prst="rect">
            <a:avLst/>
          </a:prstGeom>
        </p:spPr>
      </p:pic>
      <p:sp>
        <p:nvSpPr>
          <p:cNvPr id="37" name="Text 26"/>
          <p:cNvSpPr/>
          <p:nvPr/>
        </p:nvSpPr>
        <p:spPr>
          <a:xfrm>
            <a:off x="6359652" y="4937760"/>
            <a:ext cx="2155698" cy="502920"/>
          </a:xfrm>
          <a:prstGeom prst="rect">
            <a:avLst/>
          </a:prstGeom>
          <a:noFill/>
          <a:ln/>
        </p:spPr>
        <p:txBody>
          <a:bodyPr wrap="square" rtlCol="0" anchor="ctr"/>
          <a:lstStyle/>
          <a:p>
            <a:pPr marL="0" indent="0">
              <a:lnSpc>
                <a:spcPct val="110000"/>
              </a:lnSpc>
              <a:buNone/>
            </a:pPr>
            <a:r>
              <a:rPr lang="en-US" sz="1150" b="1" dirty="0">
                <a:solidFill>
                  <a:srgbClr val="FFFFFF"/>
                </a:solidFill>
                <a:latin typeface="Calibri" pitchFamily="34" charset="0"/>
                <a:ea typeface="Calibri" pitchFamily="34" charset="-122"/>
                <a:cs typeface="Calibri" pitchFamily="34" charset="-120"/>
              </a:rPr>
              <a:t>Gemini API Cookbook</a:t>
            </a:r>
            <a:endParaRPr lang="en-US" sz="1150" dirty="0"/>
          </a:p>
        </p:txBody>
      </p:sp>
      <p:sp>
        <p:nvSpPr>
          <p:cNvPr id="38" name="Shape 27"/>
          <p:cNvSpPr/>
          <p:nvPr/>
        </p:nvSpPr>
        <p:spPr>
          <a:xfrm>
            <a:off x="6359652" y="5458968"/>
            <a:ext cx="1005840" cy="274320"/>
          </a:xfrm>
          <a:prstGeom prst="roundRect">
            <a:avLst>
              <a:gd name="adj" fmla="val 50000"/>
            </a:avLst>
          </a:prstGeom>
          <a:solidFill>
            <a:srgbClr val="4338CA"/>
          </a:solidFill>
          <a:ln/>
        </p:spPr>
      </p:sp>
      <p:sp>
        <p:nvSpPr>
          <p:cNvPr id="39" name="Text 28"/>
          <p:cNvSpPr/>
          <p:nvPr/>
        </p:nvSpPr>
        <p:spPr>
          <a:xfrm>
            <a:off x="6359652" y="5458968"/>
            <a:ext cx="100584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Tool</a:t>
            </a:r>
            <a:endParaRPr lang="en-US" sz="900" dirty="0"/>
          </a:p>
        </p:txBody>
      </p:sp>
      <p:sp>
        <p:nvSpPr>
          <p:cNvPr id="40" name="Shape 29"/>
          <p:cNvSpPr/>
          <p:nvPr/>
        </p:nvSpPr>
        <p:spPr>
          <a:xfrm>
            <a:off x="8881110" y="4361688"/>
            <a:ext cx="2484882" cy="1490472"/>
          </a:xfrm>
          <a:prstGeom prst="roundRect">
            <a:avLst>
              <a:gd name="adj" fmla="val 6135"/>
            </a:avLst>
          </a:prstGeom>
          <a:solidFill>
            <a:srgbClr val="1E1A3A"/>
          </a:solidFill>
          <a:ln/>
        </p:spPr>
      </p:sp>
      <p:pic>
        <p:nvPicPr>
          <p:cNvPr id="41" name="Image 9" descr="ic_link.png"/>
          <p:cNvPicPr>
            <a:picLocks noChangeAspect="1"/>
          </p:cNvPicPr>
          <p:nvPr/>
        </p:nvPicPr>
        <p:blipFill>
          <a:blip r:embed="rId4"/>
          <a:stretch>
            <a:fillRect/>
          </a:stretch>
        </p:blipFill>
        <p:spPr>
          <a:xfrm>
            <a:off x="9045702" y="4526280"/>
            <a:ext cx="310896" cy="310896"/>
          </a:xfrm>
          <a:prstGeom prst="rect">
            <a:avLst/>
          </a:prstGeom>
        </p:spPr>
      </p:pic>
      <p:sp>
        <p:nvSpPr>
          <p:cNvPr id="42" name="Text 30"/>
          <p:cNvSpPr/>
          <p:nvPr/>
        </p:nvSpPr>
        <p:spPr>
          <a:xfrm>
            <a:off x="9045702" y="4937760"/>
            <a:ext cx="2155698" cy="502920"/>
          </a:xfrm>
          <a:prstGeom prst="rect">
            <a:avLst/>
          </a:prstGeom>
          <a:noFill/>
          <a:ln/>
        </p:spPr>
        <p:txBody>
          <a:bodyPr wrap="square" rtlCol="0" anchor="ctr"/>
          <a:lstStyle/>
          <a:p>
            <a:pPr marL="0" indent="0">
              <a:lnSpc>
                <a:spcPct val="110000"/>
              </a:lnSpc>
              <a:buNone/>
            </a:pPr>
            <a:r>
              <a:rPr lang="en-US" sz="1150" b="1" dirty="0">
                <a:solidFill>
                  <a:srgbClr val="FFFFFF"/>
                </a:solidFill>
                <a:latin typeface="Calibri" pitchFamily="34" charset="0"/>
                <a:ea typeface="Calibri" pitchFamily="34" charset="-122"/>
                <a:cs typeface="Calibri" pitchFamily="34" charset="-120"/>
              </a:rPr>
              <a:t>Chart.js Playground</a:t>
            </a:r>
            <a:endParaRPr lang="en-US" sz="1150" dirty="0"/>
          </a:p>
        </p:txBody>
      </p:sp>
      <p:sp>
        <p:nvSpPr>
          <p:cNvPr id="43" name="Shape 31"/>
          <p:cNvSpPr/>
          <p:nvPr/>
        </p:nvSpPr>
        <p:spPr>
          <a:xfrm>
            <a:off x="9045702" y="5458968"/>
            <a:ext cx="1005840" cy="274320"/>
          </a:xfrm>
          <a:prstGeom prst="roundRect">
            <a:avLst>
              <a:gd name="adj" fmla="val 50000"/>
            </a:avLst>
          </a:prstGeom>
          <a:solidFill>
            <a:srgbClr val="4338CA"/>
          </a:solidFill>
          <a:ln/>
        </p:spPr>
      </p:sp>
      <p:sp>
        <p:nvSpPr>
          <p:cNvPr id="44" name="Text 32"/>
          <p:cNvSpPr/>
          <p:nvPr/>
        </p:nvSpPr>
        <p:spPr>
          <a:xfrm>
            <a:off x="9045702" y="5458968"/>
            <a:ext cx="100584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Tool</a:t>
            </a:r>
            <a:endParaRPr lang="en-US" sz="900" dirty="0"/>
          </a:p>
        </p:txBody>
      </p:sp>
      <p:sp>
        <p:nvSpPr>
          <p:cNvPr id="46" name="Text 33"/>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47" name="Text 34"/>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GEMINI INTEGRATION</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AI Assistant</a:t>
            </a:r>
            <a:endParaRPr lang="en-US" sz="3200" dirty="0"/>
          </a:p>
        </p:txBody>
      </p:sp>
      <p:sp>
        <p:nvSpPr>
          <p:cNvPr id="5" name="Text 2"/>
          <p:cNvSpPr/>
          <p:nvPr/>
        </p:nvSpPr>
        <p:spPr>
          <a:xfrm>
            <a:off x="548640" y="1298448"/>
            <a:ext cx="5120640" cy="822960"/>
          </a:xfrm>
          <a:prstGeom prst="rect">
            <a:avLst/>
          </a:prstGeom>
          <a:noFill/>
          <a:ln/>
        </p:spPr>
        <p:txBody>
          <a:bodyPr wrap="square" rtlCol="0" anchor="ctr"/>
          <a:lstStyle/>
          <a:p>
            <a:pPr marL="0" indent="0">
              <a:lnSpc>
                <a:spcPct val="125000"/>
              </a:lnSpc>
              <a:buNone/>
            </a:pPr>
            <a:r>
              <a:rPr lang="en-US" sz="1300" dirty="0">
                <a:solidFill>
                  <a:srgbClr val="B7B2D6"/>
                </a:solidFill>
                <a:latin typeface="Calibri" pitchFamily="34" charset="0"/>
                <a:ea typeface="Calibri" pitchFamily="34" charset="-122"/>
                <a:cs typeface="Calibri" pitchFamily="34" charset="-120"/>
              </a:rPr>
              <a:t>A built-in study companion powered by Google Gemini. Ask questions, get explanations, and keep every conversation saved for later review.</a:t>
            </a:r>
            <a:endParaRPr lang="en-US" sz="1300" dirty="0"/>
          </a:p>
        </p:txBody>
      </p:sp>
      <p:sp>
        <p:nvSpPr>
          <p:cNvPr id="6" name="Shape 3"/>
          <p:cNvSpPr/>
          <p:nvPr/>
        </p:nvSpPr>
        <p:spPr>
          <a:xfrm>
            <a:off x="548640" y="2331720"/>
            <a:ext cx="548640" cy="548640"/>
          </a:xfrm>
          <a:prstGeom prst="ellipse">
            <a:avLst/>
          </a:prstGeom>
          <a:solidFill>
            <a:srgbClr val="9333EA"/>
          </a:solidFill>
          <a:ln/>
          <a:effectLst>
            <a:outerShdw blurRad="101600" dist="38100" dir="5400000" algn="bl" rotWithShape="0">
              <a:srgbClr val="000000">
                <a:alpha val="40000"/>
              </a:srgbClr>
            </a:outerShdw>
          </a:effectLst>
        </p:spPr>
      </p:sp>
      <p:pic>
        <p:nvPicPr>
          <p:cNvPr id="7" name="Image 1" descr="ic_comments.png"/>
          <p:cNvPicPr>
            <a:picLocks noChangeAspect="1"/>
          </p:cNvPicPr>
          <p:nvPr/>
        </p:nvPicPr>
        <p:blipFill>
          <a:blip r:embed="rId4"/>
          <a:stretch>
            <a:fillRect/>
          </a:stretch>
        </p:blipFill>
        <p:spPr>
          <a:xfrm>
            <a:off x="691286" y="2474366"/>
            <a:ext cx="263347" cy="263347"/>
          </a:xfrm>
          <a:prstGeom prst="rect">
            <a:avLst/>
          </a:prstGeom>
        </p:spPr>
      </p:pic>
      <p:sp>
        <p:nvSpPr>
          <p:cNvPr id="8" name="Text 4"/>
          <p:cNvSpPr/>
          <p:nvPr/>
        </p:nvSpPr>
        <p:spPr>
          <a:xfrm>
            <a:off x="1234440" y="2331720"/>
            <a:ext cx="448056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Natural Conversation</a:t>
            </a:r>
            <a:endParaRPr lang="en-US" sz="1300" dirty="0"/>
          </a:p>
        </p:txBody>
      </p:sp>
      <p:sp>
        <p:nvSpPr>
          <p:cNvPr id="9" name="Text 5"/>
          <p:cNvSpPr/>
          <p:nvPr/>
        </p:nvSpPr>
        <p:spPr>
          <a:xfrm>
            <a:off x="1234440" y="2624328"/>
            <a:ext cx="4663440" cy="457200"/>
          </a:xfrm>
          <a:prstGeom prst="rect">
            <a:avLst/>
          </a:prstGeom>
          <a:noFill/>
          <a:ln/>
        </p:spPr>
        <p:txBody>
          <a:bodyPr wrap="square" rtlCol="0" anchor="ctr"/>
          <a:lstStyle/>
          <a:p>
            <a:pPr marL="0" indent="0">
              <a:lnSpc>
                <a:spcPct val="115000"/>
              </a:lnSpc>
              <a:buNone/>
            </a:pPr>
            <a:r>
              <a:rPr lang="en-US" sz="1050" dirty="0">
                <a:solidFill>
                  <a:srgbClr val="8F89B8"/>
                </a:solidFill>
                <a:latin typeface="Calibri" pitchFamily="34" charset="0"/>
                <a:ea typeface="Calibri" pitchFamily="34" charset="-122"/>
                <a:cs typeface="Calibri" pitchFamily="34" charset="-120"/>
              </a:rPr>
              <a:t>Chat naturally about any study topic.</a:t>
            </a:r>
            <a:endParaRPr lang="en-US" sz="1050" dirty="0"/>
          </a:p>
        </p:txBody>
      </p:sp>
      <p:sp>
        <p:nvSpPr>
          <p:cNvPr id="10" name="Shape 6"/>
          <p:cNvSpPr/>
          <p:nvPr/>
        </p:nvSpPr>
        <p:spPr>
          <a:xfrm>
            <a:off x="548640" y="3291840"/>
            <a:ext cx="548640" cy="548640"/>
          </a:xfrm>
          <a:prstGeom prst="ellipse">
            <a:avLst/>
          </a:prstGeom>
          <a:solidFill>
            <a:srgbClr val="9333EA"/>
          </a:solidFill>
          <a:ln/>
          <a:effectLst>
            <a:outerShdw blurRad="101600" dist="38100" dir="5400000" algn="bl" rotWithShape="0">
              <a:srgbClr val="000000">
                <a:alpha val="40000"/>
              </a:srgbClr>
            </a:outerShdw>
          </a:effectLst>
        </p:spPr>
      </p:sp>
      <p:pic>
        <p:nvPicPr>
          <p:cNvPr id="11" name="Image 2" descr="ic_database.png"/>
          <p:cNvPicPr>
            <a:picLocks noChangeAspect="1"/>
          </p:cNvPicPr>
          <p:nvPr/>
        </p:nvPicPr>
        <p:blipFill>
          <a:blip r:embed="rId5"/>
          <a:stretch>
            <a:fillRect/>
          </a:stretch>
        </p:blipFill>
        <p:spPr>
          <a:xfrm>
            <a:off x="691286" y="3434486"/>
            <a:ext cx="263347" cy="263347"/>
          </a:xfrm>
          <a:prstGeom prst="rect">
            <a:avLst/>
          </a:prstGeom>
        </p:spPr>
      </p:pic>
      <p:sp>
        <p:nvSpPr>
          <p:cNvPr id="12" name="Text 7"/>
          <p:cNvSpPr/>
          <p:nvPr/>
        </p:nvSpPr>
        <p:spPr>
          <a:xfrm>
            <a:off x="1234440" y="3291840"/>
            <a:ext cx="448056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Conversation History</a:t>
            </a:r>
            <a:endParaRPr lang="en-US" sz="1300" dirty="0"/>
          </a:p>
        </p:txBody>
      </p:sp>
      <p:sp>
        <p:nvSpPr>
          <p:cNvPr id="13" name="Text 8"/>
          <p:cNvSpPr/>
          <p:nvPr/>
        </p:nvSpPr>
        <p:spPr>
          <a:xfrm>
            <a:off x="1234440" y="3584448"/>
            <a:ext cx="4663440" cy="457200"/>
          </a:xfrm>
          <a:prstGeom prst="rect">
            <a:avLst/>
          </a:prstGeom>
          <a:noFill/>
          <a:ln/>
        </p:spPr>
        <p:txBody>
          <a:bodyPr wrap="square" rtlCol="0" anchor="ctr"/>
          <a:lstStyle/>
          <a:p>
            <a:pPr marL="0" indent="0">
              <a:lnSpc>
                <a:spcPct val="115000"/>
              </a:lnSpc>
              <a:buNone/>
            </a:pPr>
            <a:r>
              <a:rPr lang="en-US" sz="1050" dirty="0">
                <a:solidFill>
                  <a:srgbClr val="8F89B8"/>
                </a:solidFill>
                <a:latin typeface="Calibri" pitchFamily="34" charset="0"/>
                <a:ea typeface="Calibri" pitchFamily="34" charset="-122"/>
                <a:cs typeface="Calibri" pitchFamily="34" charset="-120"/>
              </a:rPr>
              <a:t>Every chat is saved &amp; searchable later.</a:t>
            </a:r>
            <a:endParaRPr lang="en-US" sz="1050" dirty="0"/>
          </a:p>
        </p:txBody>
      </p:sp>
      <p:sp>
        <p:nvSpPr>
          <p:cNvPr id="14" name="Shape 9"/>
          <p:cNvSpPr/>
          <p:nvPr/>
        </p:nvSpPr>
        <p:spPr>
          <a:xfrm>
            <a:off x="548640" y="4251960"/>
            <a:ext cx="548640" cy="548640"/>
          </a:xfrm>
          <a:prstGeom prst="ellipse">
            <a:avLst/>
          </a:prstGeom>
          <a:solidFill>
            <a:srgbClr val="9333EA"/>
          </a:solidFill>
          <a:ln/>
          <a:effectLst>
            <a:outerShdw blurRad="101600" dist="38100" dir="5400000" algn="bl" rotWithShape="0">
              <a:srgbClr val="000000">
                <a:alpha val="40000"/>
              </a:srgbClr>
            </a:outerShdw>
          </a:effectLst>
        </p:spPr>
      </p:sp>
      <p:pic>
        <p:nvPicPr>
          <p:cNvPr id="15" name="Image 3" descr="ic_robot.png"/>
          <p:cNvPicPr>
            <a:picLocks noChangeAspect="1"/>
          </p:cNvPicPr>
          <p:nvPr/>
        </p:nvPicPr>
        <p:blipFill>
          <a:blip r:embed="rId6"/>
          <a:stretch>
            <a:fillRect/>
          </a:stretch>
        </p:blipFill>
        <p:spPr>
          <a:xfrm>
            <a:off x="691286" y="4394606"/>
            <a:ext cx="263347" cy="263347"/>
          </a:xfrm>
          <a:prstGeom prst="rect">
            <a:avLst/>
          </a:prstGeom>
        </p:spPr>
      </p:pic>
      <p:sp>
        <p:nvSpPr>
          <p:cNvPr id="16" name="Text 10"/>
          <p:cNvSpPr/>
          <p:nvPr/>
        </p:nvSpPr>
        <p:spPr>
          <a:xfrm>
            <a:off x="1234440" y="4251960"/>
            <a:ext cx="448056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Gemini-Powered</a:t>
            </a:r>
            <a:endParaRPr lang="en-US" sz="1300" dirty="0"/>
          </a:p>
        </p:txBody>
      </p:sp>
      <p:sp>
        <p:nvSpPr>
          <p:cNvPr id="17" name="Text 11"/>
          <p:cNvSpPr/>
          <p:nvPr/>
        </p:nvSpPr>
        <p:spPr>
          <a:xfrm>
            <a:off x="1234440" y="4544568"/>
            <a:ext cx="4663440" cy="457200"/>
          </a:xfrm>
          <a:prstGeom prst="rect">
            <a:avLst/>
          </a:prstGeom>
          <a:noFill/>
          <a:ln/>
        </p:spPr>
        <p:txBody>
          <a:bodyPr wrap="square" rtlCol="0" anchor="ctr"/>
          <a:lstStyle/>
          <a:p>
            <a:pPr marL="0" indent="0">
              <a:lnSpc>
                <a:spcPct val="115000"/>
              </a:lnSpc>
              <a:buNone/>
            </a:pPr>
            <a:r>
              <a:rPr lang="en-US" sz="1050" dirty="0">
                <a:solidFill>
                  <a:srgbClr val="8F89B8"/>
                </a:solidFill>
                <a:latin typeface="Calibri" pitchFamily="34" charset="0"/>
                <a:ea typeface="Calibri" pitchFamily="34" charset="-122"/>
                <a:cs typeface="Calibri" pitchFamily="34" charset="-120"/>
              </a:rPr>
              <a:t>Backed by Google's Gemini generative model.</a:t>
            </a:r>
            <a:endParaRPr lang="en-US" sz="1050" dirty="0"/>
          </a:p>
        </p:txBody>
      </p:sp>
      <p:sp>
        <p:nvSpPr>
          <p:cNvPr id="18" name="Shape 12"/>
          <p:cNvSpPr/>
          <p:nvPr/>
        </p:nvSpPr>
        <p:spPr>
          <a:xfrm>
            <a:off x="6263640" y="1371600"/>
            <a:ext cx="5376672" cy="5074920"/>
          </a:xfrm>
          <a:prstGeom prst="roundRect">
            <a:avLst>
              <a:gd name="adj" fmla="val 2162"/>
            </a:avLst>
          </a:prstGeom>
          <a:solidFill>
            <a:srgbClr val="242050"/>
          </a:solidFill>
          <a:ln/>
          <a:effectLst>
            <a:outerShdw blurRad="127000" dist="38100" dir="5400000" algn="bl" rotWithShape="0">
              <a:srgbClr val="000000">
                <a:alpha val="35000"/>
              </a:srgbClr>
            </a:outerShdw>
          </a:effectLst>
        </p:spPr>
      </p:sp>
      <p:sp>
        <p:nvSpPr>
          <p:cNvPr id="19" name="Shape 13"/>
          <p:cNvSpPr/>
          <p:nvPr/>
        </p:nvSpPr>
        <p:spPr>
          <a:xfrm>
            <a:off x="6537960" y="1600200"/>
            <a:ext cx="457200" cy="457200"/>
          </a:xfrm>
          <a:prstGeom prst="ellipse">
            <a:avLst/>
          </a:prstGeom>
          <a:solidFill>
            <a:srgbClr val="9333EA"/>
          </a:solidFill>
          <a:ln/>
          <a:effectLst>
            <a:outerShdw blurRad="101600" dist="38100" dir="5400000" algn="bl" rotWithShape="0">
              <a:srgbClr val="000000">
                <a:alpha val="40000"/>
              </a:srgbClr>
            </a:outerShdw>
          </a:effectLst>
        </p:spPr>
      </p:sp>
      <p:pic>
        <p:nvPicPr>
          <p:cNvPr id="20" name="Image 4" descr="ic_robot.png"/>
          <p:cNvPicPr>
            <a:picLocks noChangeAspect="1"/>
          </p:cNvPicPr>
          <p:nvPr/>
        </p:nvPicPr>
        <p:blipFill>
          <a:blip r:embed="rId6"/>
          <a:stretch>
            <a:fillRect/>
          </a:stretch>
        </p:blipFill>
        <p:spPr>
          <a:xfrm>
            <a:off x="6656832" y="1719072"/>
            <a:ext cx="219456" cy="219456"/>
          </a:xfrm>
          <a:prstGeom prst="rect">
            <a:avLst/>
          </a:prstGeom>
        </p:spPr>
      </p:pic>
      <p:sp>
        <p:nvSpPr>
          <p:cNvPr id="21" name="Text 14"/>
          <p:cNvSpPr/>
          <p:nvPr/>
        </p:nvSpPr>
        <p:spPr>
          <a:xfrm>
            <a:off x="7132320" y="1645920"/>
            <a:ext cx="36576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Mind Nest AI Assistant</a:t>
            </a:r>
            <a:endParaRPr lang="en-US" sz="1300" dirty="0"/>
          </a:p>
        </p:txBody>
      </p:sp>
      <p:sp>
        <p:nvSpPr>
          <p:cNvPr id="22" name="Shape 15"/>
          <p:cNvSpPr/>
          <p:nvPr/>
        </p:nvSpPr>
        <p:spPr>
          <a:xfrm>
            <a:off x="11137392" y="1737360"/>
            <a:ext cx="109728" cy="109728"/>
          </a:xfrm>
          <a:prstGeom prst="ellipse">
            <a:avLst/>
          </a:prstGeom>
          <a:solidFill>
            <a:srgbClr val="22C55E"/>
          </a:solidFill>
          <a:ln/>
        </p:spPr>
      </p:sp>
      <p:sp>
        <p:nvSpPr>
          <p:cNvPr id="23" name="Shape 16"/>
          <p:cNvSpPr/>
          <p:nvPr/>
        </p:nvSpPr>
        <p:spPr>
          <a:xfrm>
            <a:off x="6537960" y="2286000"/>
            <a:ext cx="4096512" cy="685800"/>
          </a:xfrm>
          <a:prstGeom prst="roundRect">
            <a:avLst>
              <a:gd name="adj" fmla="val 18667"/>
            </a:avLst>
          </a:prstGeom>
          <a:solidFill>
            <a:srgbClr val="1E1A3A"/>
          </a:solidFill>
          <a:ln/>
        </p:spPr>
      </p:sp>
      <p:sp>
        <p:nvSpPr>
          <p:cNvPr id="24" name="Text 17"/>
          <p:cNvSpPr/>
          <p:nvPr/>
        </p:nvSpPr>
        <p:spPr>
          <a:xfrm>
            <a:off x="6720840" y="2286000"/>
            <a:ext cx="3730752" cy="685800"/>
          </a:xfrm>
          <a:prstGeom prst="rect">
            <a:avLst/>
          </a:prstGeom>
          <a:noFill/>
          <a:ln/>
        </p:spPr>
        <p:txBody>
          <a:bodyPr wrap="square" rtlCol="0" anchor="ctr"/>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How do I optimize a Django queryset with many joins?</a:t>
            </a:r>
            <a:endParaRPr lang="en-US" sz="1050" dirty="0"/>
          </a:p>
        </p:txBody>
      </p:sp>
      <p:sp>
        <p:nvSpPr>
          <p:cNvPr id="25" name="Shape 18"/>
          <p:cNvSpPr/>
          <p:nvPr/>
        </p:nvSpPr>
        <p:spPr>
          <a:xfrm>
            <a:off x="7543800" y="3154680"/>
            <a:ext cx="4096512" cy="1051560"/>
          </a:xfrm>
          <a:prstGeom prst="roundRect">
            <a:avLst>
              <a:gd name="adj" fmla="val 12174"/>
            </a:avLst>
          </a:prstGeom>
          <a:solidFill>
            <a:srgbClr val="4338CA"/>
          </a:solidFill>
          <a:ln/>
        </p:spPr>
      </p:sp>
      <p:sp>
        <p:nvSpPr>
          <p:cNvPr id="26" name="Text 19"/>
          <p:cNvSpPr/>
          <p:nvPr/>
        </p:nvSpPr>
        <p:spPr>
          <a:xfrm>
            <a:off x="7726680" y="3154680"/>
            <a:ext cx="3730752" cy="1051560"/>
          </a:xfrm>
          <a:prstGeom prst="rect">
            <a:avLst/>
          </a:prstGeom>
          <a:noFill/>
          <a:ln/>
        </p:spPr>
        <p:txBody>
          <a:bodyPr wrap="square" rtlCol="0" anchor="ctr"/>
          <a:lstStyle/>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Use select_related() for foreign keys and prefetch_related() for many-to-many — this cuts down repeated database hits significantly.</a:t>
            </a:r>
            <a:endParaRPr lang="en-US" sz="1050" dirty="0"/>
          </a:p>
        </p:txBody>
      </p:sp>
      <p:sp>
        <p:nvSpPr>
          <p:cNvPr id="27" name="Shape 20"/>
          <p:cNvSpPr/>
          <p:nvPr/>
        </p:nvSpPr>
        <p:spPr>
          <a:xfrm>
            <a:off x="6537960" y="4389120"/>
            <a:ext cx="4096512" cy="594360"/>
          </a:xfrm>
          <a:prstGeom prst="roundRect">
            <a:avLst>
              <a:gd name="adj" fmla="val 21538"/>
            </a:avLst>
          </a:prstGeom>
          <a:solidFill>
            <a:srgbClr val="1E1A3A"/>
          </a:solidFill>
          <a:ln/>
        </p:spPr>
      </p:sp>
      <p:sp>
        <p:nvSpPr>
          <p:cNvPr id="28" name="Text 21"/>
          <p:cNvSpPr/>
          <p:nvPr/>
        </p:nvSpPr>
        <p:spPr>
          <a:xfrm>
            <a:off x="6720840" y="4389120"/>
            <a:ext cx="3730752" cy="59436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Thank you! Can you save this to my notes?</a:t>
            </a:r>
            <a:endParaRPr lang="en-US" sz="1050" dirty="0"/>
          </a:p>
        </p:txBody>
      </p:sp>
      <p:sp>
        <p:nvSpPr>
          <p:cNvPr id="29" name="Shape 22"/>
          <p:cNvSpPr/>
          <p:nvPr/>
        </p:nvSpPr>
        <p:spPr>
          <a:xfrm>
            <a:off x="6537960" y="5166360"/>
            <a:ext cx="4828032" cy="685800"/>
          </a:xfrm>
          <a:prstGeom prst="roundRect">
            <a:avLst>
              <a:gd name="adj" fmla="val 18667"/>
            </a:avLst>
          </a:prstGeom>
          <a:solidFill>
            <a:srgbClr val="1E1A3A"/>
          </a:solidFill>
          <a:ln w="12700">
            <a:solidFill>
              <a:srgbClr val="3A3560"/>
            </a:solidFill>
            <a:prstDash val="solid"/>
          </a:ln>
        </p:spPr>
      </p:sp>
      <p:sp>
        <p:nvSpPr>
          <p:cNvPr id="30" name="Text 23"/>
          <p:cNvSpPr/>
          <p:nvPr/>
        </p:nvSpPr>
        <p:spPr>
          <a:xfrm>
            <a:off x="6720840" y="5166360"/>
            <a:ext cx="4005072" cy="685800"/>
          </a:xfrm>
          <a:prstGeom prst="rect">
            <a:avLst/>
          </a:prstGeom>
          <a:noFill/>
          <a:ln/>
        </p:spPr>
        <p:txBody>
          <a:bodyPr wrap="square" rtlCol="0" anchor="ctr"/>
          <a:lstStyle/>
          <a:p>
            <a:pPr marL="0" indent="0">
              <a:buNone/>
            </a:pPr>
            <a:r>
              <a:rPr lang="en-US" sz="1050" dirty="0">
                <a:solidFill>
                  <a:srgbClr val="8F89B8"/>
                </a:solidFill>
                <a:latin typeface="Calibri" pitchFamily="34" charset="0"/>
                <a:ea typeface="Calibri" pitchFamily="34" charset="-122"/>
                <a:cs typeface="Calibri" pitchFamily="34" charset="-120"/>
              </a:rPr>
              <a:t>Type your question...</a:t>
            </a:r>
            <a:endParaRPr lang="en-US" sz="1050" dirty="0"/>
          </a:p>
        </p:txBody>
      </p:sp>
      <p:sp>
        <p:nvSpPr>
          <p:cNvPr id="31" name="Shape 24"/>
          <p:cNvSpPr/>
          <p:nvPr/>
        </p:nvSpPr>
        <p:spPr>
          <a:xfrm>
            <a:off x="10863072" y="5303520"/>
            <a:ext cx="411480" cy="411480"/>
          </a:xfrm>
          <a:prstGeom prst="ellipse">
            <a:avLst/>
          </a:prstGeom>
          <a:solidFill>
            <a:srgbClr val="A855F7"/>
          </a:solidFill>
          <a:ln/>
        </p:spPr>
      </p:sp>
      <p:sp>
        <p:nvSpPr>
          <p:cNvPr id="32" name="Text 25"/>
          <p:cNvSpPr/>
          <p:nvPr/>
        </p:nvSpPr>
        <p:spPr>
          <a:xfrm>
            <a:off x="10863072" y="5303520"/>
            <a:ext cx="411480" cy="4114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a:t>
            </a:r>
            <a:endParaRPr lang="en-US" sz="1300" dirty="0"/>
          </a:p>
        </p:txBody>
      </p:sp>
      <p:sp>
        <p:nvSpPr>
          <p:cNvPr id="34" name="Text 26"/>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35" name="Text 27"/>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POLISH &amp; UX</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Additional Features</a:t>
            </a:r>
            <a:endParaRPr lang="en-US" sz="3200" dirty="0"/>
          </a:p>
        </p:txBody>
      </p:sp>
      <p:sp>
        <p:nvSpPr>
          <p:cNvPr id="5" name="Shape 2"/>
          <p:cNvSpPr/>
          <p:nvPr/>
        </p:nvSpPr>
        <p:spPr>
          <a:xfrm>
            <a:off x="548640" y="1600200"/>
            <a:ext cx="3514344" cy="2103120"/>
          </a:xfrm>
          <a:prstGeom prst="roundRect">
            <a:avLst>
              <a:gd name="adj" fmla="val 5217"/>
            </a:avLst>
          </a:prstGeom>
          <a:solidFill>
            <a:srgbClr val="1E1A3A"/>
          </a:solidFill>
          <a:ln/>
          <a:effectLst>
            <a:outerShdw blurRad="127000" dist="38100" dir="5400000" algn="bl" rotWithShape="0">
              <a:srgbClr val="000000">
                <a:alpha val="35000"/>
              </a:srgbClr>
            </a:outerShdw>
          </a:effectLst>
        </p:spPr>
      </p:sp>
      <p:sp>
        <p:nvSpPr>
          <p:cNvPr id="6" name="Shape 3"/>
          <p:cNvSpPr/>
          <p:nvPr/>
        </p:nvSpPr>
        <p:spPr>
          <a:xfrm>
            <a:off x="804672" y="1856232"/>
            <a:ext cx="640080" cy="640080"/>
          </a:xfrm>
          <a:prstGeom prst="ellipse">
            <a:avLst/>
          </a:prstGeom>
          <a:solidFill>
            <a:srgbClr val="6366F1"/>
          </a:solidFill>
          <a:ln/>
          <a:effectLst>
            <a:outerShdw blurRad="101600" dist="38100" dir="5400000" algn="bl" rotWithShape="0">
              <a:srgbClr val="000000">
                <a:alpha val="40000"/>
              </a:srgbClr>
            </a:outerShdw>
          </a:effectLst>
        </p:spPr>
      </p:sp>
      <p:pic>
        <p:nvPicPr>
          <p:cNvPr id="7" name="Image 1" descr="ic_moon.png"/>
          <p:cNvPicPr>
            <a:picLocks noChangeAspect="1"/>
          </p:cNvPicPr>
          <p:nvPr/>
        </p:nvPicPr>
        <p:blipFill>
          <a:blip r:embed="rId4"/>
          <a:stretch>
            <a:fillRect/>
          </a:stretch>
        </p:blipFill>
        <p:spPr>
          <a:xfrm>
            <a:off x="971093" y="2022653"/>
            <a:ext cx="307238" cy="307238"/>
          </a:xfrm>
          <a:prstGeom prst="rect">
            <a:avLst/>
          </a:prstGeom>
        </p:spPr>
      </p:pic>
      <p:sp>
        <p:nvSpPr>
          <p:cNvPr id="8" name="Text 4"/>
          <p:cNvSpPr/>
          <p:nvPr/>
        </p:nvSpPr>
        <p:spPr>
          <a:xfrm>
            <a:off x="804672" y="2651760"/>
            <a:ext cx="300228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Dark Mode</a:t>
            </a:r>
            <a:endParaRPr lang="en-US" sz="1350" dirty="0"/>
          </a:p>
        </p:txBody>
      </p:sp>
      <p:sp>
        <p:nvSpPr>
          <p:cNvPr id="9" name="Text 5"/>
          <p:cNvSpPr/>
          <p:nvPr/>
        </p:nvSpPr>
        <p:spPr>
          <a:xfrm>
            <a:off x="804672" y="2971800"/>
            <a:ext cx="3002280" cy="640080"/>
          </a:xfrm>
          <a:prstGeom prst="rect">
            <a:avLst/>
          </a:prstGeom>
          <a:noFill/>
          <a:ln/>
        </p:spPr>
        <p:txBody>
          <a:bodyPr wrap="square" rtlCol="0" anchor="ctr"/>
          <a:lstStyle/>
          <a:p>
            <a:pPr marL="0" indent="0">
              <a:lnSpc>
                <a:spcPct val="120000"/>
              </a:lnSpc>
              <a:buNone/>
            </a:pPr>
            <a:r>
              <a:rPr lang="en-US" sz="1050" dirty="0">
                <a:solidFill>
                  <a:srgbClr val="8F89B8"/>
                </a:solidFill>
                <a:latin typeface="Calibri" pitchFamily="34" charset="0"/>
                <a:ea typeface="Calibri" pitchFamily="34" charset="-122"/>
                <a:cs typeface="Calibri" pitchFamily="34" charset="-120"/>
              </a:rPr>
              <a:t>Eye-friendly theme toggle across the whole app.</a:t>
            </a:r>
            <a:endParaRPr lang="en-US" sz="1050" dirty="0"/>
          </a:p>
        </p:txBody>
      </p:sp>
      <p:sp>
        <p:nvSpPr>
          <p:cNvPr id="10" name="Shape 6"/>
          <p:cNvSpPr/>
          <p:nvPr/>
        </p:nvSpPr>
        <p:spPr>
          <a:xfrm>
            <a:off x="4337304" y="1600200"/>
            <a:ext cx="3514344" cy="2103120"/>
          </a:xfrm>
          <a:prstGeom prst="roundRect">
            <a:avLst>
              <a:gd name="adj" fmla="val 5217"/>
            </a:avLst>
          </a:prstGeom>
          <a:solidFill>
            <a:srgbClr val="1E1A3A"/>
          </a:solidFill>
          <a:ln/>
          <a:effectLst>
            <a:outerShdw blurRad="127000" dist="38100" dir="5400000" algn="bl" rotWithShape="0">
              <a:srgbClr val="000000">
                <a:alpha val="35000"/>
              </a:srgbClr>
            </a:outerShdw>
          </a:effectLst>
        </p:spPr>
      </p:sp>
      <p:sp>
        <p:nvSpPr>
          <p:cNvPr id="11" name="Shape 7"/>
          <p:cNvSpPr/>
          <p:nvPr/>
        </p:nvSpPr>
        <p:spPr>
          <a:xfrm>
            <a:off x="4593336" y="1856232"/>
            <a:ext cx="640080" cy="640080"/>
          </a:xfrm>
          <a:prstGeom prst="ellipse">
            <a:avLst/>
          </a:prstGeom>
          <a:solidFill>
            <a:srgbClr val="9333EA"/>
          </a:solidFill>
          <a:ln/>
          <a:effectLst>
            <a:outerShdw blurRad="101600" dist="38100" dir="5400000" algn="bl" rotWithShape="0">
              <a:srgbClr val="000000">
                <a:alpha val="40000"/>
              </a:srgbClr>
            </a:outerShdw>
          </a:effectLst>
        </p:spPr>
      </p:sp>
      <p:pic>
        <p:nvPicPr>
          <p:cNvPr id="12" name="Image 2" descr="ic_layers.png"/>
          <p:cNvPicPr>
            <a:picLocks noChangeAspect="1"/>
          </p:cNvPicPr>
          <p:nvPr/>
        </p:nvPicPr>
        <p:blipFill>
          <a:blip r:embed="rId5"/>
          <a:stretch>
            <a:fillRect/>
          </a:stretch>
        </p:blipFill>
        <p:spPr>
          <a:xfrm>
            <a:off x="4759757" y="2022653"/>
            <a:ext cx="307238" cy="307238"/>
          </a:xfrm>
          <a:prstGeom prst="rect">
            <a:avLst/>
          </a:prstGeom>
        </p:spPr>
      </p:pic>
      <p:sp>
        <p:nvSpPr>
          <p:cNvPr id="13" name="Text 8"/>
          <p:cNvSpPr/>
          <p:nvPr/>
        </p:nvSpPr>
        <p:spPr>
          <a:xfrm>
            <a:off x="4593336" y="2651760"/>
            <a:ext cx="300228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Pagination</a:t>
            </a:r>
            <a:endParaRPr lang="en-US" sz="1350" dirty="0"/>
          </a:p>
        </p:txBody>
      </p:sp>
      <p:sp>
        <p:nvSpPr>
          <p:cNvPr id="14" name="Text 9"/>
          <p:cNvSpPr/>
          <p:nvPr/>
        </p:nvSpPr>
        <p:spPr>
          <a:xfrm>
            <a:off x="4593336" y="2971800"/>
            <a:ext cx="3002280" cy="640080"/>
          </a:xfrm>
          <a:prstGeom prst="rect">
            <a:avLst/>
          </a:prstGeom>
          <a:noFill/>
          <a:ln/>
        </p:spPr>
        <p:txBody>
          <a:bodyPr wrap="square" rtlCol="0" anchor="ctr"/>
          <a:lstStyle/>
          <a:p>
            <a:pPr marL="0" indent="0">
              <a:lnSpc>
                <a:spcPct val="120000"/>
              </a:lnSpc>
              <a:buNone/>
            </a:pPr>
            <a:r>
              <a:rPr lang="en-US" sz="1050" dirty="0">
                <a:solidFill>
                  <a:srgbClr val="8F89B8"/>
                </a:solidFill>
                <a:latin typeface="Calibri" pitchFamily="34" charset="0"/>
                <a:ea typeface="Calibri" pitchFamily="34" charset="-122"/>
                <a:cs typeface="Calibri" pitchFamily="34" charset="-120"/>
              </a:rPr>
              <a:t>Fast, paginated lists for tasks, notes &amp; resources.</a:t>
            </a:r>
            <a:endParaRPr lang="en-US" sz="1050" dirty="0"/>
          </a:p>
        </p:txBody>
      </p:sp>
      <p:sp>
        <p:nvSpPr>
          <p:cNvPr id="15" name="Shape 10"/>
          <p:cNvSpPr/>
          <p:nvPr/>
        </p:nvSpPr>
        <p:spPr>
          <a:xfrm>
            <a:off x="8125968" y="1600200"/>
            <a:ext cx="3514344" cy="2103120"/>
          </a:xfrm>
          <a:prstGeom prst="roundRect">
            <a:avLst>
              <a:gd name="adj" fmla="val 5217"/>
            </a:avLst>
          </a:prstGeom>
          <a:solidFill>
            <a:srgbClr val="1E1A3A"/>
          </a:solidFill>
          <a:ln/>
          <a:effectLst>
            <a:outerShdw blurRad="127000" dist="38100" dir="5400000" algn="bl" rotWithShape="0">
              <a:srgbClr val="000000">
                <a:alpha val="35000"/>
              </a:srgbClr>
            </a:outerShdw>
          </a:effectLst>
        </p:spPr>
      </p:sp>
      <p:sp>
        <p:nvSpPr>
          <p:cNvPr id="16" name="Shape 11"/>
          <p:cNvSpPr/>
          <p:nvPr/>
        </p:nvSpPr>
        <p:spPr>
          <a:xfrm>
            <a:off x="8382000" y="1856232"/>
            <a:ext cx="640080" cy="640080"/>
          </a:xfrm>
          <a:prstGeom prst="ellipse">
            <a:avLst/>
          </a:prstGeom>
          <a:solidFill>
            <a:srgbClr val="EC4899"/>
          </a:solidFill>
          <a:ln/>
          <a:effectLst>
            <a:outerShdw blurRad="101600" dist="38100" dir="5400000" algn="bl" rotWithShape="0">
              <a:srgbClr val="000000">
                <a:alpha val="40000"/>
              </a:srgbClr>
            </a:outerShdw>
          </a:effectLst>
        </p:spPr>
      </p:sp>
      <p:pic>
        <p:nvPicPr>
          <p:cNvPr id="17" name="Image 3" descr="ic_chartline.png"/>
          <p:cNvPicPr>
            <a:picLocks noChangeAspect="1"/>
          </p:cNvPicPr>
          <p:nvPr/>
        </p:nvPicPr>
        <p:blipFill>
          <a:blip r:embed="rId6"/>
          <a:stretch>
            <a:fillRect/>
          </a:stretch>
        </p:blipFill>
        <p:spPr>
          <a:xfrm>
            <a:off x="8548421" y="2022653"/>
            <a:ext cx="307238" cy="307238"/>
          </a:xfrm>
          <a:prstGeom prst="rect">
            <a:avLst/>
          </a:prstGeom>
        </p:spPr>
      </p:pic>
      <p:sp>
        <p:nvSpPr>
          <p:cNvPr id="18" name="Text 12"/>
          <p:cNvSpPr/>
          <p:nvPr/>
        </p:nvSpPr>
        <p:spPr>
          <a:xfrm>
            <a:off x="8382000" y="2651760"/>
            <a:ext cx="300228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Interactive Charts</a:t>
            </a:r>
            <a:endParaRPr lang="en-US" sz="1350" dirty="0"/>
          </a:p>
        </p:txBody>
      </p:sp>
      <p:sp>
        <p:nvSpPr>
          <p:cNvPr id="19" name="Text 13"/>
          <p:cNvSpPr/>
          <p:nvPr/>
        </p:nvSpPr>
        <p:spPr>
          <a:xfrm>
            <a:off x="8382000" y="2971800"/>
            <a:ext cx="3002280" cy="640080"/>
          </a:xfrm>
          <a:prstGeom prst="rect">
            <a:avLst/>
          </a:prstGeom>
          <a:noFill/>
          <a:ln/>
        </p:spPr>
        <p:txBody>
          <a:bodyPr wrap="square" rtlCol="0" anchor="ctr"/>
          <a:lstStyle/>
          <a:p>
            <a:pPr marL="0" indent="0">
              <a:lnSpc>
                <a:spcPct val="120000"/>
              </a:lnSpc>
              <a:buNone/>
            </a:pPr>
            <a:r>
              <a:rPr lang="en-US" sz="1050" dirty="0">
                <a:solidFill>
                  <a:srgbClr val="8F89B8"/>
                </a:solidFill>
                <a:latin typeface="Calibri" pitchFamily="34" charset="0"/>
                <a:ea typeface="Calibri" pitchFamily="34" charset="-122"/>
                <a:cs typeface="Calibri" pitchFamily="34" charset="-120"/>
              </a:rPr>
              <a:t>Chart.js visualizations bring data to life.</a:t>
            </a:r>
            <a:endParaRPr lang="en-US" sz="1050" dirty="0"/>
          </a:p>
        </p:txBody>
      </p:sp>
      <p:sp>
        <p:nvSpPr>
          <p:cNvPr id="20" name="Shape 14"/>
          <p:cNvSpPr/>
          <p:nvPr/>
        </p:nvSpPr>
        <p:spPr>
          <a:xfrm>
            <a:off x="548640" y="3977640"/>
            <a:ext cx="3514344" cy="2103120"/>
          </a:xfrm>
          <a:prstGeom prst="roundRect">
            <a:avLst>
              <a:gd name="adj" fmla="val 5217"/>
            </a:avLst>
          </a:prstGeom>
          <a:solidFill>
            <a:srgbClr val="1E1A3A"/>
          </a:solidFill>
          <a:ln/>
          <a:effectLst>
            <a:outerShdw blurRad="127000" dist="38100" dir="5400000" algn="bl" rotWithShape="0">
              <a:srgbClr val="000000">
                <a:alpha val="35000"/>
              </a:srgbClr>
            </a:outerShdw>
          </a:effectLst>
        </p:spPr>
      </p:sp>
      <p:sp>
        <p:nvSpPr>
          <p:cNvPr id="21" name="Shape 15"/>
          <p:cNvSpPr/>
          <p:nvPr/>
        </p:nvSpPr>
        <p:spPr>
          <a:xfrm>
            <a:off x="804672" y="4233672"/>
            <a:ext cx="640080" cy="640080"/>
          </a:xfrm>
          <a:prstGeom prst="ellipse">
            <a:avLst/>
          </a:prstGeom>
          <a:solidFill>
            <a:srgbClr val="4338CA"/>
          </a:solidFill>
          <a:ln/>
          <a:effectLst>
            <a:outerShdw blurRad="101600" dist="38100" dir="5400000" algn="bl" rotWithShape="0">
              <a:srgbClr val="000000">
                <a:alpha val="40000"/>
              </a:srgbClr>
            </a:outerShdw>
          </a:effectLst>
        </p:spPr>
      </p:sp>
      <p:pic>
        <p:nvPicPr>
          <p:cNvPr id="22" name="Image 4" descr="ic_mobile.png"/>
          <p:cNvPicPr>
            <a:picLocks noChangeAspect="1"/>
          </p:cNvPicPr>
          <p:nvPr/>
        </p:nvPicPr>
        <p:blipFill>
          <a:blip r:embed="rId7"/>
          <a:stretch>
            <a:fillRect/>
          </a:stretch>
        </p:blipFill>
        <p:spPr>
          <a:xfrm>
            <a:off x="971093" y="4400093"/>
            <a:ext cx="307238" cy="307238"/>
          </a:xfrm>
          <a:prstGeom prst="rect">
            <a:avLst/>
          </a:prstGeom>
        </p:spPr>
      </p:pic>
      <p:sp>
        <p:nvSpPr>
          <p:cNvPr id="23" name="Text 16"/>
          <p:cNvSpPr/>
          <p:nvPr/>
        </p:nvSpPr>
        <p:spPr>
          <a:xfrm>
            <a:off x="804672" y="5029200"/>
            <a:ext cx="300228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Fully Responsive</a:t>
            </a:r>
            <a:endParaRPr lang="en-US" sz="1350" dirty="0"/>
          </a:p>
        </p:txBody>
      </p:sp>
      <p:sp>
        <p:nvSpPr>
          <p:cNvPr id="24" name="Text 17"/>
          <p:cNvSpPr/>
          <p:nvPr/>
        </p:nvSpPr>
        <p:spPr>
          <a:xfrm>
            <a:off x="804672" y="5349240"/>
            <a:ext cx="3002280" cy="640080"/>
          </a:xfrm>
          <a:prstGeom prst="rect">
            <a:avLst/>
          </a:prstGeom>
          <a:noFill/>
          <a:ln/>
        </p:spPr>
        <p:txBody>
          <a:bodyPr wrap="square" rtlCol="0" anchor="ctr"/>
          <a:lstStyle/>
          <a:p>
            <a:pPr marL="0" indent="0">
              <a:lnSpc>
                <a:spcPct val="120000"/>
              </a:lnSpc>
              <a:buNone/>
            </a:pPr>
            <a:r>
              <a:rPr lang="en-US" sz="1050" dirty="0">
                <a:solidFill>
                  <a:srgbClr val="8F89B8"/>
                </a:solidFill>
                <a:latin typeface="Calibri" pitchFamily="34" charset="0"/>
                <a:ea typeface="Calibri" pitchFamily="34" charset="-122"/>
                <a:cs typeface="Calibri" pitchFamily="34" charset="-120"/>
              </a:rPr>
              <a:t>A seamless experience on desktop, tablet &amp; mobile.</a:t>
            </a:r>
            <a:endParaRPr lang="en-US" sz="1050" dirty="0"/>
          </a:p>
        </p:txBody>
      </p:sp>
      <p:sp>
        <p:nvSpPr>
          <p:cNvPr id="25" name="Shape 18"/>
          <p:cNvSpPr/>
          <p:nvPr/>
        </p:nvSpPr>
        <p:spPr>
          <a:xfrm>
            <a:off x="4337304" y="3977640"/>
            <a:ext cx="3514344" cy="2103120"/>
          </a:xfrm>
          <a:prstGeom prst="roundRect">
            <a:avLst>
              <a:gd name="adj" fmla="val 5217"/>
            </a:avLst>
          </a:prstGeom>
          <a:solidFill>
            <a:srgbClr val="1E1A3A"/>
          </a:solidFill>
          <a:ln/>
          <a:effectLst>
            <a:outerShdw blurRad="127000" dist="38100" dir="5400000" algn="bl" rotWithShape="0">
              <a:srgbClr val="000000">
                <a:alpha val="35000"/>
              </a:srgbClr>
            </a:outerShdw>
          </a:effectLst>
        </p:spPr>
      </p:sp>
      <p:sp>
        <p:nvSpPr>
          <p:cNvPr id="26" name="Shape 19"/>
          <p:cNvSpPr/>
          <p:nvPr/>
        </p:nvSpPr>
        <p:spPr>
          <a:xfrm>
            <a:off x="4593336" y="4233672"/>
            <a:ext cx="640080" cy="640080"/>
          </a:xfrm>
          <a:prstGeom prst="ellipse">
            <a:avLst/>
          </a:prstGeom>
          <a:solidFill>
            <a:srgbClr val="A855F7"/>
          </a:solidFill>
          <a:ln/>
          <a:effectLst>
            <a:outerShdw blurRad="101600" dist="38100" dir="5400000" algn="bl" rotWithShape="0">
              <a:srgbClr val="000000">
                <a:alpha val="40000"/>
              </a:srgbClr>
            </a:outerShdw>
          </a:effectLst>
        </p:spPr>
      </p:sp>
      <p:pic>
        <p:nvPicPr>
          <p:cNvPr id="27" name="Image 5" descr="ic_pdf.png"/>
          <p:cNvPicPr>
            <a:picLocks noChangeAspect="1"/>
          </p:cNvPicPr>
          <p:nvPr/>
        </p:nvPicPr>
        <p:blipFill>
          <a:blip r:embed="rId8"/>
          <a:stretch>
            <a:fillRect/>
          </a:stretch>
        </p:blipFill>
        <p:spPr>
          <a:xfrm>
            <a:off x="4759757" y="4400093"/>
            <a:ext cx="307238" cy="307238"/>
          </a:xfrm>
          <a:prstGeom prst="rect">
            <a:avLst/>
          </a:prstGeom>
        </p:spPr>
      </p:pic>
      <p:sp>
        <p:nvSpPr>
          <p:cNvPr id="28" name="Text 20"/>
          <p:cNvSpPr/>
          <p:nvPr/>
        </p:nvSpPr>
        <p:spPr>
          <a:xfrm>
            <a:off x="4593336" y="5029200"/>
            <a:ext cx="300228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PDF Export</a:t>
            </a:r>
            <a:endParaRPr lang="en-US" sz="1350" dirty="0"/>
          </a:p>
        </p:txBody>
      </p:sp>
      <p:sp>
        <p:nvSpPr>
          <p:cNvPr id="29" name="Text 21"/>
          <p:cNvSpPr/>
          <p:nvPr/>
        </p:nvSpPr>
        <p:spPr>
          <a:xfrm>
            <a:off x="4593336" y="5349240"/>
            <a:ext cx="3002280" cy="640080"/>
          </a:xfrm>
          <a:prstGeom prst="rect">
            <a:avLst/>
          </a:prstGeom>
          <a:noFill/>
          <a:ln/>
        </p:spPr>
        <p:txBody>
          <a:bodyPr wrap="square" rtlCol="0" anchor="ctr"/>
          <a:lstStyle/>
          <a:p>
            <a:pPr marL="0" indent="0">
              <a:lnSpc>
                <a:spcPct val="120000"/>
              </a:lnSpc>
              <a:buNone/>
            </a:pPr>
            <a:r>
              <a:rPr lang="en-US" sz="1050" dirty="0">
                <a:solidFill>
                  <a:srgbClr val="8F89B8"/>
                </a:solidFill>
                <a:latin typeface="Calibri" pitchFamily="34" charset="0"/>
                <a:ea typeface="Calibri" pitchFamily="34" charset="-122"/>
                <a:cs typeface="Calibri" pitchFamily="34" charset="-120"/>
              </a:rPr>
              <a:t>Turn notes into shareable, printable documents.</a:t>
            </a:r>
            <a:endParaRPr lang="en-US" sz="1050" dirty="0"/>
          </a:p>
        </p:txBody>
      </p:sp>
      <p:sp>
        <p:nvSpPr>
          <p:cNvPr id="31" name="Text 22"/>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32" name="Text 23"/>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content.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411480"/>
            <a:ext cx="7315200" cy="292608"/>
          </a:xfrm>
          <a:prstGeom prst="rect">
            <a:avLst/>
          </a:prstGeom>
          <a:noFill/>
          <a:ln/>
        </p:spPr>
        <p:txBody>
          <a:bodyPr wrap="square" rtlCol="0" anchor="ctr"/>
          <a:lstStyle/>
          <a:p>
            <a:pPr marL="0" indent="0">
              <a:buNone/>
            </a:pPr>
            <a:r>
              <a:rPr lang="en-US" sz="1300" b="1" kern="0" spc="200" dirty="0">
                <a:solidFill>
                  <a:srgbClr val="A855F7"/>
                </a:solidFill>
                <a:latin typeface="Calibri" pitchFamily="34" charset="0"/>
                <a:ea typeface="Calibri" pitchFamily="34" charset="-122"/>
                <a:cs typeface="Calibri" pitchFamily="34" charset="-120"/>
              </a:rPr>
              <a:t>CODEBASE</a:t>
            </a:r>
            <a:endParaRPr lang="en-US" sz="1300" dirty="0"/>
          </a:p>
        </p:txBody>
      </p:sp>
      <p:sp>
        <p:nvSpPr>
          <p:cNvPr id="4" name="Text 1"/>
          <p:cNvSpPr/>
          <p:nvPr/>
        </p:nvSpPr>
        <p:spPr>
          <a:xfrm>
            <a:off x="548640" y="722376"/>
            <a:ext cx="1078992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Project Structure</a:t>
            </a:r>
            <a:endParaRPr lang="en-US" sz="3200" dirty="0"/>
          </a:p>
        </p:txBody>
      </p:sp>
      <p:sp>
        <p:nvSpPr>
          <p:cNvPr id="5" name="Text 2"/>
          <p:cNvSpPr/>
          <p:nvPr/>
        </p:nvSpPr>
        <p:spPr>
          <a:xfrm>
            <a:off x="548640" y="1298448"/>
            <a:ext cx="11064240" cy="457200"/>
          </a:xfrm>
          <a:prstGeom prst="rect">
            <a:avLst/>
          </a:prstGeom>
          <a:noFill/>
          <a:ln/>
        </p:spPr>
        <p:txBody>
          <a:bodyPr wrap="square" rtlCol="0" anchor="ctr"/>
          <a:lstStyle/>
          <a:p>
            <a:pPr marL="0" indent="0">
              <a:lnSpc>
                <a:spcPct val="120000"/>
              </a:lnSpc>
              <a:buNone/>
            </a:pPr>
            <a:r>
              <a:rPr lang="en-US" sz="1300" dirty="0">
                <a:solidFill>
                  <a:srgbClr val="B7B2D6"/>
                </a:solidFill>
                <a:latin typeface="Calibri" pitchFamily="34" charset="0"/>
                <a:ea typeface="Calibri" pitchFamily="34" charset="-122"/>
                <a:cs typeface="Calibri" pitchFamily="34" charset="-120"/>
              </a:rPr>
              <a:t>The project is organized into 6 focused Django apps, each owning a single responsibility.  keeping the codebase modular and easy to extend.</a:t>
            </a:r>
            <a:endParaRPr lang="en-US" sz="1300" dirty="0"/>
          </a:p>
        </p:txBody>
      </p:sp>
      <p:sp>
        <p:nvSpPr>
          <p:cNvPr id="6" name="Shape 3"/>
          <p:cNvSpPr/>
          <p:nvPr/>
        </p:nvSpPr>
        <p:spPr>
          <a:xfrm>
            <a:off x="548640" y="1965960"/>
            <a:ext cx="3514344" cy="2011680"/>
          </a:xfrm>
          <a:prstGeom prst="roundRect">
            <a:avLst>
              <a:gd name="adj" fmla="val 5455"/>
            </a:avLst>
          </a:prstGeom>
          <a:solidFill>
            <a:srgbClr val="242050"/>
          </a:solidFill>
          <a:ln/>
          <a:effectLst>
            <a:outerShdw blurRad="127000" dist="38100" dir="5400000" algn="bl" rotWithShape="0">
              <a:srgbClr val="000000">
                <a:alpha val="35000"/>
              </a:srgbClr>
            </a:outerShdw>
          </a:effectLst>
        </p:spPr>
      </p:sp>
      <p:sp>
        <p:nvSpPr>
          <p:cNvPr id="7" name="Shape 4"/>
          <p:cNvSpPr/>
          <p:nvPr/>
        </p:nvSpPr>
        <p:spPr>
          <a:xfrm>
            <a:off x="777240" y="2194560"/>
            <a:ext cx="566928" cy="566928"/>
          </a:xfrm>
          <a:prstGeom prst="ellipse">
            <a:avLst/>
          </a:prstGeom>
          <a:solidFill>
            <a:srgbClr val="6366F1"/>
          </a:solidFill>
          <a:ln/>
          <a:effectLst>
            <a:outerShdw blurRad="101600" dist="38100" dir="5400000" algn="bl" rotWithShape="0">
              <a:srgbClr val="000000">
                <a:alpha val="40000"/>
              </a:srgbClr>
            </a:outerShdw>
          </a:effectLst>
        </p:spPr>
      </p:sp>
      <p:pic>
        <p:nvPicPr>
          <p:cNvPr id="8" name="Image 1" descr="ic_userlock.png"/>
          <p:cNvPicPr>
            <a:picLocks noChangeAspect="1"/>
          </p:cNvPicPr>
          <p:nvPr/>
        </p:nvPicPr>
        <p:blipFill>
          <a:blip r:embed="rId4"/>
          <a:stretch>
            <a:fillRect/>
          </a:stretch>
        </p:blipFill>
        <p:spPr>
          <a:xfrm>
            <a:off x="924641" y="2341961"/>
            <a:ext cx="272125" cy="272125"/>
          </a:xfrm>
          <a:prstGeom prst="rect">
            <a:avLst/>
          </a:prstGeom>
        </p:spPr>
      </p:pic>
      <p:sp>
        <p:nvSpPr>
          <p:cNvPr id="9" name="Text 5"/>
          <p:cNvSpPr/>
          <p:nvPr/>
        </p:nvSpPr>
        <p:spPr>
          <a:xfrm>
            <a:off x="1508760" y="2221992"/>
            <a:ext cx="2371344" cy="320040"/>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accounts/</a:t>
            </a:r>
            <a:endParaRPr lang="en-US" sz="1500" dirty="0"/>
          </a:p>
        </p:txBody>
      </p:sp>
      <p:sp>
        <p:nvSpPr>
          <p:cNvPr id="10" name="Text 6"/>
          <p:cNvSpPr/>
          <p:nvPr/>
        </p:nvSpPr>
        <p:spPr>
          <a:xfrm>
            <a:off x="777240" y="2971800"/>
            <a:ext cx="3057144" cy="822960"/>
          </a:xfrm>
          <a:prstGeom prst="rect">
            <a:avLst/>
          </a:prstGeom>
          <a:noFill/>
          <a:ln/>
        </p:spPr>
        <p:txBody>
          <a:bodyPr wrap="square" rtlCol="0" anchor="ctr"/>
          <a:lstStyle/>
          <a:p>
            <a:pPr marL="0" indent="0">
              <a:lnSpc>
                <a:spcPct val="125000"/>
              </a:lnSpc>
              <a:buNone/>
            </a:pPr>
            <a:r>
              <a:rPr lang="en-US" sz="1050" dirty="0">
                <a:solidFill>
                  <a:srgbClr val="8F89B8"/>
                </a:solidFill>
                <a:latin typeface="Calibri" pitchFamily="34" charset="0"/>
                <a:ea typeface="Calibri" pitchFamily="34" charset="-122"/>
                <a:cs typeface="Calibri" pitchFamily="34" charset="-120"/>
              </a:rPr>
              <a:t>Authentication, profiles &amp; password reset</a:t>
            </a:r>
            <a:endParaRPr lang="en-US" sz="1050" dirty="0"/>
          </a:p>
        </p:txBody>
      </p:sp>
      <p:sp>
        <p:nvSpPr>
          <p:cNvPr id="11" name="Shape 7"/>
          <p:cNvSpPr/>
          <p:nvPr/>
        </p:nvSpPr>
        <p:spPr>
          <a:xfrm>
            <a:off x="4337304" y="1965960"/>
            <a:ext cx="3514344" cy="2011680"/>
          </a:xfrm>
          <a:prstGeom prst="roundRect">
            <a:avLst>
              <a:gd name="adj" fmla="val 5455"/>
            </a:avLst>
          </a:prstGeom>
          <a:solidFill>
            <a:srgbClr val="242050"/>
          </a:solidFill>
          <a:ln/>
          <a:effectLst>
            <a:outerShdw blurRad="127000" dist="38100" dir="5400000" algn="bl" rotWithShape="0">
              <a:srgbClr val="000000">
                <a:alpha val="35000"/>
              </a:srgbClr>
            </a:outerShdw>
          </a:effectLst>
        </p:spPr>
      </p:sp>
      <p:sp>
        <p:nvSpPr>
          <p:cNvPr id="12" name="Shape 8"/>
          <p:cNvSpPr/>
          <p:nvPr/>
        </p:nvSpPr>
        <p:spPr>
          <a:xfrm>
            <a:off x="4565904" y="2194560"/>
            <a:ext cx="566928" cy="566928"/>
          </a:xfrm>
          <a:prstGeom prst="ellipse">
            <a:avLst/>
          </a:prstGeom>
          <a:solidFill>
            <a:srgbClr val="9333EA"/>
          </a:solidFill>
          <a:ln/>
          <a:effectLst>
            <a:outerShdw blurRad="101600" dist="38100" dir="5400000" algn="bl" rotWithShape="0">
              <a:srgbClr val="000000">
                <a:alpha val="40000"/>
              </a:srgbClr>
            </a:outerShdw>
          </a:effectLst>
        </p:spPr>
      </p:sp>
      <p:pic>
        <p:nvPicPr>
          <p:cNvPr id="13" name="Image 2" descr="ic_gauge.png"/>
          <p:cNvPicPr>
            <a:picLocks noChangeAspect="1"/>
          </p:cNvPicPr>
          <p:nvPr/>
        </p:nvPicPr>
        <p:blipFill>
          <a:blip r:embed="rId5"/>
          <a:stretch>
            <a:fillRect/>
          </a:stretch>
        </p:blipFill>
        <p:spPr>
          <a:xfrm>
            <a:off x="4713305" y="2341961"/>
            <a:ext cx="272125" cy="272125"/>
          </a:xfrm>
          <a:prstGeom prst="rect">
            <a:avLst/>
          </a:prstGeom>
        </p:spPr>
      </p:pic>
      <p:sp>
        <p:nvSpPr>
          <p:cNvPr id="14" name="Text 9"/>
          <p:cNvSpPr/>
          <p:nvPr/>
        </p:nvSpPr>
        <p:spPr>
          <a:xfrm>
            <a:off x="5297424" y="2221992"/>
            <a:ext cx="2371344" cy="320040"/>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dashboard/</a:t>
            </a:r>
            <a:endParaRPr lang="en-US" sz="1500" dirty="0"/>
          </a:p>
        </p:txBody>
      </p:sp>
      <p:sp>
        <p:nvSpPr>
          <p:cNvPr id="15" name="Text 10"/>
          <p:cNvSpPr/>
          <p:nvPr/>
        </p:nvSpPr>
        <p:spPr>
          <a:xfrm>
            <a:off x="4565904" y="2971800"/>
            <a:ext cx="3057144" cy="822960"/>
          </a:xfrm>
          <a:prstGeom prst="rect">
            <a:avLst/>
          </a:prstGeom>
          <a:noFill/>
          <a:ln/>
        </p:spPr>
        <p:txBody>
          <a:bodyPr wrap="square" rtlCol="0" anchor="ctr"/>
          <a:lstStyle/>
          <a:p>
            <a:pPr marL="0" indent="0">
              <a:lnSpc>
                <a:spcPct val="125000"/>
              </a:lnSpc>
              <a:buNone/>
            </a:pPr>
            <a:r>
              <a:rPr lang="en-US" sz="1050" dirty="0">
                <a:solidFill>
                  <a:srgbClr val="8F89B8"/>
                </a:solidFill>
                <a:latin typeface="Calibri" pitchFamily="34" charset="0"/>
                <a:ea typeface="Calibri" pitchFamily="34" charset="-122"/>
                <a:cs typeface="Calibri" pitchFamily="34" charset="-120"/>
              </a:rPr>
              <a:t>Stats overview &amp; charts</a:t>
            </a:r>
            <a:endParaRPr lang="en-US" sz="1050" dirty="0"/>
          </a:p>
        </p:txBody>
      </p:sp>
      <p:sp>
        <p:nvSpPr>
          <p:cNvPr id="16" name="Shape 11"/>
          <p:cNvSpPr/>
          <p:nvPr/>
        </p:nvSpPr>
        <p:spPr>
          <a:xfrm>
            <a:off x="8125968" y="1965960"/>
            <a:ext cx="3514344" cy="2011680"/>
          </a:xfrm>
          <a:prstGeom prst="roundRect">
            <a:avLst>
              <a:gd name="adj" fmla="val 5455"/>
            </a:avLst>
          </a:prstGeom>
          <a:solidFill>
            <a:srgbClr val="242050"/>
          </a:solidFill>
          <a:ln/>
          <a:effectLst>
            <a:outerShdw blurRad="127000" dist="38100" dir="5400000" algn="bl" rotWithShape="0">
              <a:srgbClr val="000000">
                <a:alpha val="35000"/>
              </a:srgbClr>
            </a:outerShdw>
          </a:effectLst>
        </p:spPr>
      </p:sp>
      <p:sp>
        <p:nvSpPr>
          <p:cNvPr id="17" name="Shape 12"/>
          <p:cNvSpPr/>
          <p:nvPr/>
        </p:nvSpPr>
        <p:spPr>
          <a:xfrm>
            <a:off x="8354568" y="2194560"/>
            <a:ext cx="566928" cy="566928"/>
          </a:xfrm>
          <a:prstGeom prst="ellipse">
            <a:avLst/>
          </a:prstGeom>
          <a:solidFill>
            <a:srgbClr val="4338CA"/>
          </a:solidFill>
          <a:ln/>
          <a:effectLst>
            <a:outerShdw blurRad="101600" dist="38100" dir="5400000" algn="bl" rotWithShape="0">
              <a:srgbClr val="000000">
                <a:alpha val="40000"/>
              </a:srgbClr>
            </a:outerShdw>
          </a:effectLst>
        </p:spPr>
      </p:sp>
      <p:pic>
        <p:nvPicPr>
          <p:cNvPr id="18" name="Image 3" descr="ic_listcheck.png"/>
          <p:cNvPicPr>
            <a:picLocks noChangeAspect="1"/>
          </p:cNvPicPr>
          <p:nvPr/>
        </p:nvPicPr>
        <p:blipFill>
          <a:blip r:embed="rId6"/>
          <a:stretch>
            <a:fillRect/>
          </a:stretch>
        </p:blipFill>
        <p:spPr>
          <a:xfrm>
            <a:off x="8501969" y="2341961"/>
            <a:ext cx="272125" cy="272125"/>
          </a:xfrm>
          <a:prstGeom prst="rect">
            <a:avLst/>
          </a:prstGeom>
        </p:spPr>
      </p:pic>
      <p:sp>
        <p:nvSpPr>
          <p:cNvPr id="19" name="Text 13"/>
          <p:cNvSpPr/>
          <p:nvPr/>
        </p:nvSpPr>
        <p:spPr>
          <a:xfrm>
            <a:off x="9086088" y="2221992"/>
            <a:ext cx="2371344" cy="320040"/>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planner/</a:t>
            </a:r>
            <a:endParaRPr lang="en-US" sz="1500" dirty="0"/>
          </a:p>
        </p:txBody>
      </p:sp>
      <p:sp>
        <p:nvSpPr>
          <p:cNvPr id="20" name="Text 14"/>
          <p:cNvSpPr/>
          <p:nvPr/>
        </p:nvSpPr>
        <p:spPr>
          <a:xfrm>
            <a:off x="8354568" y="2971800"/>
            <a:ext cx="3057144" cy="822960"/>
          </a:xfrm>
          <a:prstGeom prst="rect">
            <a:avLst/>
          </a:prstGeom>
          <a:noFill/>
          <a:ln/>
        </p:spPr>
        <p:txBody>
          <a:bodyPr wrap="square" rtlCol="0" anchor="ctr"/>
          <a:lstStyle/>
          <a:p>
            <a:pPr marL="0" indent="0">
              <a:lnSpc>
                <a:spcPct val="125000"/>
              </a:lnSpc>
              <a:buNone/>
            </a:pPr>
            <a:r>
              <a:rPr lang="en-US" sz="1050" dirty="0">
                <a:solidFill>
                  <a:srgbClr val="8F89B8"/>
                </a:solidFill>
                <a:latin typeface="Calibri" pitchFamily="34" charset="0"/>
                <a:ea typeface="Calibri" pitchFamily="34" charset="-122"/>
                <a:cs typeface="Calibri" pitchFamily="34" charset="-120"/>
              </a:rPr>
              <a:t>Task CRUD, priorities &amp; due dates</a:t>
            </a:r>
            <a:endParaRPr lang="en-US" sz="1050" dirty="0"/>
          </a:p>
        </p:txBody>
      </p:sp>
      <p:sp>
        <p:nvSpPr>
          <p:cNvPr id="21" name="Shape 15"/>
          <p:cNvSpPr/>
          <p:nvPr/>
        </p:nvSpPr>
        <p:spPr>
          <a:xfrm>
            <a:off x="548640" y="4251960"/>
            <a:ext cx="3514344" cy="2011680"/>
          </a:xfrm>
          <a:prstGeom prst="roundRect">
            <a:avLst>
              <a:gd name="adj" fmla="val 5455"/>
            </a:avLst>
          </a:prstGeom>
          <a:solidFill>
            <a:srgbClr val="242050"/>
          </a:solidFill>
          <a:ln/>
          <a:effectLst>
            <a:outerShdw blurRad="127000" dist="38100" dir="5400000" algn="bl" rotWithShape="0">
              <a:srgbClr val="000000">
                <a:alpha val="35000"/>
              </a:srgbClr>
            </a:outerShdw>
          </a:effectLst>
        </p:spPr>
      </p:sp>
      <p:sp>
        <p:nvSpPr>
          <p:cNvPr id="22" name="Shape 16"/>
          <p:cNvSpPr/>
          <p:nvPr/>
        </p:nvSpPr>
        <p:spPr>
          <a:xfrm>
            <a:off x="777240" y="4480560"/>
            <a:ext cx="566928" cy="566928"/>
          </a:xfrm>
          <a:prstGeom prst="ellipse">
            <a:avLst/>
          </a:prstGeom>
          <a:solidFill>
            <a:srgbClr val="EC4899"/>
          </a:solidFill>
          <a:ln/>
          <a:effectLst>
            <a:outerShdw blurRad="101600" dist="38100" dir="5400000" algn="bl" rotWithShape="0">
              <a:srgbClr val="000000">
                <a:alpha val="40000"/>
              </a:srgbClr>
            </a:outerShdw>
          </a:effectLst>
        </p:spPr>
      </p:sp>
      <p:pic>
        <p:nvPicPr>
          <p:cNvPr id="23" name="Image 4" descr="ic_note.png"/>
          <p:cNvPicPr>
            <a:picLocks noChangeAspect="1"/>
          </p:cNvPicPr>
          <p:nvPr/>
        </p:nvPicPr>
        <p:blipFill>
          <a:blip r:embed="rId7"/>
          <a:stretch>
            <a:fillRect/>
          </a:stretch>
        </p:blipFill>
        <p:spPr>
          <a:xfrm>
            <a:off x="924641" y="4627961"/>
            <a:ext cx="272125" cy="272125"/>
          </a:xfrm>
          <a:prstGeom prst="rect">
            <a:avLst/>
          </a:prstGeom>
        </p:spPr>
      </p:pic>
      <p:sp>
        <p:nvSpPr>
          <p:cNvPr id="24" name="Text 17"/>
          <p:cNvSpPr/>
          <p:nvPr/>
        </p:nvSpPr>
        <p:spPr>
          <a:xfrm>
            <a:off x="1508760" y="4507992"/>
            <a:ext cx="2371344" cy="320040"/>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notes/</a:t>
            </a:r>
            <a:endParaRPr lang="en-US" sz="1500" dirty="0"/>
          </a:p>
        </p:txBody>
      </p:sp>
      <p:sp>
        <p:nvSpPr>
          <p:cNvPr id="25" name="Text 18"/>
          <p:cNvSpPr/>
          <p:nvPr/>
        </p:nvSpPr>
        <p:spPr>
          <a:xfrm>
            <a:off x="777240" y="5257800"/>
            <a:ext cx="3057144" cy="822960"/>
          </a:xfrm>
          <a:prstGeom prst="rect">
            <a:avLst/>
          </a:prstGeom>
          <a:noFill/>
          <a:ln/>
        </p:spPr>
        <p:txBody>
          <a:bodyPr wrap="square" rtlCol="0" anchor="ctr"/>
          <a:lstStyle/>
          <a:p>
            <a:pPr marL="0" indent="0">
              <a:lnSpc>
                <a:spcPct val="125000"/>
              </a:lnSpc>
              <a:buNone/>
            </a:pPr>
            <a:r>
              <a:rPr lang="en-US" sz="1050" dirty="0">
                <a:solidFill>
                  <a:srgbClr val="8F89B8"/>
                </a:solidFill>
                <a:latin typeface="Calibri" pitchFamily="34" charset="0"/>
                <a:ea typeface="Calibri" pitchFamily="34" charset="-122"/>
                <a:cs typeface="Calibri" pitchFamily="34" charset="-120"/>
              </a:rPr>
              <a:t>Notes, categories, tags &amp; PDF export</a:t>
            </a:r>
            <a:endParaRPr lang="en-US" sz="1050" dirty="0"/>
          </a:p>
        </p:txBody>
      </p:sp>
      <p:sp>
        <p:nvSpPr>
          <p:cNvPr id="26" name="Shape 19"/>
          <p:cNvSpPr/>
          <p:nvPr/>
        </p:nvSpPr>
        <p:spPr>
          <a:xfrm>
            <a:off x="4337304" y="4251960"/>
            <a:ext cx="3514344" cy="2011680"/>
          </a:xfrm>
          <a:prstGeom prst="roundRect">
            <a:avLst>
              <a:gd name="adj" fmla="val 5455"/>
            </a:avLst>
          </a:prstGeom>
          <a:solidFill>
            <a:srgbClr val="242050"/>
          </a:solidFill>
          <a:ln/>
          <a:effectLst>
            <a:outerShdw blurRad="127000" dist="38100" dir="5400000" algn="bl" rotWithShape="0">
              <a:srgbClr val="000000">
                <a:alpha val="35000"/>
              </a:srgbClr>
            </a:outerShdw>
          </a:effectLst>
        </p:spPr>
      </p:sp>
      <p:sp>
        <p:nvSpPr>
          <p:cNvPr id="27" name="Shape 20"/>
          <p:cNvSpPr/>
          <p:nvPr/>
        </p:nvSpPr>
        <p:spPr>
          <a:xfrm>
            <a:off x="4565904" y="4480560"/>
            <a:ext cx="566928" cy="566928"/>
          </a:xfrm>
          <a:prstGeom prst="ellipse">
            <a:avLst/>
          </a:prstGeom>
          <a:solidFill>
            <a:srgbClr val="A855F7"/>
          </a:solidFill>
          <a:ln/>
          <a:effectLst>
            <a:outerShdw blurRad="101600" dist="38100" dir="5400000" algn="bl" rotWithShape="0">
              <a:srgbClr val="000000">
                <a:alpha val="40000"/>
              </a:srgbClr>
            </a:outerShdw>
          </a:effectLst>
        </p:spPr>
      </p:sp>
      <p:pic>
        <p:nvPicPr>
          <p:cNvPr id="28" name="Image 5" descr="ic_link.png"/>
          <p:cNvPicPr>
            <a:picLocks noChangeAspect="1"/>
          </p:cNvPicPr>
          <p:nvPr/>
        </p:nvPicPr>
        <p:blipFill>
          <a:blip r:embed="rId8"/>
          <a:stretch>
            <a:fillRect/>
          </a:stretch>
        </p:blipFill>
        <p:spPr>
          <a:xfrm>
            <a:off x="4713305" y="4627961"/>
            <a:ext cx="272125" cy="272125"/>
          </a:xfrm>
          <a:prstGeom prst="rect">
            <a:avLst/>
          </a:prstGeom>
        </p:spPr>
      </p:pic>
      <p:sp>
        <p:nvSpPr>
          <p:cNvPr id="29" name="Text 21"/>
          <p:cNvSpPr/>
          <p:nvPr/>
        </p:nvSpPr>
        <p:spPr>
          <a:xfrm>
            <a:off x="5297424" y="4507992"/>
            <a:ext cx="2371344" cy="320040"/>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resources/</a:t>
            </a:r>
            <a:endParaRPr lang="en-US" sz="1500" dirty="0"/>
          </a:p>
        </p:txBody>
      </p:sp>
      <p:sp>
        <p:nvSpPr>
          <p:cNvPr id="30" name="Text 22"/>
          <p:cNvSpPr/>
          <p:nvPr/>
        </p:nvSpPr>
        <p:spPr>
          <a:xfrm>
            <a:off x="4565904" y="5257800"/>
            <a:ext cx="3057144" cy="822960"/>
          </a:xfrm>
          <a:prstGeom prst="rect">
            <a:avLst/>
          </a:prstGeom>
          <a:noFill/>
          <a:ln/>
        </p:spPr>
        <p:txBody>
          <a:bodyPr wrap="square" rtlCol="0" anchor="ctr"/>
          <a:lstStyle/>
          <a:p>
            <a:pPr marL="0" indent="0">
              <a:lnSpc>
                <a:spcPct val="125000"/>
              </a:lnSpc>
              <a:buNone/>
            </a:pPr>
            <a:r>
              <a:rPr lang="en-US" sz="1050" dirty="0">
                <a:solidFill>
                  <a:srgbClr val="8F89B8"/>
                </a:solidFill>
                <a:latin typeface="Calibri" pitchFamily="34" charset="0"/>
                <a:ea typeface="Calibri" pitchFamily="34" charset="-122"/>
                <a:cs typeface="Calibri" pitchFamily="34" charset="-120"/>
              </a:rPr>
              <a:t>Saved links, types &amp; favorites</a:t>
            </a:r>
            <a:endParaRPr lang="en-US" sz="1050" dirty="0"/>
          </a:p>
        </p:txBody>
      </p:sp>
      <p:sp>
        <p:nvSpPr>
          <p:cNvPr id="31" name="Shape 23"/>
          <p:cNvSpPr/>
          <p:nvPr/>
        </p:nvSpPr>
        <p:spPr>
          <a:xfrm>
            <a:off x="8125968" y="4251960"/>
            <a:ext cx="3514344" cy="2011680"/>
          </a:xfrm>
          <a:prstGeom prst="roundRect">
            <a:avLst>
              <a:gd name="adj" fmla="val 5455"/>
            </a:avLst>
          </a:prstGeom>
          <a:solidFill>
            <a:srgbClr val="242050"/>
          </a:solidFill>
          <a:ln/>
          <a:effectLst>
            <a:outerShdw blurRad="127000" dist="38100" dir="5400000" algn="bl" rotWithShape="0">
              <a:srgbClr val="000000">
                <a:alpha val="35000"/>
              </a:srgbClr>
            </a:outerShdw>
          </a:effectLst>
        </p:spPr>
      </p:sp>
      <p:sp>
        <p:nvSpPr>
          <p:cNvPr id="32" name="Shape 24"/>
          <p:cNvSpPr/>
          <p:nvPr/>
        </p:nvSpPr>
        <p:spPr>
          <a:xfrm>
            <a:off x="8354568" y="4480560"/>
            <a:ext cx="566928" cy="566928"/>
          </a:xfrm>
          <a:prstGeom prst="ellipse">
            <a:avLst/>
          </a:prstGeom>
          <a:solidFill>
            <a:srgbClr val="6366F1"/>
          </a:solidFill>
          <a:ln/>
          <a:effectLst>
            <a:outerShdw blurRad="101600" dist="38100" dir="5400000" algn="bl" rotWithShape="0">
              <a:srgbClr val="000000">
                <a:alpha val="40000"/>
              </a:srgbClr>
            </a:outerShdw>
          </a:effectLst>
        </p:spPr>
      </p:sp>
      <p:pic>
        <p:nvPicPr>
          <p:cNvPr id="33" name="Image 6" descr="ic_robot.png"/>
          <p:cNvPicPr>
            <a:picLocks noChangeAspect="1"/>
          </p:cNvPicPr>
          <p:nvPr/>
        </p:nvPicPr>
        <p:blipFill>
          <a:blip r:embed="rId9"/>
          <a:stretch>
            <a:fillRect/>
          </a:stretch>
        </p:blipFill>
        <p:spPr>
          <a:xfrm>
            <a:off x="8501969" y="4627961"/>
            <a:ext cx="272125" cy="272125"/>
          </a:xfrm>
          <a:prstGeom prst="rect">
            <a:avLst/>
          </a:prstGeom>
        </p:spPr>
      </p:pic>
      <p:sp>
        <p:nvSpPr>
          <p:cNvPr id="34" name="Text 25"/>
          <p:cNvSpPr/>
          <p:nvPr/>
        </p:nvSpPr>
        <p:spPr>
          <a:xfrm>
            <a:off x="9086088" y="4507992"/>
            <a:ext cx="2371344" cy="320040"/>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ai_assistant/</a:t>
            </a:r>
            <a:endParaRPr lang="en-US" sz="1500" dirty="0"/>
          </a:p>
        </p:txBody>
      </p:sp>
      <p:sp>
        <p:nvSpPr>
          <p:cNvPr id="35" name="Text 26"/>
          <p:cNvSpPr/>
          <p:nvPr/>
        </p:nvSpPr>
        <p:spPr>
          <a:xfrm>
            <a:off x="8354568" y="5257800"/>
            <a:ext cx="3057144" cy="822960"/>
          </a:xfrm>
          <a:prstGeom prst="rect">
            <a:avLst/>
          </a:prstGeom>
          <a:noFill/>
          <a:ln/>
        </p:spPr>
        <p:txBody>
          <a:bodyPr wrap="square" rtlCol="0" anchor="ctr"/>
          <a:lstStyle/>
          <a:p>
            <a:pPr marL="0" indent="0">
              <a:lnSpc>
                <a:spcPct val="125000"/>
              </a:lnSpc>
              <a:buNone/>
            </a:pPr>
            <a:r>
              <a:rPr lang="en-US" sz="1050" dirty="0">
                <a:solidFill>
                  <a:srgbClr val="8F89B8"/>
                </a:solidFill>
                <a:latin typeface="Calibri" pitchFamily="34" charset="0"/>
                <a:ea typeface="Calibri" pitchFamily="34" charset="-122"/>
                <a:cs typeface="Calibri" pitchFamily="34" charset="-120"/>
              </a:rPr>
              <a:t>Gemini chat &amp; conversation history</a:t>
            </a:r>
            <a:endParaRPr lang="en-US" sz="1050" dirty="0"/>
          </a:p>
        </p:txBody>
      </p:sp>
      <p:sp>
        <p:nvSpPr>
          <p:cNvPr id="37" name="Text 27"/>
          <p:cNvSpPr/>
          <p:nvPr/>
        </p:nvSpPr>
        <p:spPr>
          <a:xfrm>
            <a:off x="457200" y="6547104"/>
            <a:ext cx="7315200" cy="274320"/>
          </a:xfrm>
          <a:prstGeom prst="rect">
            <a:avLst/>
          </a:prstGeom>
          <a:noFill/>
          <a:ln/>
        </p:spPr>
        <p:txBody>
          <a:bodyPr wrap="square" rtlCol="0" anchor="ctr"/>
          <a:lstStyle/>
          <a:p>
            <a:pPr marL="0" indent="0" algn="l">
              <a:buNone/>
            </a:pPr>
            <a:r>
              <a:rPr lang="en-US" sz="900" dirty="0">
                <a:solidFill>
                  <a:srgbClr val="8F89B8"/>
                </a:solidFill>
                <a:latin typeface="Calibri" pitchFamily="34" charset="0"/>
                <a:ea typeface="Calibri" pitchFamily="34" charset="-122"/>
                <a:cs typeface="Calibri" pitchFamily="34" charset="-120"/>
              </a:rPr>
              <a:t>MIND NEST  •  Web Development using Python &amp; Generative AI</a:t>
            </a:r>
            <a:endParaRPr lang="en-US" sz="900" dirty="0"/>
          </a:p>
        </p:txBody>
      </p:sp>
      <p:sp>
        <p:nvSpPr>
          <p:cNvPr id="38" name="Text 28"/>
          <p:cNvSpPr/>
          <p:nvPr/>
        </p:nvSpPr>
        <p:spPr>
          <a:xfrm>
            <a:off x="11457432" y="6547104"/>
            <a:ext cx="365760" cy="274320"/>
          </a:xfrm>
          <a:prstGeom prst="rect">
            <a:avLst/>
          </a:prstGeom>
          <a:noFill/>
          <a:ln/>
        </p:spPr>
        <p:txBody>
          <a:bodyPr wrap="square" rtlCol="0" anchor="ctr"/>
          <a:lstStyle/>
          <a:p>
            <a:pPr marL="0" indent="0" algn="r">
              <a:buNone/>
            </a:pPr>
            <a:r>
              <a:rPr lang="en-US" sz="900" dirty="0">
                <a:solidFill>
                  <a:srgbClr val="8F89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main.png"/>
          <p:cNvPicPr>
            <a:picLocks noChangeAspect="1"/>
          </p:cNvPicPr>
          <p:nvPr/>
        </p:nvPicPr>
        <p:blipFill>
          <a:blip r:embed="rId3"/>
          <a:stretch>
            <a:fillRect/>
          </a:stretch>
        </p:blipFill>
        <p:spPr>
          <a:xfrm>
            <a:off x="0" y="0"/>
            <a:ext cx="12188952" cy="6858000"/>
          </a:xfrm>
          <a:prstGeom prst="rect">
            <a:avLst/>
          </a:prstGeom>
        </p:spPr>
      </p:pic>
      <p:sp>
        <p:nvSpPr>
          <p:cNvPr id="3" name="Shape 0"/>
          <p:cNvSpPr/>
          <p:nvPr/>
        </p:nvSpPr>
        <p:spPr>
          <a:xfrm>
            <a:off x="5362956" y="914400"/>
            <a:ext cx="1463040" cy="1463040"/>
          </a:xfrm>
          <a:prstGeom prst="ellipse">
            <a:avLst/>
          </a:prstGeom>
          <a:solidFill>
            <a:srgbClr val="9333EA"/>
          </a:solidFill>
          <a:ln/>
          <a:effectLst>
            <a:outerShdw blurRad="101600" dist="38100" dir="5400000" algn="bl" rotWithShape="0">
              <a:srgbClr val="000000">
                <a:alpha val="40000"/>
              </a:srgbClr>
            </a:outerShdw>
          </a:effectLst>
        </p:spPr>
      </p:sp>
      <p:pic>
        <p:nvPicPr>
          <p:cNvPr id="4" name="Image 1" descr="ic_brain.png"/>
          <p:cNvPicPr>
            <a:picLocks noChangeAspect="1"/>
          </p:cNvPicPr>
          <p:nvPr/>
        </p:nvPicPr>
        <p:blipFill>
          <a:blip r:embed="rId4"/>
          <a:stretch>
            <a:fillRect/>
          </a:stretch>
        </p:blipFill>
        <p:spPr>
          <a:xfrm>
            <a:off x="5743346" y="1294790"/>
            <a:ext cx="702259" cy="702259"/>
          </a:xfrm>
          <a:prstGeom prst="rect">
            <a:avLst/>
          </a:prstGeom>
        </p:spPr>
      </p:pic>
      <p:sp>
        <p:nvSpPr>
          <p:cNvPr id="5" name="Text 1"/>
          <p:cNvSpPr/>
          <p:nvPr/>
        </p:nvSpPr>
        <p:spPr>
          <a:xfrm>
            <a:off x="457200" y="2606040"/>
            <a:ext cx="11274552" cy="914400"/>
          </a:xfrm>
          <a:prstGeom prst="rect">
            <a:avLst/>
          </a:prstGeom>
          <a:noFill/>
          <a:ln/>
        </p:spPr>
        <p:txBody>
          <a:bodyPr wrap="square" rtlCol="0" anchor="ctr"/>
          <a:lstStyle/>
          <a:p>
            <a:pPr marL="0" indent="0" algn="ctr">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6" name="Text 2"/>
          <p:cNvSpPr/>
          <p:nvPr/>
        </p:nvSpPr>
        <p:spPr>
          <a:xfrm>
            <a:off x="457200" y="3429000"/>
            <a:ext cx="11274552" cy="457200"/>
          </a:xfrm>
          <a:prstGeom prst="rect">
            <a:avLst/>
          </a:prstGeom>
          <a:noFill/>
          <a:ln/>
        </p:spPr>
        <p:txBody>
          <a:bodyPr wrap="square" rtlCol="0" anchor="ctr"/>
          <a:lstStyle/>
          <a:p>
            <a:pPr marL="0" indent="0" algn="ctr">
              <a:buNone/>
            </a:pPr>
            <a:r>
              <a:rPr lang="en-US" sz="1700" i="1" dirty="0">
                <a:solidFill>
                  <a:srgbClr val="A855F7"/>
                </a:solidFill>
                <a:latin typeface="Calibri" pitchFamily="34" charset="0"/>
                <a:ea typeface="Calibri" pitchFamily="34" charset="-122"/>
                <a:cs typeface="Calibri" pitchFamily="34" charset="-120"/>
              </a:rPr>
              <a:t>Questions &amp; Discussion Welcome</a:t>
            </a:r>
            <a:endParaRPr lang="en-US" sz="1700" dirty="0"/>
          </a:p>
        </p:txBody>
      </p:sp>
      <p:sp>
        <p:nvSpPr>
          <p:cNvPr id="7" name="Shape 3"/>
          <p:cNvSpPr/>
          <p:nvPr/>
        </p:nvSpPr>
        <p:spPr>
          <a:xfrm>
            <a:off x="3108960" y="4251960"/>
            <a:ext cx="5971032" cy="1554480"/>
          </a:xfrm>
          <a:prstGeom prst="roundRect">
            <a:avLst>
              <a:gd name="adj" fmla="val 8235"/>
            </a:avLst>
          </a:prstGeom>
          <a:solidFill>
            <a:srgbClr val="FFFFFF">
              <a:alpha val="10000"/>
            </a:srgbClr>
          </a:solidFill>
          <a:ln/>
          <a:effectLst>
            <a:outerShdw blurRad="127000" dist="38100" dir="5400000" algn="bl" rotWithShape="0">
              <a:srgbClr val="000000">
                <a:alpha val="35000"/>
              </a:srgbClr>
            </a:outerShdw>
          </a:effectLst>
        </p:spPr>
      </p:sp>
      <p:sp>
        <p:nvSpPr>
          <p:cNvPr id="8" name="Text 4"/>
          <p:cNvSpPr/>
          <p:nvPr/>
        </p:nvSpPr>
        <p:spPr>
          <a:xfrm>
            <a:off x="3108960" y="4407408"/>
            <a:ext cx="5971032" cy="41148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Mohamed Ataa   &amp;   Sarah Yasser</a:t>
            </a:r>
            <a:endParaRPr lang="en-US" sz="1800" dirty="0"/>
          </a:p>
        </p:txBody>
      </p:sp>
      <p:sp>
        <p:nvSpPr>
          <p:cNvPr id="9" name="Text 5"/>
          <p:cNvSpPr/>
          <p:nvPr/>
        </p:nvSpPr>
        <p:spPr>
          <a:xfrm>
            <a:off x="3108960" y="4846320"/>
            <a:ext cx="5971032" cy="365760"/>
          </a:xfrm>
          <a:prstGeom prst="rect">
            <a:avLst/>
          </a:prstGeom>
          <a:noFill/>
          <a:ln/>
        </p:spPr>
        <p:txBody>
          <a:bodyPr wrap="square" rtlCol="0" anchor="ctr"/>
          <a:lstStyle/>
          <a:p>
            <a:pPr marL="0" indent="0" algn="ctr">
              <a:buNone/>
            </a:pPr>
            <a:r>
              <a:rPr lang="en-US" sz="1200" dirty="0">
                <a:solidFill>
                  <a:srgbClr val="B7B2D6"/>
                </a:solidFill>
                <a:latin typeface="Calibri" pitchFamily="34" charset="0"/>
                <a:ea typeface="Calibri" pitchFamily="34" charset="-122"/>
                <a:cs typeface="Calibri" pitchFamily="34" charset="-120"/>
              </a:rPr>
              <a:t>ITI  •  Web Development using Python &amp; Generative AI  •  2026</a:t>
            </a:r>
            <a:endParaRPr lang="en-US" sz="1200" dirty="0"/>
          </a:p>
        </p:txBody>
      </p:sp>
      <p:sp>
        <p:nvSpPr>
          <p:cNvPr id="10" name="Text 6"/>
          <p:cNvSpPr/>
          <p:nvPr/>
        </p:nvSpPr>
        <p:spPr>
          <a:xfrm>
            <a:off x="3108960" y="5257800"/>
            <a:ext cx="5971032" cy="320040"/>
          </a:xfrm>
          <a:prstGeom prst="rect">
            <a:avLst/>
          </a:prstGeom>
          <a:noFill/>
          <a:ln/>
        </p:spPr>
        <p:txBody>
          <a:bodyPr wrap="square" rtlCol="0" anchor="ctr"/>
          <a:lstStyle/>
          <a:p>
            <a:pPr marL="0" indent="0" algn="ctr">
              <a:buNone/>
            </a:pPr>
            <a:r>
              <a:rPr lang="en-US" sz="1100" i="1" dirty="0">
                <a:solidFill>
                  <a:srgbClr val="8F89B8"/>
                </a:solidFill>
                <a:latin typeface="Calibri" pitchFamily="34" charset="0"/>
                <a:ea typeface="Calibri" pitchFamily="34" charset="-122"/>
                <a:cs typeface="Calibri" pitchFamily="34" charset="-120"/>
              </a:rPr>
              <a:t>Mind Nest — AI-Powered Study Hub</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FFFFFF"/>
      </a:dk1>
      <a:lt1>
        <a:sysClr val="window" lastClr="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FFFFFF"/>
      </a:dk1>
      <a:lt1>
        <a:sysClr val="window" lastClr="000000"/>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2150</Words>
  <Application>Microsoft Office PowerPoint</Application>
  <PresentationFormat>Custom</PresentationFormat>
  <Paragraphs>272</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Mohammad Ataa</cp:lastModifiedBy>
  <cp:revision>3</cp:revision>
  <dcterms:created xsi:type="dcterms:W3CDTF">2026-08-15T22:49:52Z</dcterms:created>
  <dcterms:modified xsi:type="dcterms:W3CDTF">2026-08-15T23:01:51Z</dcterms:modified>
</cp:coreProperties>
</file>